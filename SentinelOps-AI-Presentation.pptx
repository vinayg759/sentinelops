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 SentinelOps AI. Track 3, AI-native Enterprise. We built an SRE agent that doesn't stop at diagnosis — it is allowed to fix production, inside fences a human sets.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gap is not intelligence. It is permission. Everyone can diagnose; nobody can 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to resolved is about two and a half minutes, unattended apart from the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548640" y="1371600"/>
            <a:ext cx="868680" cy="868680"/>
          </a:xfrm>
          <a:prstGeom prst="roundRect">
            <a:avLst>
              <a:gd name="adj" fmla="val 16842"/>
            </a:avLst>
          </a:prstGeom>
          <a:solidFill>
            <a:srgbClr val="1E2A47"/>
          </a:solidFill>
          <a:ln w="25400">
            <a:solidFill>
              <a:srgbClr val="22D3EE"/>
            </a:solidFill>
            <a:prstDash val="solid"/>
          </a:ln>
        </p:spPr>
      </p:sp>
      <p:sp>
        <p:nvSpPr>
          <p:cNvPr id="3" name="Text 1"/>
          <p:cNvSpPr txBox="1"/>
          <p:nvPr/>
        </p:nvSpPr>
        <p:spPr>
          <a:xfrm>
            <a:off x="548640" y="1371600"/>
            <a:ext cx="868680" cy="868680"/>
          </a:xfrm>
          <a:prstGeom prst="rect">
            <a:avLst/>
          </a:prstGeom>
          <a:noFill/>
          <a:ln/>
        </p:spPr>
        <p:txBody>
          <a:bodyPr wrap="square" lIns="0" tIns="0" rIns="0" bIns="0" rtlCol="0" anchor="ctr"/>
          <a:lstStyle/>
          <a:p>
            <a:pPr algn="ctr" indent="0" marL="0">
              <a:buNone/>
            </a:pPr>
            <a:r>
              <a:rPr lang="en-US" sz="4000" b="1" dirty="0">
                <a:solidFill>
                  <a:srgbClr val="22D3EE"/>
                </a:solidFill>
                <a:latin typeface="Arial" pitchFamily="34" charset="0"/>
                <a:ea typeface="Arial" pitchFamily="34" charset="-122"/>
                <a:cs typeface="Arial" pitchFamily="34" charset="-120"/>
              </a:rPr>
              <a:t>S</a:t>
            </a:r>
            <a:endParaRPr lang="en-US" sz="4000" dirty="0"/>
          </a:p>
        </p:txBody>
      </p:sp>
      <p:sp>
        <p:nvSpPr>
          <p:cNvPr id="4" name="Text 2"/>
          <p:cNvSpPr txBox="1"/>
          <p:nvPr/>
        </p:nvSpPr>
        <p:spPr>
          <a:xfrm>
            <a:off x="548640" y="2487168"/>
            <a:ext cx="10515600" cy="914400"/>
          </a:xfrm>
          <a:prstGeom prst="rect">
            <a:avLst/>
          </a:prstGeom>
          <a:noFill/>
          <a:ln/>
        </p:spPr>
        <p:txBody>
          <a:bodyPr wrap="square" lIns="0" tIns="0" rIns="0" bIns="0" rtlCol="0" anchor="ctr"/>
          <a:lstStyle/>
          <a:p>
            <a:pPr indent="0" marL="0">
              <a:buNone/>
            </a:pPr>
            <a:r>
              <a:rPr lang="en-US" sz="5400" b="1" dirty="0">
                <a:solidFill>
                  <a:srgbClr val="E9EFFA"/>
                </a:solidFill>
                <a:latin typeface="Arial" pitchFamily="34" charset="0"/>
                <a:ea typeface="Arial" pitchFamily="34" charset="-122"/>
                <a:cs typeface="Arial" pitchFamily="34" charset="-120"/>
              </a:rPr>
              <a:t>SentinelOps AI</a:t>
            </a:r>
            <a:endParaRPr lang="en-US" sz="5400" dirty="0"/>
          </a:p>
        </p:txBody>
      </p:sp>
      <p:sp>
        <p:nvSpPr>
          <p:cNvPr id="5" name="Text 3"/>
          <p:cNvSpPr txBox="1"/>
          <p:nvPr/>
        </p:nvSpPr>
        <p:spPr>
          <a:xfrm>
            <a:off x="548640" y="3456432"/>
            <a:ext cx="9692640" cy="457200"/>
          </a:xfrm>
          <a:prstGeom prst="rect">
            <a:avLst/>
          </a:prstGeom>
          <a:noFill/>
          <a:ln/>
        </p:spPr>
        <p:txBody>
          <a:bodyPr wrap="square" lIns="0" tIns="0" rIns="0" bIns="0" rtlCol="0" anchor="ctr"/>
          <a:lstStyle/>
          <a:p>
            <a:pPr indent="0" marL="0">
              <a:buNone/>
            </a:pPr>
            <a:r>
              <a:rPr lang="en-US" sz="2000" dirty="0">
                <a:solidFill>
                  <a:srgbClr val="22D3EE"/>
                </a:solidFill>
                <a:latin typeface="Calibri" pitchFamily="34" charset="0"/>
                <a:ea typeface="Calibri" pitchFamily="34" charset="-122"/>
                <a:cs typeface="Calibri" pitchFamily="34" charset="-120"/>
              </a:rPr>
              <a:t>Autonomous incident response that is allowed to act on production — safely.</a:t>
            </a:r>
            <a:endParaRPr lang="en-US" sz="2000" dirty="0"/>
          </a:p>
        </p:txBody>
      </p:sp>
      <p:sp>
        <p:nvSpPr>
          <p:cNvPr id="6" name="Text 4"/>
          <p:cNvSpPr txBox="1"/>
          <p:nvPr/>
        </p:nvSpPr>
        <p:spPr>
          <a:xfrm>
            <a:off x="548640" y="3986784"/>
            <a:ext cx="9692640" cy="640080"/>
          </a:xfrm>
          <a:prstGeom prst="rect">
            <a:avLst/>
          </a:prstGeom>
          <a:noFill/>
          <a:ln/>
        </p:spPr>
        <p:txBody>
          <a:bodyPr wrap="square" lIns="0" tIns="0" rIns="0" bIns="0" rtlCol="0" anchor="ctr"/>
          <a:lstStyle/>
          <a:p>
            <a:pPr indent="0" marL="0">
              <a:lnSpc>
                <a:spcPts val="2000"/>
              </a:lnSpc>
              <a:buNone/>
            </a:pPr>
            <a:r>
              <a:rPr lang="en-US" sz="1400" dirty="0">
                <a:solidFill>
                  <a:srgbClr val="94A8C4"/>
                </a:solidFill>
                <a:latin typeface="Calibri" pitchFamily="34" charset="0"/>
                <a:ea typeface="Calibri" pitchFamily="34" charset="-122"/>
                <a:cs typeface="Calibri" pitchFamily="34" charset="-120"/>
              </a:rPr>
              <a:t>An AI-native SRE agent that detects, diagnoses and fixes production incidents end to end —</a:t>
            </a:r>
            <a:endParaRPr lang="en-US" sz="1400" dirty="0"/>
          </a:p>
          <a:p>
            <a:pPr indent="0" marL="0">
              <a:lnSpc>
                <a:spcPts val="2000"/>
              </a:lnSpc>
              <a:buNone/>
            </a:pPr>
            <a:r>
              <a:rPr lang="en-US" sz="1400" dirty="0">
                <a:solidFill>
                  <a:srgbClr val="94A8C4"/>
                </a:solidFill>
                <a:latin typeface="Calibri" pitchFamily="34" charset="0"/>
                <a:ea typeface="Calibri" pitchFamily="34" charset="-122"/>
                <a:cs typeface="Calibri" pitchFamily="34" charset="-120"/>
              </a:rPr>
              <a:t>with the customer’s own change-management process as the gate.</a:t>
            </a:r>
            <a:endParaRPr lang="en-US" sz="1400" dirty="0"/>
          </a:p>
        </p:txBody>
      </p:sp>
      <p:sp>
        <p:nvSpPr>
          <p:cNvPr id="7" name="Text 5"/>
          <p:cNvSpPr txBox="1"/>
          <p:nvPr/>
        </p:nvSpPr>
        <p:spPr>
          <a:xfrm>
            <a:off x="548640" y="5047488"/>
            <a:ext cx="2560320" cy="237744"/>
          </a:xfrm>
          <a:prstGeom prst="rect">
            <a:avLst/>
          </a:prstGeom>
          <a:noFill/>
          <a:ln/>
        </p:spPr>
        <p:txBody>
          <a:bodyPr wrap="square" lIns="0" tIns="0" rIns="0" bIns="0" rtlCol="0" anchor="ctr"/>
          <a:lstStyle/>
          <a:p>
            <a:pPr indent="0" marL="0">
              <a:buNone/>
            </a:pPr>
            <a:r>
              <a:rPr lang="en-US" sz="1000" b="1" spc="150" kern="0" dirty="0">
                <a:solidFill>
                  <a:srgbClr val="22D3EE"/>
                </a:solidFill>
                <a:latin typeface="Calibri" pitchFamily="34" charset="0"/>
                <a:ea typeface="Calibri" pitchFamily="34" charset="-122"/>
                <a:cs typeface="Calibri" pitchFamily="34" charset="-120"/>
              </a:rPr>
              <a:t>TEAM</a:t>
            </a:r>
            <a:endParaRPr lang="en-US" sz="1000" dirty="0"/>
          </a:p>
        </p:txBody>
      </p:sp>
      <p:sp>
        <p:nvSpPr>
          <p:cNvPr id="8" name="Text 6"/>
          <p:cNvSpPr txBox="1"/>
          <p:nvPr/>
        </p:nvSpPr>
        <p:spPr>
          <a:xfrm>
            <a:off x="548640" y="5303520"/>
            <a:ext cx="2560320" cy="640080"/>
          </a:xfrm>
          <a:prstGeom prst="rect">
            <a:avLst/>
          </a:prstGeom>
          <a:noFill/>
          <a:ln/>
        </p:spPr>
        <p:txBody>
          <a:bodyPr wrap="square" lIns="0" tIns="0" rIns="0" bIns="0" rtlCol="0" anchor="ctr"/>
          <a:lstStyle/>
          <a:p>
            <a:pPr indent="0" marL="0">
              <a:lnSpc>
                <a:spcPts val="1600"/>
              </a:lnSpc>
              <a:buNone/>
            </a:pPr>
            <a:r>
              <a:rPr lang="en-US" sz="1300" dirty="0">
                <a:solidFill>
                  <a:srgbClr val="E9EFFA"/>
                </a:solidFill>
                <a:latin typeface="Calibri" pitchFamily="34" charset="0"/>
                <a:ea typeface="Calibri" pitchFamily="34" charset="-122"/>
                <a:cs typeface="Calibri" pitchFamily="34" charset="-120"/>
              </a:rPr>
              <a:t>SentinelOps AI</a:t>
            </a:r>
            <a:endParaRPr lang="en-US" sz="1300" dirty="0"/>
          </a:p>
        </p:txBody>
      </p:sp>
      <p:sp>
        <p:nvSpPr>
          <p:cNvPr id="9" name="Text 7"/>
          <p:cNvSpPr txBox="1"/>
          <p:nvPr/>
        </p:nvSpPr>
        <p:spPr>
          <a:xfrm>
            <a:off x="3291840" y="5047488"/>
            <a:ext cx="2560320" cy="237744"/>
          </a:xfrm>
          <a:prstGeom prst="rect">
            <a:avLst/>
          </a:prstGeom>
          <a:noFill/>
          <a:ln/>
        </p:spPr>
        <p:txBody>
          <a:bodyPr wrap="square" lIns="0" tIns="0" rIns="0" bIns="0" rtlCol="0" anchor="ctr"/>
          <a:lstStyle/>
          <a:p>
            <a:pPr indent="0" marL="0">
              <a:buNone/>
            </a:pPr>
            <a:r>
              <a:rPr lang="en-US" sz="1000" b="1" spc="150" kern="0" dirty="0">
                <a:solidFill>
                  <a:srgbClr val="22D3EE"/>
                </a:solidFill>
                <a:latin typeface="Calibri" pitchFamily="34" charset="0"/>
                <a:ea typeface="Calibri" pitchFamily="34" charset="-122"/>
                <a:cs typeface="Calibri" pitchFamily="34" charset="-120"/>
              </a:rPr>
              <a:t>MEMBERS</a:t>
            </a:r>
            <a:endParaRPr lang="en-US" sz="1000" dirty="0"/>
          </a:p>
        </p:txBody>
      </p:sp>
      <p:sp>
        <p:nvSpPr>
          <p:cNvPr id="10" name="Text 8"/>
          <p:cNvSpPr txBox="1"/>
          <p:nvPr/>
        </p:nvSpPr>
        <p:spPr>
          <a:xfrm>
            <a:off x="3291840" y="5303520"/>
            <a:ext cx="2560320" cy="640080"/>
          </a:xfrm>
          <a:prstGeom prst="rect">
            <a:avLst/>
          </a:prstGeom>
          <a:noFill/>
          <a:ln/>
        </p:spPr>
        <p:txBody>
          <a:bodyPr wrap="square" lIns="0" tIns="0" rIns="0" bIns="0" rtlCol="0" anchor="ctr"/>
          <a:lstStyle/>
          <a:p>
            <a:pPr indent="0" marL="0">
              <a:lnSpc>
                <a:spcPts val="1600"/>
              </a:lnSpc>
              <a:buNone/>
            </a:pPr>
            <a:r>
              <a:rPr lang="en-US" sz="1300" dirty="0">
                <a:solidFill>
                  <a:srgbClr val="E9EFFA"/>
                </a:solidFill>
                <a:latin typeface="Calibri" pitchFamily="34" charset="0"/>
                <a:ea typeface="Calibri" pitchFamily="34" charset="-122"/>
                <a:cs typeface="Calibri" pitchFamily="34" charset="-120"/>
              </a:rPr>
              <a:t>Vinay G · Chethan</a:t>
            </a:r>
            <a:endParaRPr lang="en-US" sz="1300" dirty="0"/>
          </a:p>
        </p:txBody>
      </p:sp>
      <p:sp>
        <p:nvSpPr>
          <p:cNvPr id="11" name="Text 9"/>
          <p:cNvSpPr txBox="1"/>
          <p:nvPr/>
        </p:nvSpPr>
        <p:spPr>
          <a:xfrm>
            <a:off x="6035040" y="5047488"/>
            <a:ext cx="2560320" cy="237744"/>
          </a:xfrm>
          <a:prstGeom prst="rect">
            <a:avLst/>
          </a:prstGeom>
          <a:noFill/>
          <a:ln/>
        </p:spPr>
        <p:txBody>
          <a:bodyPr wrap="square" lIns="0" tIns="0" rIns="0" bIns="0" rtlCol="0" anchor="ctr"/>
          <a:lstStyle/>
          <a:p>
            <a:pPr indent="0" marL="0">
              <a:buNone/>
            </a:pPr>
            <a:r>
              <a:rPr lang="en-US" sz="1000" b="1" spc="150" kern="0" dirty="0">
                <a:solidFill>
                  <a:srgbClr val="22D3EE"/>
                </a:solidFill>
                <a:latin typeface="Calibri" pitchFamily="34" charset="0"/>
                <a:ea typeface="Calibri" pitchFamily="34" charset="-122"/>
                <a:cs typeface="Calibri" pitchFamily="34" charset="-120"/>
              </a:rPr>
              <a:t>TRACK</a:t>
            </a:r>
            <a:endParaRPr lang="en-US" sz="1000" dirty="0"/>
          </a:p>
        </p:txBody>
      </p:sp>
      <p:sp>
        <p:nvSpPr>
          <p:cNvPr id="12" name="Text 10"/>
          <p:cNvSpPr txBox="1"/>
          <p:nvPr/>
        </p:nvSpPr>
        <p:spPr>
          <a:xfrm>
            <a:off x="6035040" y="5303520"/>
            <a:ext cx="2560320" cy="640080"/>
          </a:xfrm>
          <a:prstGeom prst="rect">
            <a:avLst/>
          </a:prstGeom>
          <a:noFill/>
          <a:ln/>
        </p:spPr>
        <p:txBody>
          <a:bodyPr wrap="square" lIns="0" tIns="0" rIns="0" bIns="0" rtlCol="0" anchor="ctr"/>
          <a:lstStyle/>
          <a:p>
            <a:pPr indent="0" marL="0">
              <a:lnSpc>
                <a:spcPts val="1600"/>
              </a:lnSpc>
              <a:buNone/>
            </a:pPr>
            <a:r>
              <a:rPr lang="en-US" sz="1300" dirty="0">
                <a:solidFill>
                  <a:srgbClr val="E9EFFA"/>
                </a:solidFill>
                <a:latin typeface="Calibri" pitchFamily="34" charset="0"/>
                <a:ea typeface="Calibri" pitchFamily="34" charset="-122"/>
                <a:cs typeface="Calibri" pitchFamily="34" charset="-120"/>
              </a:rPr>
              <a:t>3 — AI-native Enterprise</a:t>
            </a:r>
            <a:endParaRPr lang="en-US" sz="1300" dirty="0"/>
          </a:p>
        </p:txBody>
      </p:sp>
      <p:sp>
        <p:nvSpPr>
          <p:cNvPr id="13" name="Text 11"/>
          <p:cNvSpPr txBox="1"/>
          <p:nvPr/>
        </p:nvSpPr>
        <p:spPr>
          <a:xfrm>
            <a:off x="8778240" y="5047488"/>
            <a:ext cx="2560320" cy="237744"/>
          </a:xfrm>
          <a:prstGeom prst="rect">
            <a:avLst/>
          </a:prstGeom>
          <a:noFill/>
          <a:ln/>
        </p:spPr>
        <p:txBody>
          <a:bodyPr wrap="square" lIns="0" tIns="0" rIns="0" bIns="0" rtlCol="0" anchor="ctr"/>
          <a:lstStyle/>
          <a:p>
            <a:pPr indent="0" marL="0">
              <a:buNone/>
            </a:pPr>
            <a:r>
              <a:rPr lang="en-US" sz="1000" b="1" spc="150" kern="0" dirty="0">
                <a:solidFill>
                  <a:srgbClr val="22D3EE"/>
                </a:solidFill>
                <a:latin typeface="Calibri" pitchFamily="34" charset="0"/>
                <a:ea typeface="Calibri" pitchFamily="34" charset="-122"/>
                <a:cs typeface="Calibri" pitchFamily="34" charset="-120"/>
              </a:rPr>
              <a:t>MENTORS</a:t>
            </a:r>
            <a:endParaRPr lang="en-US" sz="1000" dirty="0"/>
          </a:p>
        </p:txBody>
      </p:sp>
      <p:sp>
        <p:nvSpPr>
          <p:cNvPr id="14" name="Text 12"/>
          <p:cNvSpPr txBox="1"/>
          <p:nvPr/>
        </p:nvSpPr>
        <p:spPr>
          <a:xfrm>
            <a:off x="8778240" y="5303520"/>
            <a:ext cx="2560320" cy="640080"/>
          </a:xfrm>
          <a:prstGeom prst="rect">
            <a:avLst/>
          </a:prstGeom>
          <a:noFill/>
          <a:ln/>
        </p:spPr>
        <p:txBody>
          <a:bodyPr wrap="square" lIns="0" tIns="0" rIns="0" bIns="0" rtlCol="0" anchor="ctr"/>
          <a:lstStyle/>
          <a:p>
            <a:pPr indent="0" marL="0">
              <a:lnSpc>
                <a:spcPts val="1600"/>
              </a:lnSpc>
              <a:buNone/>
            </a:pPr>
            <a:r>
              <a:rPr lang="en-US" sz="1300" dirty="0">
                <a:solidFill>
                  <a:srgbClr val="E9EFFA"/>
                </a:solidFill>
                <a:latin typeface="Calibri" pitchFamily="34" charset="0"/>
                <a:ea typeface="Calibri" pitchFamily="34" charset="-122"/>
                <a:cs typeface="Calibri" pitchFamily="34" charset="-120"/>
              </a:rPr>
              <a:t>Himanshu Singhal (PM)</a:t>
            </a:r>
            <a:endParaRPr lang="en-US" sz="1300" dirty="0"/>
          </a:p>
          <a:p>
            <a:pPr indent="0" marL="0">
              <a:lnSpc>
                <a:spcPts val="1600"/>
              </a:lnSpc>
              <a:buNone/>
            </a:pPr>
            <a:r>
              <a:rPr lang="en-US" sz="1300" dirty="0">
                <a:solidFill>
                  <a:srgbClr val="E9EFFA"/>
                </a:solidFill>
                <a:latin typeface="Calibri" pitchFamily="34" charset="0"/>
                <a:ea typeface="Calibri" pitchFamily="34" charset="-122"/>
                <a:cs typeface="Calibri" pitchFamily="34" charset="-120"/>
              </a:rPr>
              <a:t>Mohideen Ibrahim (Engg)</a:t>
            </a:r>
            <a:endParaRPr lang="en-US" sz="1300" dirty="0"/>
          </a:p>
        </p:txBody>
      </p:sp>
      <p:sp>
        <p:nvSpPr>
          <p:cNvPr id="15" name="Text 13"/>
          <p:cNvSpPr txBox="1"/>
          <p:nvPr/>
        </p:nvSpPr>
        <p:spPr>
          <a:xfrm>
            <a:off x="548640" y="6144768"/>
            <a:ext cx="10515600" cy="274320"/>
          </a:xfrm>
          <a:prstGeom prst="rect">
            <a:avLst/>
          </a:prstGeom>
          <a:noFill/>
          <a:ln/>
        </p:spPr>
        <p:txBody>
          <a:bodyPr wrap="square" lIns="0" tIns="0" rIns="0" bIns="0" rtlCol="0" anchor="ctr"/>
          <a:lstStyle/>
          <a:p>
            <a:pPr indent="0" marL="0">
              <a:buNone/>
            </a:pPr>
            <a:r>
              <a:rPr lang="en-US" sz="1100" dirty="0">
                <a:solidFill>
                  <a:srgbClr val="5A6E8C"/>
                </a:solidFill>
                <a:latin typeface="Calibri" pitchFamily="34" charset="0"/>
                <a:ea typeface="Calibri" pitchFamily="34" charset="-122"/>
                <a:cs typeface="Calibri" pitchFamily="34" charset="-120"/>
              </a:rPr>
              <a:t>The Great Agent Hackathon  ·  Freshworks, Bengaluru  ·  25–26 September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411480"/>
            <a:ext cx="10058400" cy="256032"/>
          </a:xfrm>
          <a:prstGeom prst="rect">
            <a:avLst/>
          </a:prstGeom>
          <a:noFill/>
          <a:ln/>
        </p:spPr>
        <p:txBody>
          <a:bodyPr wrap="square" lIns="0" tIns="0" rIns="0" bIns="0" rtlCol="0" anchor="ctr"/>
          <a:lstStyle/>
          <a:p>
            <a:pPr indent="0" marL="0">
              <a:buNone/>
            </a:pPr>
            <a:r>
              <a:rPr lang="en-US" sz="1200" b="1" spc="200" kern="0" dirty="0">
                <a:solidFill>
                  <a:srgbClr val="22D3EE"/>
                </a:solidFill>
                <a:latin typeface="Calibri" pitchFamily="34" charset="0"/>
                <a:ea typeface="Calibri" pitchFamily="34" charset="-122"/>
                <a:cs typeface="Calibri" pitchFamily="34" charset="-120"/>
              </a:rPr>
              <a:t>PROBLEM STATEMENT</a:t>
            </a:r>
            <a:endParaRPr lang="en-US" sz="1200" dirty="0"/>
          </a:p>
        </p:txBody>
      </p:sp>
      <p:sp>
        <p:nvSpPr>
          <p:cNvPr id="3" name="Text 1"/>
          <p:cNvSpPr txBox="1"/>
          <p:nvPr/>
        </p:nvSpPr>
        <p:spPr>
          <a:xfrm>
            <a:off x="548640" y="722376"/>
            <a:ext cx="11064240" cy="475488"/>
          </a:xfrm>
          <a:prstGeom prst="rect">
            <a:avLst/>
          </a:prstGeom>
          <a:noFill/>
          <a:ln/>
        </p:spPr>
        <p:txBody>
          <a:bodyPr wrap="square" lIns="0" tIns="0" rIns="0" bIns="0" rtlCol="0" anchor="ctr"/>
          <a:lstStyle/>
          <a:p>
            <a:pPr indent="0" marL="0">
              <a:buNone/>
            </a:pPr>
            <a:r>
              <a:rPr lang="en-US" sz="3000" b="1" dirty="0">
                <a:solidFill>
                  <a:srgbClr val="E9EFFA"/>
                </a:solidFill>
                <a:latin typeface="Arial" pitchFamily="34" charset="0"/>
                <a:ea typeface="Arial" pitchFamily="34" charset="-122"/>
                <a:cs typeface="Arial" pitchFamily="34" charset="-120"/>
              </a:rPr>
              <a:t>Diagnosis is solved. Acting is not.</a:t>
            </a:r>
            <a:endParaRPr lang="en-US" sz="3000" dirty="0"/>
          </a:p>
        </p:txBody>
      </p:sp>
      <p:sp>
        <p:nvSpPr>
          <p:cNvPr id="4" name="Text 2"/>
          <p:cNvSpPr txBox="1"/>
          <p:nvPr/>
        </p:nvSpPr>
        <p:spPr>
          <a:xfrm>
            <a:off x="548640" y="1591056"/>
            <a:ext cx="6675120" cy="1234440"/>
          </a:xfrm>
          <a:prstGeom prst="rect">
            <a:avLst/>
          </a:prstGeom>
          <a:noFill/>
          <a:ln/>
        </p:spPr>
        <p:txBody>
          <a:bodyPr wrap="square" lIns="0" tIns="0" rIns="0" bIns="0" rtlCol="0" anchor="ctr"/>
          <a:lstStyle/>
          <a:p>
            <a:pPr indent="0" marL="0">
              <a:lnSpc>
                <a:spcPts val="2200"/>
              </a:lnSpc>
              <a:buNone/>
            </a:pPr>
            <a:r>
              <a:rPr lang="en-US" sz="1500" dirty="0">
                <a:solidFill>
                  <a:srgbClr val="E9EFFA"/>
                </a:solidFill>
                <a:latin typeface="Calibri" pitchFamily="34" charset="0"/>
                <a:ea typeface="Calibri" pitchFamily="34" charset="-122"/>
                <a:cs typeface="Calibri" pitchFamily="34" charset="-120"/>
              </a:rPr>
              <a:t>When production breaks at 2 a.m., today’s AI tools tell an engineer what is probably wrong — then stop. A human still has to work out the fix, apply it by hand, watch whether it worked, and undo it if it didn’t. That human sequence, not the diagnosis, is where most downtime actually goes.</a:t>
            </a:r>
            <a:endParaRPr lang="en-US" sz="1500" dirty="0"/>
          </a:p>
        </p:txBody>
      </p:sp>
      <p:sp>
        <p:nvSpPr>
          <p:cNvPr id="5" name="Text 3"/>
          <p:cNvSpPr txBox="1"/>
          <p:nvPr/>
        </p:nvSpPr>
        <p:spPr>
          <a:xfrm>
            <a:off x="548640" y="2962656"/>
            <a:ext cx="6675120" cy="1005840"/>
          </a:xfrm>
          <a:prstGeom prst="rect">
            <a:avLst/>
          </a:prstGeom>
          <a:noFill/>
          <a:ln/>
        </p:spPr>
        <p:txBody>
          <a:bodyPr wrap="square" lIns="0" tIns="0" rIns="0" bIns="0" rtlCol="0" anchor="ctr"/>
          <a:lstStyle/>
          <a:p>
            <a:pPr indent="0" marL="0">
              <a:lnSpc>
                <a:spcPts val="2200"/>
              </a:lnSpc>
              <a:buNone/>
            </a:pPr>
            <a:r>
              <a:rPr lang="en-US" sz="1500" dirty="0">
                <a:solidFill>
                  <a:srgbClr val="94A8C4"/>
                </a:solidFill>
                <a:latin typeface="Calibri" pitchFamily="34" charset="0"/>
                <a:ea typeface="Calibri" pitchFamily="34" charset="-122"/>
                <a:cs typeface="Calibri" pitchFamily="34" charset="-120"/>
              </a:rPr>
              <a:t>The tools that do go further are trusted with far too much. An AI that can run arbitrary commands against production is a liability, not a colleague — so most teams keep it read-only and absorb the 2 a.m. cost.</a:t>
            </a:r>
            <a:endParaRPr lang="en-US" sz="1500" dirty="0"/>
          </a:p>
        </p:txBody>
      </p:sp>
      <p:sp>
        <p:nvSpPr>
          <p:cNvPr id="6" name="Shape 4"/>
          <p:cNvSpPr/>
          <p:nvPr/>
        </p:nvSpPr>
        <p:spPr>
          <a:xfrm>
            <a:off x="7543800" y="1545336"/>
            <a:ext cx="4114800" cy="3291840"/>
          </a:xfrm>
          <a:prstGeom prst="roundRect">
            <a:avLst>
              <a:gd name="adj" fmla="val 1111"/>
            </a:avLst>
          </a:prstGeom>
          <a:solidFill>
            <a:srgbClr val="16213A"/>
          </a:solidFill>
          <a:ln w="12700">
            <a:solidFill>
              <a:srgbClr val="1E2A47"/>
            </a:solidFill>
            <a:prstDash val="solid"/>
          </a:ln>
        </p:spPr>
      </p:sp>
      <p:sp>
        <p:nvSpPr>
          <p:cNvPr id="7" name="Text 5"/>
          <p:cNvSpPr txBox="1"/>
          <p:nvPr/>
        </p:nvSpPr>
        <p:spPr>
          <a:xfrm>
            <a:off x="7818120" y="1773936"/>
            <a:ext cx="3566160" cy="256032"/>
          </a:xfrm>
          <a:prstGeom prst="rect">
            <a:avLst/>
          </a:prstGeom>
          <a:noFill/>
          <a:ln/>
        </p:spPr>
        <p:txBody>
          <a:bodyPr wrap="square" lIns="0" tIns="0" rIns="0" bIns="0" rtlCol="0" anchor="ctr"/>
          <a:lstStyle/>
          <a:p>
            <a:pPr indent="0" marL="0">
              <a:buNone/>
            </a:pPr>
            <a:r>
              <a:rPr lang="en-US" sz="1000" b="1" spc="150" kern="0" dirty="0">
                <a:solidFill>
                  <a:srgbClr val="22D3EE"/>
                </a:solidFill>
                <a:latin typeface="Calibri" pitchFamily="34" charset="0"/>
                <a:ea typeface="Calibri" pitchFamily="34" charset="-122"/>
                <a:cs typeface="Calibri" pitchFamily="34" charset="-120"/>
              </a:rPr>
              <a:t>WHO HAS THIS PROBLEM</a:t>
            </a:r>
            <a:endParaRPr lang="en-US" sz="1000" dirty="0"/>
          </a:p>
        </p:txBody>
      </p:sp>
      <p:sp>
        <p:nvSpPr>
          <p:cNvPr id="8" name="Text 6"/>
          <p:cNvSpPr txBox="1"/>
          <p:nvPr/>
        </p:nvSpPr>
        <p:spPr>
          <a:xfrm>
            <a:off x="7818120" y="2121408"/>
            <a:ext cx="3566160" cy="2560320"/>
          </a:xfrm>
          <a:prstGeom prst="rect">
            <a:avLst/>
          </a:prstGeom>
          <a:noFill/>
          <a:ln/>
        </p:spPr>
        <p:txBody>
          <a:bodyPr wrap="square" lIns="0" tIns="0" rIns="0" bIns="0" rtlCol="0" anchor="ctr"/>
          <a:lstStyle/>
          <a:p>
            <a:pPr marL="342900" indent="-342900">
              <a:lnSpc>
                <a:spcPts val="1700"/>
              </a:lnSpc>
              <a:spcAft>
                <a:spcPts val="700"/>
              </a:spcAft>
              <a:buSzPct val="100000"/>
              <a:buChar char="•"/>
            </a:pPr>
            <a:r>
              <a:rPr lang="en-US" sz="1300" dirty="0">
                <a:solidFill>
                  <a:srgbClr val="94A8C4"/>
                </a:solidFill>
                <a:latin typeface="Calibri" pitchFamily="34" charset="0"/>
                <a:ea typeface="Calibri" pitchFamily="34" charset="-122"/>
                <a:cs typeface="Calibri" pitchFamily="34" charset="-120"/>
              </a:rPr>
              <a:t>Every team running services they cannot afford to have down</a:t>
            </a:r>
            <a:endParaRPr lang="en-US" sz="1300" dirty="0"/>
          </a:p>
          <a:p>
            <a:pPr marL="342900" indent="-342900">
              <a:lnSpc>
                <a:spcPts val="1700"/>
              </a:lnSpc>
              <a:spcAft>
                <a:spcPts val="700"/>
              </a:spcAft>
              <a:buSzPct val="100000"/>
              <a:buChar char="•"/>
            </a:pPr>
            <a:r>
              <a:rPr lang="en-US" sz="1300" dirty="0">
                <a:solidFill>
                  <a:srgbClr val="94A8C4"/>
                </a:solidFill>
                <a:latin typeface="Calibri" pitchFamily="34" charset="0"/>
                <a:ea typeface="Calibri" pitchFamily="34" charset="-122"/>
                <a:cs typeface="Calibri" pitchFamily="34" charset="-120"/>
              </a:rPr>
              <a:t>Hardest on small ops teams: the same 2 a.m. page, far fewer people</a:t>
            </a:r>
            <a:endParaRPr lang="en-US" sz="1300" dirty="0"/>
          </a:p>
          <a:p>
            <a:pPr marL="342900" indent="-342900">
              <a:lnSpc>
                <a:spcPts val="1700"/>
              </a:lnSpc>
              <a:spcAft>
                <a:spcPts val="700"/>
              </a:spcAft>
              <a:buSzPct val="100000"/>
              <a:buChar char="•"/>
            </a:pPr>
            <a:r>
              <a:rPr lang="en-US" sz="1300" dirty="0">
                <a:solidFill>
                  <a:srgbClr val="94A8C4"/>
                </a:solidFill>
                <a:latin typeface="Calibri" pitchFamily="34" charset="0"/>
                <a:ea typeface="Calibri" pitchFamily="34" charset="-122"/>
                <a:cs typeface="Calibri" pitchFamily="34" charset="-120"/>
              </a:rPr>
              <a:t>Worst where the fix is well understood and the delay is purely human</a:t>
            </a:r>
            <a:endParaRPr lang="en-US" sz="1300" dirty="0"/>
          </a:p>
        </p:txBody>
      </p:sp>
      <p:sp>
        <p:nvSpPr>
          <p:cNvPr id="9" name="Text 7"/>
          <p:cNvSpPr txBox="1"/>
          <p:nvPr/>
        </p:nvSpPr>
        <p:spPr>
          <a:xfrm>
            <a:off x="548640" y="5111496"/>
            <a:ext cx="3108960" cy="685800"/>
          </a:xfrm>
          <a:prstGeom prst="rect">
            <a:avLst/>
          </a:prstGeom>
          <a:noFill/>
          <a:ln/>
        </p:spPr>
        <p:txBody>
          <a:bodyPr wrap="square" lIns="0" tIns="0" rIns="0" bIns="0" rtlCol="0" anchor="ctr"/>
          <a:lstStyle/>
          <a:p>
            <a:pPr indent="0" marL="0">
              <a:buNone/>
            </a:pPr>
            <a:r>
              <a:rPr lang="en-US" sz="4000" b="1" dirty="0">
                <a:solidFill>
                  <a:srgbClr val="22D3EE"/>
                </a:solidFill>
                <a:latin typeface="Arial" pitchFamily="34" charset="0"/>
                <a:ea typeface="Arial" pitchFamily="34" charset="-122"/>
                <a:cs typeface="Arial" pitchFamily="34" charset="-120"/>
              </a:rPr>
              <a:t>2 a.m.</a:t>
            </a:r>
            <a:endParaRPr lang="en-US" sz="4000" dirty="0"/>
          </a:p>
        </p:txBody>
      </p:sp>
      <p:sp>
        <p:nvSpPr>
          <p:cNvPr id="10" name="Text 8"/>
          <p:cNvSpPr txBox="1"/>
          <p:nvPr/>
        </p:nvSpPr>
        <p:spPr>
          <a:xfrm>
            <a:off x="548640" y="5797296"/>
            <a:ext cx="3108960" cy="457200"/>
          </a:xfrm>
          <a:prstGeom prst="rect">
            <a:avLst/>
          </a:prstGeom>
          <a:noFill/>
          <a:ln/>
        </p:spPr>
        <p:txBody>
          <a:bodyPr wrap="square" lIns="0" tIns="0" rIns="0" bIns="0" rtlCol="0" anchor="ctr"/>
          <a:lstStyle/>
          <a:p>
            <a:pPr indent="0" marL="0">
              <a:lnSpc>
                <a:spcPts val="1400"/>
              </a:lnSpc>
              <a:buNone/>
            </a:pPr>
            <a:r>
              <a:rPr lang="en-US" sz="1200" dirty="0">
                <a:solidFill>
                  <a:srgbClr val="94A8C4"/>
                </a:solidFill>
                <a:latin typeface="Calibri" pitchFamily="34" charset="0"/>
                <a:ea typeface="Calibri" pitchFamily="34" charset="-122"/>
                <a:cs typeface="Calibri" pitchFamily="34" charset="-120"/>
              </a:rPr>
              <a:t>when it happens, and when judgement is worst</a:t>
            </a:r>
            <a:endParaRPr lang="en-US" sz="1200" dirty="0"/>
          </a:p>
        </p:txBody>
      </p:sp>
      <p:sp>
        <p:nvSpPr>
          <p:cNvPr id="11" name="Text 9"/>
          <p:cNvSpPr txBox="1"/>
          <p:nvPr/>
        </p:nvSpPr>
        <p:spPr>
          <a:xfrm>
            <a:off x="4114800" y="5111496"/>
            <a:ext cx="3108960" cy="685800"/>
          </a:xfrm>
          <a:prstGeom prst="rect">
            <a:avLst/>
          </a:prstGeom>
          <a:noFill/>
          <a:ln/>
        </p:spPr>
        <p:txBody>
          <a:bodyPr wrap="square" lIns="0" tIns="0" rIns="0" bIns="0" rtlCol="0" anchor="ctr"/>
          <a:lstStyle/>
          <a:p>
            <a:pPr indent="0" marL="0">
              <a:buNone/>
            </a:pPr>
            <a:r>
              <a:rPr lang="en-US" sz="4000" b="1" dirty="0">
                <a:solidFill>
                  <a:srgbClr val="FBBF24"/>
                </a:solidFill>
                <a:latin typeface="Arial" pitchFamily="34" charset="0"/>
                <a:ea typeface="Arial" pitchFamily="34" charset="-122"/>
                <a:cs typeface="Arial" pitchFamily="34" charset="-120"/>
              </a:rPr>
              <a:t>Minutes</a:t>
            </a:r>
            <a:endParaRPr lang="en-US" sz="4000" dirty="0"/>
          </a:p>
        </p:txBody>
      </p:sp>
      <p:sp>
        <p:nvSpPr>
          <p:cNvPr id="12" name="Text 10"/>
          <p:cNvSpPr txBox="1"/>
          <p:nvPr/>
        </p:nvSpPr>
        <p:spPr>
          <a:xfrm>
            <a:off x="4114800" y="5797296"/>
            <a:ext cx="3108960" cy="457200"/>
          </a:xfrm>
          <a:prstGeom prst="rect">
            <a:avLst/>
          </a:prstGeom>
          <a:noFill/>
          <a:ln/>
        </p:spPr>
        <p:txBody>
          <a:bodyPr wrap="square" lIns="0" tIns="0" rIns="0" bIns="0" rtlCol="0" anchor="ctr"/>
          <a:lstStyle/>
          <a:p>
            <a:pPr indent="0" marL="0">
              <a:lnSpc>
                <a:spcPts val="1400"/>
              </a:lnSpc>
              <a:buNone/>
            </a:pPr>
            <a:r>
              <a:rPr lang="en-US" sz="1200" dirty="0">
                <a:solidFill>
                  <a:srgbClr val="94A8C4"/>
                </a:solidFill>
                <a:latin typeface="Calibri" pitchFamily="34" charset="0"/>
                <a:ea typeface="Calibri" pitchFamily="34" charset="-122"/>
                <a:cs typeface="Calibri" pitchFamily="34" charset="-120"/>
              </a:rPr>
              <a:t>of the outage spent on steps a machine could do</a:t>
            </a:r>
            <a:endParaRPr lang="en-US" sz="1200" dirty="0"/>
          </a:p>
        </p:txBody>
      </p:sp>
      <p:sp>
        <p:nvSpPr>
          <p:cNvPr id="13" name="Text 11"/>
          <p:cNvSpPr txBox="1"/>
          <p:nvPr/>
        </p:nvSpPr>
        <p:spPr>
          <a:xfrm>
            <a:off x="7680960" y="5111496"/>
            <a:ext cx="4023360" cy="685800"/>
          </a:xfrm>
          <a:prstGeom prst="rect">
            <a:avLst/>
          </a:prstGeom>
          <a:noFill/>
          <a:ln/>
        </p:spPr>
        <p:txBody>
          <a:bodyPr wrap="square" lIns="0" tIns="0" rIns="0" bIns="0" rtlCol="0" anchor="ctr"/>
          <a:lstStyle/>
          <a:p>
            <a:pPr indent="0" marL="0">
              <a:buNone/>
            </a:pPr>
            <a:r>
              <a:rPr lang="en-US" sz="4000" b="1" dirty="0">
                <a:solidFill>
                  <a:srgbClr val="F87171"/>
                </a:solidFill>
                <a:latin typeface="Arial" pitchFamily="34" charset="0"/>
                <a:ea typeface="Arial" pitchFamily="34" charset="-122"/>
                <a:cs typeface="Arial" pitchFamily="34" charset="-120"/>
              </a:rPr>
              <a:t>Read-only</a:t>
            </a:r>
            <a:endParaRPr lang="en-US" sz="4000" dirty="0"/>
          </a:p>
        </p:txBody>
      </p:sp>
      <p:sp>
        <p:nvSpPr>
          <p:cNvPr id="14" name="Text 12"/>
          <p:cNvSpPr txBox="1"/>
          <p:nvPr/>
        </p:nvSpPr>
        <p:spPr>
          <a:xfrm>
            <a:off x="7680960" y="5797296"/>
            <a:ext cx="4023360" cy="457200"/>
          </a:xfrm>
          <a:prstGeom prst="rect">
            <a:avLst/>
          </a:prstGeom>
          <a:noFill/>
          <a:ln/>
        </p:spPr>
        <p:txBody>
          <a:bodyPr wrap="square" lIns="0" tIns="0" rIns="0" bIns="0" rtlCol="0" anchor="ctr"/>
          <a:lstStyle/>
          <a:p>
            <a:pPr indent="0" marL="0">
              <a:lnSpc>
                <a:spcPts val="1400"/>
              </a:lnSpc>
              <a:buNone/>
            </a:pPr>
            <a:r>
              <a:rPr lang="en-US" sz="1200" dirty="0">
                <a:solidFill>
                  <a:srgbClr val="94A8C4"/>
                </a:solidFill>
                <a:latin typeface="Calibri" pitchFamily="34" charset="0"/>
                <a:ea typeface="Calibri" pitchFamily="34" charset="-122"/>
                <a:cs typeface="Calibri" pitchFamily="34" charset="-120"/>
              </a:rPr>
              <a:t>where most teams stop, because acting isn’t safe</a:t>
            </a:r>
            <a:endParaRPr lang="en-US" sz="1200" dirty="0"/>
          </a:p>
        </p:txBody>
      </p:sp>
      <p:sp>
        <p:nvSpPr>
          <p:cNvPr id="15" name="Text 13"/>
          <p:cNvSpPr txBox="1"/>
          <p:nvPr/>
        </p:nvSpPr>
        <p:spPr>
          <a:xfrm>
            <a:off x="548640" y="6400800"/>
            <a:ext cx="3657600" cy="256032"/>
          </a:xfrm>
          <a:prstGeom prst="rect">
            <a:avLst/>
          </a:prstGeom>
          <a:noFill/>
          <a:ln/>
        </p:spPr>
        <p:txBody>
          <a:bodyPr wrap="square" lIns="0" tIns="0" rIns="0" bIns="0" rtlCol="0" anchor="ctr"/>
          <a:lstStyle/>
          <a:p>
            <a:pPr indent="0" marL="0">
              <a:buNone/>
            </a:pPr>
            <a:r>
              <a:rPr lang="en-US" sz="1000" dirty="0">
                <a:solidFill>
                  <a:srgbClr val="5A6E8C"/>
                </a:solidFill>
                <a:latin typeface="Calibri" pitchFamily="34" charset="0"/>
                <a:ea typeface="Calibri" pitchFamily="34" charset="-122"/>
                <a:cs typeface="Calibri" pitchFamily="34" charset="-120"/>
              </a:rPr>
              <a:t>SentinelOps AI</a:t>
            </a:r>
            <a:endParaRPr lang="en-US" sz="1000" dirty="0"/>
          </a:p>
        </p:txBody>
      </p:sp>
      <p:sp>
        <p:nvSpPr>
          <p:cNvPr id="16" name="Text 14"/>
          <p:cNvSpPr txBox="1"/>
          <p:nvPr/>
        </p:nvSpPr>
        <p:spPr>
          <a:xfrm>
            <a:off x="10725912" y="6400800"/>
            <a:ext cx="914400" cy="256032"/>
          </a:xfrm>
          <a:prstGeom prst="rect">
            <a:avLst/>
          </a:prstGeom>
          <a:noFill/>
          <a:ln/>
        </p:spPr>
        <p:txBody>
          <a:bodyPr wrap="square" lIns="0" tIns="0" rIns="0" bIns="0" rtlCol="0" anchor="ctr"/>
          <a:lstStyle/>
          <a:p>
            <a:pPr algn="r" indent="0" marL="0">
              <a:buNone/>
            </a:pPr>
            <a:r>
              <a:rPr lang="en-US" sz="1000" dirty="0">
                <a:solidFill>
                  <a:srgbClr val="5A6E8C"/>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411480"/>
            <a:ext cx="10058400" cy="256032"/>
          </a:xfrm>
          <a:prstGeom prst="rect">
            <a:avLst/>
          </a:prstGeom>
          <a:noFill/>
          <a:ln/>
        </p:spPr>
        <p:txBody>
          <a:bodyPr wrap="square" lIns="0" tIns="0" rIns="0" bIns="0" rtlCol="0" anchor="ctr"/>
          <a:lstStyle/>
          <a:p>
            <a:pPr indent="0" marL="0">
              <a:buNone/>
            </a:pPr>
            <a:r>
              <a:rPr lang="en-US" sz="1200" b="1" spc="200" kern="0" dirty="0">
                <a:solidFill>
                  <a:srgbClr val="22D3EE"/>
                </a:solidFill>
                <a:latin typeface="Calibri" pitchFamily="34" charset="0"/>
                <a:ea typeface="Calibri" pitchFamily="34" charset="-122"/>
                <a:cs typeface="Calibri" pitchFamily="34" charset="-120"/>
              </a:rPr>
              <a:t>WHY NOW</a:t>
            </a:r>
            <a:endParaRPr lang="en-US" sz="1200" dirty="0"/>
          </a:p>
        </p:txBody>
      </p:sp>
      <p:sp>
        <p:nvSpPr>
          <p:cNvPr id="3" name="Text 1"/>
          <p:cNvSpPr txBox="1"/>
          <p:nvPr/>
        </p:nvSpPr>
        <p:spPr>
          <a:xfrm>
            <a:off x="548640" y="722376"/>
            <a:ext cx="11064240" cy="475488"/>
          </a:xfrm>
          <a:prstGeom prst="rect">
            <a:avLst/>
          </a:prstGeom>
          <a:noFill/>
          <a:ln/>
        </p:spPr>
        <p:txBody>
          <a:bodyPr wrap="square" lIns="0" tIns="0" rIns="0" bIns="0" rtlCol="0" anchor="ctr"/>
          <a:lstStyle/>
          <a:p>
            <a:pPr indent="0" marL="0">
              <a:buNone/>
            </a:pPr>
            <a:r>
              <a:rPr lang="en-US" sz="3000" b="1" dirty="0">
                <a:solidFill>
                  <a:srgbClr val="E9EFFA"/>
                </a:solidFill>
                <a:latin typeface="Arial" pitchFamily="34" charset="0"/>
                <a:ea typeface="Arial" pitchFamily="34" charset="-122"/>
                <a:cs typeface="Arial" pitchFamily="34" charset="-120"/>
              </a:rPr>
              <a:t>The category is real. The trust problem is not solved.</a:t>
            </a:r>
            <a:endParaRPr lang="en-US" sz="3000" dirty="0"/>
          </a:p>
        </p:txBody>
      </p:sp>
      <p:sp>
        <p:nvSpPr>
          <p:cNvPr id="4" name="Shape 2"/>
          <p:cNvSpPr/>
          <p:nvPr/>
        </p:nvSpPr>
        <p:spPr>
          <a:xfrm>
            <a:off x="548640" y="1591056"/>
            <a:ext cx="3529584" cy="2286000"/>
          </a:xfrm>
          <a:prstGeom prst="roundRect">
            <a:avLst>
              <a:gd name="adj" fmla="val 1600"/>
            </a:avLst>
          </a:prstGeom>
          <a:solidFill>
            <a:srgbClr val="16213A"/>
          </a:solidFill>
          <a:ln w="12700">
            <a:solidFill>
              <a:srgbClr val="1E2A47"/>
            </a:solidFill>
            <a:prstDash val="solid"/>
          </a:ln>
        </p:spPr>
      </p:sp>
      <p:sp>
        <p:nvSpPr>
          <p:cNvPr id="5" name="Shape 3"/>
          <p:cNvSpPr/>
          <p:nvPr/>
        </p:nvSpPr>
        <p:spPr>
          <a:xfrm>
            <a:off x="804672" y="1828800"/>
            <a:ext cx="384048" cy="384048"/>
          </a:xfrm>
          <a:prstGeom prst="roundRect">
            <a:avLst>
              <a:gd name="adj" fmla="val 23810"/>
            </a:avLst>
          </a:prstGeom>
          <a:solidFill>
            <a:srgbClr val="1E2A47"/>
          </a:solidFill>
          <a:ln w="12700">
            <a:solidFill>
              <a:srgbClr val="22D3EE"/>
            </a:solidFill>
            <a:prstDash val="solid"/>
          </a:ln>
        </p:spPr>
      </p:sp>
      <p:sp>
        <p:nvSpPr>
          <p:cNvPr id="6" name="Text 4"/>
          <p:cNvSpPr txBox="1"/>
          <p:nvPr/>
        </p:nvSpPr>
        <p:spPr>
          <a:xfrm>
            <a:off x="804672" y="1828800"/>
            <a:ext cx="384048" cy="384048"/>
          </a:xfrm>
          <a:prstGeom prst="rect">
            <a:avLst/>
          </a:prstGeom>
          <a:noFill/>
          <a:ln/>
        </p:spPr>
        <p:txBody>
          <a:bodyPr wrap="square" lIns="0" tIns="0" rIns="0" bIns="0" rtlCol="0" anchor="ctr"/>
          <a:lstStyle/>
          <a:p>
            <a:pPr algn="ctr" indent="0" marL="0">
              <a:buNone/>
            </a:pPr>
            <a:r>
              <a:rPr lang="en-US" sz="1400" b="1" dirty="0">
                <a:solidFill>
                  <a:srgbClr val="22D3EE"/>
                </a:solidFill>
                <a:latin typeface="Arial" pitchFamily="34" charset="0"/>
                <a:ea typeface="Arial" pitchFamily="34" charset="-122"/>
                <a:cs typeface="Arial" pitchFamily="34" charset="-120"/>
              </a:rPr>
              <a:t>1</a:t>
            </a:r>
            <a:endParaRPr lang="en-US" sz="1400" dirty="0"/>
          </a:p>
        </p:txBody>
      </p:sp>
      <p:sp>
        <p:nvSpPr>
          <p:cNvPr id="7" name="Text 5"/>
          <p:cNvSpPr txBox="1"/>
          <p:nvPr/>
        </p:nvSpPr>
        <p:spPr>
          <a:xfrm>
            <a:off x="1298448" y="1847088"/>
            <a:ext cx="2523744" cy="347472"/>
          </a:xfrm>
          <a:prstGeom prst="rect">
            <a:avLst/>
          </a:prstGeom>
          <a:noFill/>
          <a:ln/>
        </p:spPr>
        <p:txBody>
          <a:bodyPr wrap="square" lIns="0" tIns="0" rIns="0" bIns="0" rtlCol="0" anchor="ctr"/>
          <a:lstStyle/>
          <a:p>
            <a:pPr indent="0" marL="0">
              <a:buNone/>
            </a:pPr>
            <a:r>
              <a:rPr lang="en-US" sz="1500" b="1" dirty="0">
                <a:solidFill>
                  <a:srgbClr val="E9EFFA"/>
                </a:solidFill>
                <a:latin typeface="Arial" pitchFamily="34" charset="0"/>
                <a:ea typeface="Arial" pitchFamily="34" charset="-122"/>
                <a:cs typeface="Arial" pitchFamily="34" charset="-120"/>
              </a:rPr>
              <a:t>A named category, this year</a:t>
            </a:r>
            <a:endParaRPr lang="en-US" sz="1500" dirty="0"/>
          </a:p>
        </p:txBody>
      </p:sp>
      <p:sp>
        <p:nvSpPr>
          <p:cNvPr id="8" name="Text 6"/>
          <p:cNvSpPr txBox="1"/>
          <p:nvPr/>
        </p:nvSpPr>
        <p:spPr>
          <a:xfrm>
            <a:off x="804672" y="2340864"/>
            <a:ext cx="3017520" cy="1325880"/>
          </a:xfrm>
          <a:prstGeom prst="rect">
            <a:avLst/>
          </a:prstGeom>
          <a:noFill/>
          <a:ln/>
        </p:spPr>
        <p:txBody>
          <a:bodyPr wrap="square" lIns="0" tIns="0" rIns="0" bIns="0" rtlCol="0" anchor="ctr"/>
          <a:lstStyle/>
          <a:p>
            <a:pPr indent="0" marL="0">
              <a:lnSpc>
                <a:spcPts val="1700"/>
              </a:lnSpc>
              <a:buNone/>
            </a:pPr>
            <a:r>
              <a:rPr lang="en-US" sz="1300" dirty="0">
                <a:solidFill>
                  <a:srgbClr val="94A8C4"/>
                </a:solidFill>
                <a:latin typeface="Calibri" pitchFamily="34" charset="0"/>
                <a:ea typeface="Calibri" pitchFamily="34" charset="-122"/>
                <a:cs typeface="Calibri" pitchFamily="34" charset="-120"/>
              </a:rPr>
              <a:t>Gartner published its first AI SRE Market Guide in January 2026. Buyers now have a box to put this in — and budget lines follow categories.</a:t>
            </a:r>
            <a:endParaRPr lang="en-US" sz="1300" dirty="0"/>
          </a:p>
        </p:txBody>
      </p:sp>
      <p:sp>
        <p:nvSpPr>
          <p:cNvPr id="9" name="Shape 7"/>
          <p:cNvSpPr/>
          <p:nvPr/>
        </p:nvSpPr>
        <p:spPr>
          <a:xfrm>
            <a:off x="4261104" y="1591056"/>
            <a:ext cx="3529584" cy="2286000"/>
          </a:xfrm>
          <a:prstGeom prst="roundRect">
            <a:avLst>
              <a:gd name="adj" fmla="val 1600"/>
            </a:avLst>
          </a:prstGeom>
          <a:solidFill>
            <a:srgbClr val="16213A"/>
          </a:solidFill>
          <a:ln w="12700">
            <a:solidFill>
              <a:srgbClr val="1E2A47"/>
            </a:solidFill>
            <a:prstDash val="solid"/>
          </a:ln>
        </p:spPr>
      </p:sp>
      <p:sp>
        <p:nvSpPr>
          <p:cNvPr id="10" name="Shape 8"/>
          <p:cNvSpPr/>
          <p:nvPr/>
        </p:nvSpPr>
        <p:spPr>
          <a:xfrm>
            <a:off x="4517136" y="1828800"/>
            <a:ext cx="384048" cy="384048"/>
          </a:xfrm>
          <a:prstGeom prst="roundRect">
            <a:avLst>
              <a:gd name="adj" fmla="val 23810"/>
            </a:avLst>
          </a:prstGeom>
          <a:solidFill>
            <a:srgbClr val="1E2A47"/>
          </a:solidFill>
          <a:ln w="12700">
            <a:solidFill>
              <a:srgbClr val="22D3EE"/>
            </a:solidFill>
            <a:prstDash val="solid"/>
          </a:ln>
        </p:spPr>
      </p:sp>
      <p:sp>
        <p:nvSpPr>
          <p:cNvPr id="11" name="Text 9"/>
          <p:cNvSpPr txBox="1"/>
          <p:nvPr/>
        </p:nvSpPr>
        <p:spPr>
          <a:xfrm>
            <a:off x="4517136" y="1828800"/>
            <a:ext cx="384048" cy="384048"/>
          </a:xfrm>
          <a:prstGeom prst="rect">
            <a:avLst/>
          </a:prstGeom>
          <a:noFill/>
          <a:ln/>
        </p:spPr>
        <p:txBody>
          <a:bodyPr wrap="square" lIns="0" tIns="0" rIns="0" bIns="0" rtlCol="0" anchor="ctr"/>
          <a:lstStyle/>
          <a:p>
            <a:pPr algn="ctr" indent="0" marL="0">
              <a:buNone/>
            </a:pPr>
            <a:r>
              <a:rPr lang="en-US" sz="1400" b="1" dirty="0">
                <a:solidFill>
                  <a:srgbClr val="22D3EE"/>
                </a:solidFill>
                <a:latin typeface="Arial" pitchFamily="34" charset="0"/>
                <a:ea typeface="Arial" pitchFamily="34" charset="-122"/>
                <a:cs typeface="Arial" pitchFamily="34" charset="-120"/>
              </a:rPr>
              <a:t>2</a:t>
            </a:r>
            <a:endParaRPr lang="en-US" sz="1400" dirty="0"/>
          </a:p>
        </p:txBody>
      </p:sp>
      <p:sp>
        <p:nvSpPr>
          <p:cNvPr id="12" name="Text 10"/>
          <p:cNvSpPr txBox="1"/>
          <p:nvPr/>
        </p:nvSpPr>
        <p:spPr>
          <a:xfrm>
            <a:off x="5010912" y="1847088"/>
            <a:ext cx="2523744" cy="347472"/>
          </a:xfrm>
          <a:prstGeom prst="rect">
            <a:avLst/>
          </a:prstGeom>
          <a:noFill/>
          <a:ln/>
        </p:spPr>
        <p:txBody>
          <a:bodyPr wrap="square" lIns="0" tIns="0" rIns="0" bIns="0" rtlCol="0" anchor="ctr"/>
          <a:lstStyle/>
          <a:p>
            <a:pPr indent="0" marL="0">
              <a:buNone/>
            </a:pPr>
            <a:r>
              <a:rPr lang="en-US" sz="1500" b="1" dirty="0">
                <a:solidFill>
                  <a:srgbClr val="E9EFFA"/>
                </a:solidFill>
                <a:latin typeface="Arial" pitchFamily="34" charset="0"/>
                <a:ea typeface="Arial" pitchFamily="34" charset="-122"/>
                <a:cs typeface="Arial" pitchFamily="34" charset="-120"/>
              </a:rPr>
              <a:t>Capital is already here</a:t>
            </a:r>
            <a:endParaRPr lang="en-US" sz="1500" dirty="0"/>
          </a:p>
        </p:txBody>
      </p:sp>
      <p:sp>
        <p:nvSpPr>
          <p:cNvPr id="13" name="Text 11"/>
          <p:cNvSpPr txBox="1"/>
          <p:nvPr/>
        </p:nvSpPr>
        <p:spPr>
          <a:xfrm>
            <a:off x="4517136" y="2340864"/>
            <a:ext cx="3017520" cy="1325880"/>
          </a:xfrm>
          <a:prstGeom prst="rect">
            <a:avLst/>
          </a:prstGeom>
          <a:noFill/>
          <a:ln/>
        </p:spPr>
        <p:txBody>
          <a:bodyPr wrap="square" lIns="0" tIns="0" rIns="0" bIns="0" rtlCol="0" anchor="ctr"/>
          <a:lstStyle/>
          <a:p>
            <a:pPr indent="0" marL="0">
              <a:lnSpc>
                <a:spcPts val="1700"/>
              </a:lnSpc>
              <a:buNone/>
            </a:pPr>
            <a:r>
              <a:rPr lang="en-US" sz="1300" dirty="0">
                <a:solidFill>
                  <a:srgbClr val="94A8C4"/>
                </a:solidFill>
                <a:latin typeface="Calibri" pitchFamily="34" charset="0"/>
                <a:ea typeface="Calibri" pitchFamily="34" charset="-122"/>
                <a:cs typeface="Calibri" pitchFamily="34" charset="-120"/>
              </a:rPr>
              <a:t>Resolve AI raised a $125M Series A at a $1B valuation in February 2026. The space is validated; the winner is not decided.</a:t>
            </a:r>
            <a:endParaRPr lang="en-US" sz="1300" dirty="0"/>
          </a:p>
        </p:txBody>
      </p:sp>
      <p:sp>
        <p:nvSpPr>
          <p:cNvPr id="14" name="Shape 12"/>
          <p:cNvSpPr/>
          <p:nvPr/>
        </p:nvSpPr>
        <p:spPr>
          <a:xfrm>
            <a:off x="7973568" y="1591056"/>
            <a:ext cx="3529584" cy="2286000"/>
          </a:xfrm>
          <a:prstGeom prst="roundRect">
            <a:avLst>
              <a:gd name="adj" fmla="val 1600"/>
            </a:avLst>
          </a:prstGeom>
          <a:solidFill>
            <a:srgbClr val="16213A"/>
          </a:solidFill>
          <a:ln w="12700">
            <a:solidFill>
              <a:srgbClr val="1E2A47"/>
            </a:solidFill>
            <a:prstDash val="solid"/>
          </a:ln>
        </p:spPr>
      </p:sp>
      <p:sp>
        <p:nvSpPr>
          <p:cNvPr id="15" name="Shape 13"/>
          <p:cNvSpPr/>
          <p:nvPr/>
        </p:nvSpPr>
        <p:spPr>
          <a:xfrm>
            <a:off x="8229600" y="1828800"/>
            <a:ext cx="384048" cy="384048"/>
          </a:xfrm>
          <a:prstGeom prst="roundRect">
            <a:avLst>
              <a:gd name="adj" fmla="val 23810"/>
            </a:avLst>
          </a:prstGeom>
          <a:solidFill>
            <a:srgbClr val="1E2A47"/>
          </a:solidFill>
          <a:ln w="12700">
            <a:solidFill>
              <a:srgbClr val="22D3EE"/>
            </a:solidFill>
            <a:prstDash val="solid"/>
          </a:ln>
        </p:spPr>
      </p:sp>
      <p:sp>
        <p:nvSpPr>
          <p:cNvPr id="16" name="Text 14"/>
          <p:cNvSpPr txBox="1"/>
          <p:nvPr/>
        </p:nvSpPr>
        <p:spPr>
          <a:xfrm>
            <a:off x="8229600" y="1828800"/>
            <a:ext cx="384048" cy="384048"/>
          </a:xfrm>
          <a:prstGeom prst="rect">
            <a:avLst/>
          </a:prstGeom>
          <a:noFill/>
          <a:ln/>
        </p:spPr>
        <p:txBody>
          <a:bodyPr wrap="square" lIns="0" tIns="0" rIns="0" bIns="0" rtlCol="0" anchor="ctr"/>
          <a:lstStyle/>
          <a:p>
            <a:pPr algn="ctr" indent="0" marL="0">
              <a:buNone/>
            </a:pPr>
            <a:r>
              <a:rPr lang="en-US" sz="1400" b="1" dirty="0">
                <a:solidFill>
                  <a:srgbClr val="22D3EE"/>
                </a:solidFill>
                <a:latin typeface="Arial" pitchFamily="34" charset="0"/>
                <a:ea typeface="Arial" pitchFamily="34" charset="-122"/>
                <a:cs typeface="Arial" pitchFamily="34" charset="-120"/>
              </a:rPr>
              <a:t>3</a:t>
            </a:r>
            <a:endParaRPr lang="en-US" sz="1400" dirty="0"/>
          </a:p>
        </p:txBody>
      </p:sp>
      <p:sp>
        <p:nvSpPr>
          <p:cNvPr id="17" name="Text 15"/>
          <p:cNvSpPr txBox="1"/>
          <p:nvPr/>
        </p:nvSpPr>
        <p:spPr>
          <a:xfrm>
            <a:off x="8723376" y="1847088"/>
            <a:ext cx="2523744" cy="347472"/>
          </a:xfrm>
          <a:prstGeom prst="rect">
            <a:avLst/>
          </a:prstGeom>
          <a:noFill/>
          <a:ln/>
        </p:spPr>
        <p:txBody>
          <a:bodyPr wrap="square" lIns="0" tIns="0" rIns="0" bIns="0" rtlCol="0" anchor="ctr"/>
          <a:lstStyle/>
          <a:p>
            <a:pPr indent="0" marL="0">
              <a:buNone/>
            </a:pPr>
            <a:r>
              <a:rPr lang="en-US" sz="1500" b="1" dirty="0">
                <a:solidFill>
                  <a:srgbClr val="E9EFFA"/>
                </a:solidFill>
                <a:latin typeface="Arial" pitchFamily="34" charset="0"/>
                <a:ea typeface="Arial" pitchFamily="34" charset="-122"/>
                <a:cs typeface="Arial" pitchFamily="34" charset="-120"/>
              </a:rPr>
              <a:t>The gap is stated openly</a:t>
            </a:r>
            <a:endParaRPr lang="en-US" sz="1500" dirty="0"/>
          </a:p>
        </p:txBody>
      </p:sp>
      <p:sp>
        <p:nvSpPr>
          <p:cNvPr id="18" name="Text 16"/>
          <p:cNvSpPr txBox="1"/>
          <p:nvPr/>
        </p:nvSpPr>
        <p:spPr>
          <a:xfrm>
            <a:off x="8229600" y="2340864"/>
            <a:ext cx="3017520" cy="1325880"/>
          </a:xfrm>
          <a:prstGeom prst="rect">
            <a:avLst/>
          </a:prstGeom>
          <a:noFill/>
          <a:ln/>
        </p:spPr>
        <p:txBody>
          <a:bodyPr wrap="square" lIns="0" tIns="0" rIns="0" bIns="0" rtlCol="0" anchor="ctr"/>
          <a:lstStyle/>
          <a:p>
            <a:pPr indent="0" marL="0">
              <a:lnSpc>
                <a:spcPts val="1700"/>
              </a:lnSpc>
              <a:buNone/>
            </a:pPr>
            <a:r>
              <a:rPr lang="en-US" sz="1300" dirty="0">
                <a:solidFill>
                  <a:srgbClr val="94A8C4"/>
                </a:solidFill>
                <a:latin typeface="Calibri" pitchFamily="34" charset="0"/>
                <a:ea typeface="Calibri" pitchFamily="34" charset="-122"/>
                <a:cs typeface="Calibri" pitchFamily="34" charset="-120"/>
              </a:rPr>
              <a:t>The market’s own summary: autonomous investigation is real and reliable — autonomous remediation is still supervised. Nobody has solved trust.</a:t>
            </a:r>
            <a:endParaRPr lang="en-US" sz="1300" dirty="0"/>
          </a:p>
        </p:txBody>
      </p:sp>
      <p:sp>
        <p:nvSpPr>
          <p:cNvPr id="19" name="Shape 17"/>
          <p:cNvSpPr/>
          <p:nvPr/>
        </p:nvSpPr>
        <p:spPr>
          <a:xfrm>
            <a:off x="548640" y="4105656"/>
            <a:ext cx="11091672" cy="1600200"/>
          </a:xfrm>
          <a:prstGeom prst="roundRect">
            <a:avLst>
              <a:gd name="adj" fmla="val 2286"/>
            </a:avLst>
          </a:prstGeom>
          <a:solidFill>
            <a:srgbClr val="1E2A47"/>
          </a:solidFill>
          <a:ln w="12700">
            <a:solidFill>
              <a:srgbClr val="1E2A47"/>
            </a:solidFill>
            <a:prstDash val="solid"/>
          </a:ln>
        </p:spPr>
      </p:sp>
      <p:sp>
        <p:nvSpPr>
          <p:cNvPr id="20" name="Shape 18"/>
          <p:cNvSpPr/>
          <p:nvPr/>
        </p:nvSpPr>
        <p:spPr>
          <a:xfrm>
            <a:off x="841248" y="4425696"/>
            <a:ext cx="402336" cy="402336"/>
          </a:xfrm>
          <a:prstGeom prst="roundRect">
            <a:avLst>
              <a:gd name="adj" fmla="val 22727"/>
            </a:avLst>
          </a:prstGeom>
          <a:solidFill>
            <a:srgbClr val="1E2A47"/>
          </a:solidFill>
          <a:ln w="12700">
            <a:solidFill>
              <a:srgbClr val="34D399"/>
            </a:solidFill>
            <a:prstDash val="solid"/>
          </a:ln>
        </p:spPr>
      </p:sp>
      <p:sp>
        <p:nvSpPr>
          <p:cNvPr id="21" name="Text 19"/>
          <p:cNvSpPr txBox="1"/>
          <p:nvPr/>
        </p:nvSpPr>
        <p:spPr>
          <a:xfrm>
            <a:off x="841248" y="4425696"/>
            <a:ext cx="402336" cy="402336"/>
          </a:xfrm>
          <a:prstGeom prst="rect">
            <a:avLst/>
          </a:prstGeom>
          <a:noFill/>
          <a:ln/>
        </p:spPr>
        <p:txBody>
          <a:bodyPr wrap="square" lIns="0" tIns="0" rIns="0" bIns="0" rtlCol="0" anchor="ctr"/>
          <a:lstStyle/>
          <a:p>
            <a:pPr algn="ctr" indent="0" marL="0">
              <a:buNone/>
            </a:pPr>
            <a:r>
              <a:rPr lang="en-US" sz="1400" b="1" dirty="0">
                <a:solidFill>
                  <a:srgbClr val="34D399"/>
                </a:solidFill>
                <a:latin typeface="Arial" pitchFamily="34" charset="0"/>
                <a:ea typeface="Arial" pitchFamily="34" charset="-122"/>
                <a:cs typeface="Arial" pitchFamily="34" charset="-120"/>
              </a:rPr>
              <a:t>✓</a:t>
            </a:r>
            <a:endParaRPr lang="en-US" sz="1400" dirty="0"/>
          </a:p>
        </p:txBody>
      </p:sp>
      <p:sp>
        <p:nvSpPr>
          <p:cNvPr id="22" name="Text 20"/>
          <p:cNvSpPr txBox="1"/>
          <p:nvPr/>
        </p:nvSpPr>
        <p:spPr>
          <a:xfrm>
            <a:off x="1417320" y="4334256"/>
            <a:ext cx="10058400" cy="329184"/>
          </a:xfrm>
          <a:prstGeom prst="rect">
            <a:avLst/>
          </a:prstGeom>
          <a:noFill/>
          <a:ln/>
        </p:spPr>
        <p:txBody>
          <a:bodyPr wrap="square" lIns="0" tIns="0" rIns="0" bIns="0" rtlCol="0" anchor="ctr"/>
          <a:lstStyle/>
          <a:p>
            <a:pPr indent="0" marL="0">
              <a:buNone/>
            </a:pPr>
            <a:r>
              <a:rPr lang="en-US" sz="1600" b="1" dirty="0">
                <a:solidFill>
                  <a:srgbClr val="E9EFFA"/>
                </a:solidFill>
                <a:latin typeface="Arial" pitchFamily="34" charset="0"/>
                <a:ea typeface="Arial" pitchFamily="34" charset="-122"/>
                <a:cs typeface="Arial" pitchFamily="34" charset="-120"/>
              </a:rPr>
              <a:t>And ITSM vendors are converging on the same answer we built</a:t>
            </a:r>
            <a:endParaRPr lang="en-US" sz="1600" dirty="0"/>
          </a:p>
        </p:txBody>
      </p:sp>
      <p:sp>
        <p:nvSpPr>
          <p:cNvPr id="23" name="Text 21"/>
          <p:cNvSpPr txBox="1"/>
          <p:nvPr/>
        </p:nvSpPr>
        <p:spPr>
          <a:xfrm>
            <a:off x="1417320" y="4718304"/>
            <a:ext cx="10058400" cy="868680"/>
          </a:xfrm>
          <a:prstGeom prst="rect">
            <a:avLst/>
          </a:prstGeom>
          <a:noFill/>
          <a:ln/>
        </p:spPr>
        <p:txBody>
          <a:bodyPr wrap="square" lIns="0" tIns="0" rIns="0" bIns="0" rtlCol="0" anchor="ctr"/>
          <a:lstStyle/>
          <a:p>
            <a:pPr indent="0" marL="0">
              <a:lnSpc>
                <a:spcPts val="1800"/>
              </a:lnSpc>
              <a:buNone/>
            </a:pPr>
            <a:r>
              <a:rPr lang="en-US" sz="1300" dirty="0">
                <a:solidFill>
                  <a:srgbClr val="94A8C4"/>
                </a:solidFill>
                <a:latin typeface="Calibri" pitchFamily="34" charset="0"/>
                <a:ea typeface="Calibri" pitchFamily="34" charset="-122"/>
                <a:cs typeface="Calibri" pitchFamily="34" charset="-120"/>
              </a:rPr>
              <a:t>The emerging consensus is that when an AI changes production, that change should flow through the same governed process as any human change — using ITSM’s existing risk classification, approval chains and audit requirements. That is exactly how SentinelOps routes every fix through Freshservice.</a:t>
            </a:r>
            <a:endParaRPr lang="en-US" sz="1300" dirty="0"/>
          </a:p>
        </p:txBody>
      </p:sp>
      <p:sp>
        <p:nvSpPr>
          <p:cNvPr id="24" name="Text 22"/>
          <p:cNvSpPr txBox="1"/>
          <p:nvPr/>
        </p:nvSpPr>
        <p:spPr>
          <a:xfrm>
            <a:off x="548640" y="6400800"/>
            <a:ext cx="3657600" cy="256032"/>
          </a:xfrm>
          <a:prstGeom prst="rect">
            <a:avLst/>
          </a:prstGeom>
          <a:noFill/>
          <a:ln/>
        </p:spPr>
        <p:txBody>
          <a:bodyPr wrap="square" lIns="0" tIns="0" rIns="0" bIns="0" rtlCol="0" anchor="ctr"/>
          <a:lstStyle/>
          <a:p>
            <a:pPr indent="0" marL="0">
              <a:buNone/>
            </a:pPr>
            <a:r>
              <a:rPr lang="en-US" sz="1000" dirty="0">
                <a:solidFill>
                  <a:srgbClr val="5A6E8C"/>
                </a:solidFill>
                <a:latin typeface="Calibri" pitchFamily="34" charset="0"/>
                <a:ea typeface="Calibri" pitchFamily="34" charset="-122"/>
                <a:cs typeface="Calibri" pitchFamily="34" charset="-120"/>
              </a:rPr>
              <a:t>SentinelOps AI</a:t>
            </a:r>
            <a:endParaRPr lang="en-US" sz="1000" dirty="0"/>
          </a:p>
        </p:txBody>
      </p:sp>
      <p:sp>
        <p:nvSpPr>
          <p:cNvPr id="25" name="Text 23"/>
          <p:cNvSpPr txBox="1"/>
          <p:nvPr/>
        </p:nvSpPr>
        <p:spPr>
          <a:xfrm>
            <a:off x="10725912" y="6400800"/>
            <a:ext cx="914400" cy="256032"/>
          </a:xfrm>
          <a:prstGeom prst="rect">
            <a:avLst/>
          </a:prstGeom>
          <a:noFill/>
          <a:ln/>
        </p:spPr>
        <p:txBody>
          <a:bodyPr wrap="square" lIns="0" tIns="0" rIns="0" bIns="0" rtlCol="0" anchor="ctr"/>
          <a:lstStyle/>
          <a:p>
            <a:pPr algn="r" indent="0" marL="0">
              <a:buNone/>
            </a:pPr>
            <a:r>
              <a:rPr lang="en-US" sz="1000" dirty="0">
                <a:solidFill>
                  <a:srgbClr val="5A6E8C"/>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411480"/>
            <a:ext cx="10058400" cy="256032"/>
          </a:xfrm>
          <a:prstGeom prst="rect">
            <a:avLst/>
          </a:prstGeom>
          <a:noFill/>
          <a:ln/>
        </p:spPr>
        <p:txBody>
          <a:bodyPr wrap="square" lIns="0" tIns="0" rIns="0" bIns="0" rtlCol="0" anchor="ctr"/>
          <a:lstStyle/>
          <a:p>
            <a:pPr indent="0" marL="0">
              <a:buNone/>
            </a:pPr>
            <a:r>
              <a:rPr lang="en-US" sz="1200" b="1" spc="200" kern="0" dirty="0">
                <a:solidFill>
                  <a:srgbClr val="22D3EE"/>
                </a:solidFill>
                <a:latin typeface="Calibri" pitchFamily="34" charset="0"/>
                <a:ea typeface="Calibri" pitchFamily="34" charset="-122"/>
                <a:cs typeface="Calibri" pitchFamily="34" charset="-120"/>
              </a:rPr>
              <a:t>OUR SOLUTION</a:t>
            </a:r>
            <a:endParaRPr lang="en-US" sz="1200" dirty="0"/>
          </a:p>
        </p:txBody>
      </p:sp>
      <p:sp>
        <p:nvSpPr>
          <p:cNvPr id="3" name="Text 1"/>
          <p:cNvSpPr txBox="1"/>
          <p:nvPr/>
        </p:nvSpPr>
        <p:spPr>
          <a:xfrm>
            <a:off x="548640" y="722376"/>
            <a:ext cx="11064240" cy="475488"/>
          </a:xfrm>
          <a:prstGeom prst="rect">
            <a:avLst/>
          </a:prstGeom>
          <a:noFill/>
          <a:ln/>
        </p:spPr>
        <p:txBody>
          <a:bodyPr wrap="square" lIns="0" tIns="0" rIns="0" bIns="0" rtlCol="0" anchor="ctr"/>
          <a:lstStyle/>
          <a:p>
            <a:pPr indent="0" marL="0">
              <a:buNone/>
            </a:pPr>
            <a:r>
              <a:rPr lang="en-US" sz="3000" b="1" dirty="0">
                <a:solidFill>
                  <a:srgbClr val="E9EFFA"/>
                </a:solidFill>
                <a:latin typeface="Arial" pitchFamily="34" charset="0"/>
                <a:ea typeface="Arial" pitchFamily="34" charset="-122"/>
                <a:cs typeface="Arial" pitchFamily="34" charset="-120"/>
              </a:rPr>
              <a:t>Governed autonomy: it acts inside fences it cannot widen</a:t>
            </a:r>
            <a:endParaRPr lang="en-US" sz="3000" dirty="0"/>
          </a:p>
        </p:txBody>
      </p:sp>
      <p:sp>
        <p:nvSpPr>
          <p:cNvPr id="4" name="Text 2"/>
          <p:cNvSpPr txBox="1"/>
          <p:nvPr/>
        </p:nvSpPr>
        <p:spPr>
          <a:xfrm>
            <a:off x="548640" y="1591056"/>
            <a:ext cx="11064240" cy="1051560"/>
          </a:xfrm>
          <a:prstGeom prst="rect">
            <a:avLst/>
          </a:prstGeom>
          <a:noFill/>
          <a:ln/>
        </p:spPr>
        <p:txBody>
          <a:bodyPr wrap="square" lIns="0" tIns="0" rIns="0" bIns="0" rtlCol="0" anchor="ctr"/>
          <a:lstStyle/>
          <a:p>
            <a:pPr indent="0" marL="0">
              <a:lnSpc>
                <a:spcPts val="2200"/>
              </a:lnSpc>
              <a:buNone/>
            </a:pPr>
            <a:r>
              <a:rPr lang="en-US" sz="1500" dirty="0">
                <a:solidFill>
                  <a:srgbClr val="E9EFFA"/>
                </a:solidFill>
                <a:latin typeface="Calibri" pitchFamily="34" charset="0"/>
                <a:ea typeface="Calibri" pitchFamily="34" charset="-122"/>
                <a:cs typeface="Calibri" pitchFamily="34" charset="-120"/>
              </a:rPr>
              <a:t>SentinelOps watches a live Kubernetes system, detects incidents from real metrics, investigates them with an agent that must cite its evidence, and proposes a fix from a fixed catalog of safe actions. A human approves — in Freshservice, through their own change process — then it executes, verifies recovery, rolls itself back if the fix failed, and writes every step to a tamper-evident log.</a:t>
            </a:r>
            <a:endParaRPr lang="en-US" sz="1500" dirty="0"/>
          </a:p>
        </p:txBody>
      </p:sp>
      <p:sp>
        <p:nvSpPr>
          <p:cNvPr id="5" name="Shape 3"/>
          <p:cNvSpPr/>
          <p:nvPr/>
        </p:nvSpPr>
        <p:spPr>
          <a:xfrm>
            <a:off x="548640" y="2825496"/>
            <a:ext cx="3529584" cy="2971800"/>
          </a:xfrm>
          <a:prstGeom prst="roundRect">
            <a:avLst>
              <a:gd name="adj" fmla="val 1231"/>
            </a:avLst>
          </a:prstGeom>
          <a:solidFill>
            <a:srgbClr val="16213A"/>
          </a:solidFill>
          <a:ln w="12700">
            <a:solidFill>
              <a:srgbClr val="1E2A47"/>
            </a:solidFill>
            <a:prstDash val="solid"/>
          </a:ln>
        </p:spPr>
      </p:sp>
      <p:sp>
        <p:nvSpPr>
          <p:cNvPr id="6" name="Text 4"/>
          <p:cNvSpPr txBox="1"/>
          <p:nvPr/>
        </p:nvSpPr>
        <p:spPr>
          <a:xfrm>
            <a:off x="822960" y="3054096"/>
            <a:ext cx="3017520" cy="457200"/>
          </a:xfrm>
          <a:prstGeom prst="rect">
            <a:avLst/>
          </a:prstGeom>
          <a:noFill/>
          <a:ln/>
        </p:spPr>
        <p:txBody>
          <a:bodyPr wrap="square" lIns="0" tIns="0" rIns="0" bIns="0" rtlCol="0" anchor="ctr"/>
          <a:lstStyle/>
          <a:p>
            <a:pPr indent="0" marL="0">
              <a:buNone/>
            </a:pPr>
            <a:r>
              <a:rPr lang="en-US" sz="1400" b="1" dirty="0">
                <a:solidFill>
                  <a:srgbClr val="34D399"/>
                </a:solidFill>
                <a:latin typeface="Arial" pitchFamily="34" charset="0"/>
                <a:ea typeface="Arial" pitchFamily="34" charset="-122"/>
                <a:cs typeface="Arial" pitchFamily="34" charset="-120"/>
              </a:rPr>
              <a:t>MVP — shipped at this hackathon</a:t>
            </a:r>
            <a:endParaRPr lang="en-US" sz="1400" dirty="0"/>
          </a:p>
        </p:txBody>
      </p:sp>
      <p:sp>
        <p:nvSpPr>
          <p:cNvPr id="7" name="Text 5"/>
          <p:cNvSpPr txBox="1"/>
          <p:nvPr/>
        </p:nvSpPr>
        <p:spPr>
          <a:xfrm>
            <a:off x="822960" y="3557016"/>
            <a:ext cx="3017520" cy="2103120"/>
          </a:xfrm>
          <a:prstGeom prst="rect">
            <a:avLst/>
          </a:prstGeom>
          <a:noFill/>
          <a:ln/>
        </p:spPr>
        <p:txBody>
          <a:bodyPr wrap="square" lIns="0" tIns="0" rIns="0" bIns="0" rtlCol="0" anchor="ctr"/>
          <a:lstStyle/>
          <a:p>
            <a:pPr marL="342900" indent="-342900">
              <a:lnSpc>
                <a:spcPts val="1700"/>
              </a:lnSpc>
              <a:spcAft>
                <a:spcPts val="700"/>
              </a:spcAft>
              <a:buSzPct val="100000"/>
              <a:buChar char="•"/>
            </a:pPr>
            <a:r>
              <a:rPr lang="en-US" sz="1200" dirty="0">
                <a:solidFill>
                  <a:srgbClr val="94A8C4"/>
                </a:solidFill>
                <a:latin typeface="Calibri" pitchFamily="34" charset="0"/>
                <a:ea typeface="Calibri" pitchFamily="34" charset="-122"/>
                <a:cs typeface="Calibri" pitchFamily="34" charset="-120"/>
              </a:rPr>
              <a:t>Detection, investigation, proposal, approval, execution, verification, rollback</a:t>
            </a:r>
            <a:endParaRPr lang="en-US" sz="1200" dirty="0"/>
          </a:p>
          <a:p>
            <a:pPr marL="342900" indent="-342900">
              <a:lnSpc>
                <a:spcPts val="1700"/>
              </a:lnSpc>
              <a:spcAft>
                <a:spcPts val="700"/>
              </a:spcAft>
              <a:buSzPct val="100000"/>
              <a:buChar char="•"/>
            </a:pPr>
            <a:r>
              <a:rPr lang="en-US" sz="1200" dirty="0">
                <a:solidFill>
                  <a:srgbClr val="94A8C4"/>
                </a:solidFill>
                <a:latin typeface="Calibri" pitchFamily="34" charset="0"/>
                <a:ea typeface="Calibri" pitchFamily="34" charset="-122"/>
                <a:cs typeface="Calibri" pitchFamily="34" charset="-120"/>
              </a:rPr>
              <a:t>Freshservice tickets, changes and approvals read back</a:t>
            </a:r>
            <a:endParaRPr lang="en-US" sz="1200" dirty="0"/>
          </a:p>
          <a:p>
            <a:pPr marL="342900" indent="-342900">
              <a:lnSpc>
                <a:spcPts val="1700"/>
              </a:lnSpc>
              <a:spcAft>
                <a:spcPts val="700"/>
              </a:spcAft>
              <a:buSzPct val="100000"/>
              <a:buChar char="•"/>
            </a:pPr>
            <a:r>
              <a:rPr lang="en-US" sz="1200" dirty="0">
                <a:solidFill>
                  <a:srgbClr val="94A8C4"/>
                </a:solidFill>
                <a:latin typeface="Calibri" pitchFamily="34" charset="0"/>
                <a:ea typeface="Calibri" pitchFamily="34" charset="-122"/>
                <a:cs typeface="Calibri" pitchFamily="34" charset="-120"/>
              </a:rPr>
              <a:t>Tamper-evident audit with on-screen verification</a:t>
            </a:r>
            <a:endParaRPr lang="en-US" sz="1200" dirty="0"/>
          </a:p>
          <a:p>
            <a:pPr marL="342900" indent="-342900">
              <a:lnSpc>
                <a:spcPts val="1700"/>
              </a:lnSpc>
              <a:spcAft>
                <a:spcPts val="700"/>
              </a:spcAft>
              <a:buSzPct val="100000"/>
              <a:buChar char="•"/>
            </a:pPr>
            <a:r>
              <a:rPr lang="en-US" sz="1200" dirty="0">
                <a:solidFill>
                  <a:srgbClr val="94A8C4"/>
                </a:solidFill>
                <a:latin typeface="Calibri" pitchFamily="34" charset="0"/>
                <a:ea typeface="Calibri" pitchFamily="34" charset="-122"/>
                <a:cs typeface="Calibri" pitchFamily="34" charset="-120"/>
              </a:rPr>
              <a:t>Blast-radius map and on-call voice escalation</a:t>
            </a:r>
            <a:endParaRPr lang="en-US" sz="1200" dirty="0"/>
          </a:p>
        </p:txBody>
      </p:sp>
      <p:sp>
        <p:nvSpPr>
          <p:cNvPr id="8" name="Shape 6"/>
          <p:cNvSpPr/>
          <p:nvPr/>
        </p:nvSpPr>
        <p:spPr>
          <a:xfrm>
            <a:off x="4261104" y="2825496"/>
            <a:ext cx="3529584" cy="2971800"/>
          </a:xfrm>
          <a:prstGeom prst="roundRect">
            <a:avLst>
              <a:gd name="adj" fmla="val 1231"/>
            </a:avLst>
          </a:prstGeom>
          <a:solidFill>
            <a:srgbClr val="16213A"/>
          </a:solidFill>
          <a:ln w="12700">
            <a:solidFill>
              <a:srgbClr val="1E2A47"/>
            </a:solidFill>
            <a:prstDash val="solid"/>
          </a:ln>
        </p:spPr>
      </p:sp>
      <p:sp>
        <p:nvSpPr>
          <p:cNvPr id="9" name="Text 7"/>
          <p:cNvSpPr txBox="1"/>
          <p:nvPr/>
        </p:nvSpPr>
        <p:spPr>
          <a:xfrm>
            <a:off x="4535424" y="3054096"/>
            <a:ext cx="3017520" cy="457200"/>
          </a:xfrm>
          <a:prstGeom prst="rect">
            <a:avLst/>
          </a:prstGeom>
          <a:noFill/>
          <a:ln/>
        </p:spPr>
        <p:txBody>
          <a:bodyPr wrap="square" lIns="0" tIns="0" rIns="0" bIns="0" rtlCol="0" anchor="ctr"/>
          <a:lstStyle/>
          <a:p>
            <a:pPr indent="0" marL="0">
              <a:buNone/>
            </a:pPr>
            <a:r>
              <a:rPr lang="en-US" sz="1400" b="1" dirty="0">
                <a:solidFill>
                  <a:srgbClr val="22D3EE"/>
                </a:solidFill>
                <a:latin typeface="Arial" pitchFamily="34" charset="0"/>
                <a:ea typeface="Arial" pitchFamily="34" charset="-122"/>
                <a:cs typeface="Arial" pitchFamily="34" charset="-120"/>
              </a:rPr>
              <a:t>Phase 2 — next</a:t>
            </a:r>
            <a:endParaRPr lang="en-US" sz="1400" dirty="0"/>
          </a:p>
        </p:txBody>
      </p:sp>
      <p:sp>
        <p:nvSpPr>
          <p:cNvPr id="10" name="Text 8"/>
          <p:cNvSpPr txBox="1"/>
          <p:nvPr/>
        </p:nvSpPr>
        <p:spPr>
          <a:xfrm>
            <a:off x="4535424" y="3557016"/>
            <a:ext cx="3017520" cy="2103120"/>
          </a:xfrm>
          <a:prstGeom prst="rect">
            <a:avLst/>
          </a:prstGeom>
          <a:noFill/>
          <a:ln/>
        </p:spPr>
        <p:txBody>
          <a:bodyPr wrap="square" lIns="0" tIns="0" rIns="0" bIns="0" rtlCol="0" anchor="ctr"/>
          <a:lstStyle/>
          <a:p>
            <a:pPr marL="342900" indent="-342900">
              <a:lnSpc>
                <a:spcPts val="1700"/>
              </a:lnSpc>
              <a:spcAft>
                <a:spcPts val="700"/>
              </a:spcAft>
              <a:buSzPct val="100000"/>
              <a:buChar char="•"/>
            </a:pPr>
            <a:r>
              <a:rPr lang="en-US" sz="1200" dirty="0">
                <a:solidFill>
                  <a:srgbClr val="94A8C4"/>
                </a:solidFill>
                <a:latin typeface="Calibri" pitchFamily="34" charset="0"/>
                <a:ea typeface="Calibri" pitchFamily="34" charset="-122"/>
                <a:cs typeface="Calibri" pitchFamily="34" charset="-120"/>
              </a:rPr>
              <a:t>More actions in the catalog, each with its own risk class and rollback</a:t>
            </a:r>
            <a:endParaRPr lang="en-US" sz="1200" dirty="0"/>
          </a:p>
          <a:p>
            <a:pPr marL="342900" indent="-342900">
              <a:lnSpc>
                <a:spcPts val="1700"/>
              </a:lnSpc>
              <a:spcAft>
                <a:spcPts val="700"/>
              </a:spcAft>
              <a:buSzPct val="100000"/>
              <a:buChar char="•"/>
            </a:pPr>
            <a:r>
              <a:rPr lang="en-US" sz="1200" dirty="0">
                <a:solidFill>
                  <a:srgbClr val="94A8C4"/>
                </a:solidFill>
                <a:latin typeface="Calibri" pitchFamily="34" charset="0"/>
                <a:ea typeface="Calibri" pitchFamily="34" charset="-122"/>
                <a:cs typeface="Calibri" pitchFamily="34" charset="-120"/>
              </a:rPr>
              <a:t>Alert grouping so 200 services don’t mean 200 incidents</a:t>
            </a:r>
            <a:endParaRPr lang="en-US" sz="1200" dirty="0"/>
          </a:p>
          <a:p>
            <a:pPr marL="342900" indent="-342900">
              <a:lnSpc>
                <a:spcPts val="1700"/>
              </a:lnSpc>
              <a:spcAft>
                <a:spcPts val="700"/>
              </a:spcAft>
              <a:buSzPct val="100000"/>
              <a:buChar char="•"/>
            </a:pPr>
            <a:r>
              <a:rPr lang="en-US" sz="1200" dirty="0">
                <a:solidFill>
                  <a:srgbClr val="94A8C4"/>
                </a:solidFill>
                <a:latin typeface="Calibri" pitchFamily="34" charset="0"/>
                <a:ea typeface="Calibri" pitchFamily="34" charset="-122"/>
                <a:cs typeface="Calibri" pitchFamily="34" charset="-120"/>
              </a:rPr>
              <a:t>Read-only trial mode: diagnose for weeks before it may act</a:t>
            </a:r>
            <a:endParaRPr lang="en-US" sz="1200" dirty="0"/>
          </a:p>
        </p:txBody>
      </p:sp>
      <p:sp>
        <p:nvSpPr>
          <p:cNvPr id="11" name="Shape 9"/>
          <p:cNvSpPr/>
          <p:nvPr/>
        </p:nvSpPr>
        <p:spPr>
          <a:xfrm>
            <a:off x="7973568" y="2825496"/>
            <a:ext cx="3529584" cy="2971800"/>
          </a:xfrm>
          <a:prstGeom prst="roundRect">
            <a:avLst>
              <a:gd name="adj" fmla="val 1231"/>
            </a:avLst>
          </a:prstGeom>
          <a:solidFill>
            <a:srgbClr val="16213A"/>
          </a:solidFill>
          <a:ln w="12700">
            <a:solidFill>
              <a:srgbClr val="1E2A47"/>
            </a:solidFill>
            <a:prstDash val="solid"/>
          </a:ln>
        </p:spPr>
      </p:sp>
      <p:sp>
        <p:nvSpPr>
          <p:cNvPr id="12" name="Text 10"/>
          <p:cNvSpPr txBox="1"/>
          <p:nvPr/>
        </p:nvSpPr>
        <p:spPr>
          <a:xfrm>
            <a:off x="8247888" y="3054096"/>
            <a:ext cx="3017520" cy="457200"/>
          </a:xfrm>
          <a:prstGeom prst="rect">
            <a:avLst/>
          </a:prstGeom>
          <a:noFill/>
          <a:ln/>
        </p:spPr>
        <p:txBody>
          <a:bodyPr wrap="square" lIns="0" tIns="0" rIns="0" bIns="0" rtlCol="0" anchor="ctr"/>
          <a:lstStyle/>
          <a:p>
            <a:pPr indent="0" marL="0">
              <a:buNone/>
            </a:pPr>
            <a:r>
              <a:rPr lang="en-US" sz="1400" b="1" dirty="0">
                <a:solidFill>
                  <a:srgbClr val="94A8C4"/>
                </a:solidFill>
                <a:latin typeface="Arial" pitchFamily="34" charset="0"/>
                <a:ea typeface="Arial" pitchFamily="34" charset="-122"/>
                <a:cs typeface="Arial" pitchFamily="34" charset="-120"/>
              </a:rPr>
              <a:t>Phase 3 — later</a:t>
            </a:r>
            <a:endParaRPr lang="en-US" sz="1400" dirty="0"/>
          </a:p>
        </p:txBody>
      </p:sp>
      <p:sp>
        <p:nvSpPr>
          <p:cNvPr id="13" name="Text 11"/>
          <p:cNvSpPr txBox="1"/>
          <p:nvPr/>
        </p:nvSpPr>
        <p:spPr>
          <a:xfrm>
            <a:off x="8247888" y="3557016"/>
            <a:ext cx="3017520" cy="2103120"/>
          </a:xfrm>
          <a:prstGeom prst="rect">
            <a:avLst/>
          </a:prstGeom>
          <a:noFill/>
          <a:ln/>
        </p:spPr>
        <p:txBody>
          <a:bodyPr wrap="square" lIns="0" tIns="0" rIns="0" bIns="0" rtlCol="0" anchor="ctr"/>
          <a:lstStyle/>
          <a:p>
            <a:pPr marL="342900" indent="-342900">
              <a:lnSpc>
                <a:spcPts val="1700"/>
              </a:lnSpc>
              <a:spcAft>
                <a:spcPts val="700"/>
              </a:spcAft>
              <a:buSzPct val="100000"/>
              <a:buChar char="•"/>
            </a:pPr>
            <a:r>
              <a:rPr lang="en-US" sz="1200" dirty="0">
                <a:solidFill>
                  <a:srgbClr val="94A8C4"/>
                </a:solidFill>
                <a:latin typeface="Calibri" pitchFamily="34" charset="0"/>
                <a:ea typeface="Calibri" pitchFamily="34" charset="-122"/>
                <a:cs typeface="Calibri" pitchFamily="34" charset="-120"/>
              </a:rPr>
              <a:t>Multi-cluster and multi-tenant</a:t>
            </a:r>
            <a:endParaRPr lang="en-US" sz="1200" dirty="0"/>
          </a:p>
          <a:p>
            <a:pPr marL="342900" indent="-342900">
              <a:lnSpc>
                <a:spcPts val="1700"/>
              </a:lnSpc>
              <a:spcAft>
                <a:spcPts val="700"/>
              </a:spcAft>
              <a:buSzPct val="100000"/>
              <a:buChar char="•"/>
            </a:pPr>
            <a:r>
              <a:rPr lang="en-US" sz="1200" dirty="0">
                <a:solidFill>
                  <a:srgbClr val="94A8C4"/>
                </a:solidFill>
                <a:latin typeface="Calibri" pitchFamily="34" charset="0"/>
                <a:ea typeface="Calibri" pitchFamily="34" charset="-122"/>
                <a:cs typeface="Calibri" pitchFamily="34" charset="-120"/>
              </a:rPr>
              <a:t>Learning from approvals and rejections</a:t>
            </a:r>
            <a:endParaRPr lang="en-US" sz="1200" dirty="0"/>
          </a:p>
          <a:p>
            <a:pPr marL="342900" indent="-342900">
              <a:lnSpc>
                <a:spcPts val="1700"/>
              </a:lnSpc>
              <a:spcAft>
                <a:spcPts val="700"/>
              </a:spcAft>
              <a:buSzPct val="100000"/>
              <a:buChar char="•"/>
            </a:pPr>
            <a:r>
              <a:rPr lang="en-US" sz="1200" dirty="0">
                <a:solidFill>
                  <a:srgbClr val="94A8C4"/>
                </a:solidFill>
                <a:latin typeface="Calibri" pitchFamily="34" charset="0"/>
                <a:ea typeface="Calibri" pitchFamily="34" charset="-122"/>
                <a:cs typeface="Calibri" pitchFamily="34" charset="-120"/>
              </a:rPr>
              <a:t>Freshservice Marketplace app, installable in minutes</a:t>
            </a:r>
            <a:endParaRPr lang="en-US" sz="1200" dirty="0"/>
          </a:p>
        </p:txBody>
      </p:sp>
      <p:sp>
        <p:nvSpPr>
          <p:cNvPr id="14" name="Text 12"/>
          <p:cNvSpPr txBox="1"/>
          <p:nvPr/>
        </p:nvSpPr>
        <p:spPr>
          <a:xfrm>
            <a:off x="548640" y="6400800"/>
            <a:ext cx="3657600" cy="256032"/>
          </a:xfrm>
          <a:prstGeom prst="rect">
            <a:avLst/>
          </a:prstGeom>
          <a:noFill/>
          <a:ln/>
        </p:spPr>
        <p:txBody>
          <a:bodyPr wrap="square" lIns="0" tIns="0" rIns="0" bIns="0" rtlCol="0" anchor="ctr"/>
          <a:lstStyle/>
          <a:p>
            <a:pPr indent="0" marL="0">
              <a:buNone/>
            </a:pPr>
            <a:r>
              <a:rPr lang="en-US" sz="1000" dirty="0">
                <a:solidFill>
                  <a:srgbClr val="5A6E8C"/>
                </a:solidFill>
                <a:latin typeface="Calibri" pitchFamily="34" charset="0"/>
                <a:ea typeface="Calibri" pitchFamily="34" charset="-122"/>
                <a:cs typeface="Calibri" pitchFamily="34" charset="-120"/>
              </a:rPr>
              <a:t>SentinelOps AI</a:t>
            </a:r>
            <a:endParaRPr lang="en-US" sz="1000" dirty="0"/>
          </a:p>
        </p:txBody>
      </p:sp>
      <p:sp>
        <p:nvSpPr>
          <p:cNvPr id="15" name="Text 13"/>
          <p:cNvSpPr txBox="1"/>
          <p:nvPr/>
        </p:nvSpPr>
        <p:spPr>
          <a:xfrm>
            <a:off x="10725912" y="6400800"/>
            <a:ext cx="914400" cy="256032"/>
          </a:xfrm>
          <a:prstGeom prst="rect">
            <a:avLst/>
          </a:prstGeom>
          <a:noFill/>
          <a:ln/>
        </p:spPr>
        <p:txBody>
          <a:bodyPr wrap="square" lIns="0" tIns="0" rIns="0" bIns="0" rtlCol="0" anchor="ctr"/>
          <a:lstStyle/>
          <a:p>
            <a:pPr algn="r" indent="0" marL="0">
              <a:buNone/>
            </a:pPr>
            <a:r>
              <a:rPr lang="en-US" sz="1000" dirty="0">
                <a:solidFill>
                  <a:srgbClr val="5A6E8C"/>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411480"/>
            <a:ext cx="10058400" cy="256032"/>
          </a:xfrm>
          <a:prstGeom prst="rect">
            <a:avLst/>
          </a:prstGeom>
          <a:noFill/>
          <a:ln/>
        </p:spPr>
        <p:txBody>
          <a:bodyPr wrap="square" lIns="0" tIns="0" rIns="0" bIns="0" rtlCol="0" anchor="ctr"/>
          <a:lstStyle/>
          <a:p>
            <a:pPr indent="0" marL="0">
              <a:buNone/>
            </a:pPr>
            <a:r>
              <a:rPr lang="en-US" sz="1200" b="1" spc="200" kern="0" dirty="0">
                <a:solidFill>
                  <a:srgbClr val="22D3EE"/>
                </a:solidFill>
                <a:latin typeface="Calibri" pitchFamily="34" charset="0"/>
                <a:ea typeface="Calibri" pitchFamily="34" charset="-122"/>
                <a:cs typeface="Calibri" pitchFamily="34" charset="-120"/>
              </a:rPr>
              <a:t>OUR CORE LOOP</a:t>
            </a:r>
            <a:endParaRPr lang="en-US" sz="1200" dirty="0"/>
          </a:p>
        </p:txBody>
      </p:sp>
      <p:sp>
        <p:nvSpPr>
          <p:cNvPr id="3" name="Text 1"/>
          <p:cNvSpPr txBox="1"/>
          <p:nvPr/>
        </p:nvSpPr>
        <p:spPr>
          <a:xfrm>
            <a:off x="548640" y="722376"/>
            <a:ext cx="11064240" cy="475488"/>
          </a:xfrm>
          <a:prstGeom prst="rect">
            <a:avLst/>
          </a:prstGeom>
          <a:noFill/>
          <a:ln/>
        </p:spPr>
        <p:txBody>
          <a:bodyPr wrap="square" lIns="0" tIns="0" rIns="0" bIns="0" rtlCol="0" anchor="ctr"/>
          <a:lstStyle/>
          <a:p>
            <a:pPr indent="0" marL="0">
              <a:buNone/>
            </a:pPr>
            <a:r>
              <a:rPr lang="en-US" sz="3000" b="1" dirty="0">
                <a:solidFill>
                  <a:srgbClr val="E9EFFA"/>
                </a:solidFill>
                <a:latin typeface="Arial" pitchFamily="34" charset="0"/>
                <a:ea typeface="Arial" pitchFamily="34" charset="-122"/>
                <a:cs typeface="Arial" pitchFamily="34" charset="-120"/>
              </a:rPr>
              <a:t>One loop, start to finish</a:t>
            </a:r>
            <a:endParaRPr lang="en-US" sz="3000" dirty="0"/>
          </a:p>
        </p:txBody>
      </p:sp>
      <p:sp>
        <p:nvSpPr>
          <p:cNvPr id="4" name="Shape 2"/>
          <p:cNvSpPr/>
          <p:nvPr/>
        </p:nvSpPr>
        <p:spPr>
          <a:xfrm>
            <a:off x="548640" y="1591056"/>
            <a:ext cx="1755648" cy="2377440"/>
          </a:xfrm>
          <a:prstGeom prst="roundRect">
            <a:avLst>
              <a:gd name="adj" fmla="val 2083"/>
            </a:avLst>
          </a:prstGeom>
          <a:solidFill>
            <a:srgbClr val="16213A"/>
          </a:solidFill>
          <a:ln w="12700">
            <a:solidFill>
              <a:srgbClr val="1E2A47"/>
            </a:solidFill>
            <a:prstDash val="solid"/>
          </a:ln>
        </p:spPr>
      </p:sp>
      <p:sp>
        <p:nvSpPr>
          <p:cNvPr id="5" name="Shape 3"/>
          <p:cNvSpPr/>
          <p:nvPr/>
        </p:nvSpPr>
        <p:spPr>
          <a:xfrm>
            <a:off x="749808" y="1792224"/>
            <a:ext cx="347472" cy="347472"/>
          </a:xfrm>
          <a:prstGeom prst="roundRect">
            <a:avLst>
              <a:gd name="adj" fmla="val 26316"/>
            </a:avLst>
          </a:prstGeom>
          <a:solidFill>
            <a:srgbClr val="1E2A47"/>
          </a:solidFill>
          <a:ln w="12700">
            <a:solidFill>
              <a:srgbClr val="22D3EE"/>
            </a:solidFill>
            <a:prstDash val="solid"/>
          </a:ln>
        </p:spPr>
      </p:sp>
      <p:sp>
        <p:nvSpPr>
          <p:cNvPr id="6" name="Text 4"/>
          <p:cNvSpPr txBox="1"/>
          <p:nvPr/>
        </p:nvSpPr>
        <p:spPr>
          <a:xfrm>
            <a:off x="749808" y="1792224"/>
            <a:ext cx="347472" cy="347472"/>
          </a:xfrm>
          <a:prstGeom prst="rect">
            <a:avLst/>
          </a:prstGeom>
          <a:noFill/>
          <a:ln/>
        </p:spPr>
        <p:txBody>
          <a:bodyPr wrap="square" lIns="0" tIns="0" rIns="0" bIns="0" rtlCol="0" anchor="ctr"/>
          <a:lstStyle/>
          <a:p>
            <a:pPr algn="ctr" indent="0" marL="0">
              <a:buNone/>
            </a:pPr>
            <a:r>
              <a:rPr lang="en-US" sz="1100" b="1" dirty="0">
                <a:solidFill>
                  <a:srgbClr val="22D3EE"/>
                </a:solidFill>
                <a:latin typeface="Arial" pitchFamily="34" charset="0"/>
                <a:ea typeface="Arial" pitchFamily="34" charset="-122"/>
                <a:cs typeface="Arial" pitchFamily="34" charset="-120"/>
              </a:rPr>
              <a:t>1</a:t>
            </a:r>
            <a:endParaRPr lang="en-US" sz="1100" dirty="0"/>
          </a:p>
        </p:txBody>
      </p:sp>
      <p:sp>
        <p:nvSpPr>
          <p:cNvPr id="7" name="Text 5"/>
          <p:cNvSpPr txBox="1"/>
          <p:nvPr/>
        </p:nvSpPr>
        <p:spPr>
          <a:xfrm>
            <a:off x="749808" y="2249424"/>
            <a:ext cx="1353312" cy="292608"/>
          </a:xfrm>
          <a:prstGeom prst="rect">
            <a:avLst/>
          </a:prstGeom>
          <a:noFill/>
          <a:ln/>
        </p:spPr>
        <p:txBody>
          <a:bodyPr wrap="square" lIns="0" tIns="0" rIns="0" bIns="0" rtlCol="0" anchor="ctr"/>
          <a:lstStyle/>
          <a:p>
            <a:pPr indent="0" marL="0">
              <a:buNone/>
            </a:pPr>
            <a:r>
              <a:rPr lang="en-US" sz="1400" b="1" dirty="0">
                <a:solidFill>
                  <a:srgbClr val="E9EFFA"/>
                </a:solidFill>
                <a:latin typeface="Arial" pitchFamily="34" charset="0"/>
                <a:ea typeface="Arial" pitchFamily="34" charset="-122"/>
                <a:cs typeface="Arial" pitchFamily="34" charset="-120"/>
              </a:rPr>
              <a:t>Detect</a:t>
            </a:r>
            <a:endParaRPr lang="en-US" sz="1400" dirty="0"/>
          </a:p>
        </p:txBody>
      </p:sp>
      <p:sp>
        <p:nvSpPr>
          <p:cNvPr id="8" name="Text 6"/>
          <p:cNvSpPr txBox="1"/>
          <p:nvPr/>
        </p:nvSpPr>
        <p:spPr>
          <a:xfrm>
            <a:off x="749808" y="2578608"/>
            <a:ext cx="1353312" cy="777240"/>
          </a:xfrm>
          <a:prstGeom prst="rect">
            <a:avLst/>
          </a:prstGeom>
          <a:noFill/>
          <a:ln/>
        </p:spPr>
        <p:txBody>
          <a:bodyPr wrap="square" lIns="0" tIns="0" rIns="0" bIns="0" rtlCol="0" anchor="ctr"/>
          <a:lstStyle/>
          <a:p>
            <a:pPr indent="0" marL="0">
              <a:lnSpc>
                <a:spcPts val="1400"/>
              </a:lnSpc>
              <a:buNone/>
            </a:pPr>
            <a:r>
              <a:rPr lang="en-US" sz="1100" dirty="0">
                <a:solidFill>
                  <a:srgbClr val="94A8C4"/>
                </a:solidFill>
                <a:latin typeface="Calibri" pitchFamily="34" charset="0"/>
                <a:ea typeface="Calibri" pitchFamily="34" charset="-122"/>
                <a:cs typeface="Calibri" pitchFamily="34" charset="-120"/>
              </a:rPr>
              <a:t>Error ratio above 5%</a:t>
            </a:r>
            <a:endParaRPr lang="en-US" sz="1100" dirty="0"/>
          </a:p>
          <a:p>
            <a:pPr indent="0" marL="0">
              <a:lnSpc>
                <a:spcPts val="1400"/>
              </a:lnSpc>
              <a:buNone/>
            </a:pPr>
            <a:r>
              <a:rPr lang="en-US" sz="1100" dirty="0">
                <a:solidFill>
                  <a:srgbClr val="94A8C4"/>
                </a:solidFill>
                <a:latin typeface="Calibri" pitchFamily="34" charset="0"/>
                <a:ea typeface="Calibri" pitchFamily="34" charset="-122"/>
                <a:cs typeface="Calibri" pitchFamily="34" charset="-120"/>
              </a:rPr>
              <a:t>on two checks, 15s apart</a:t>
            </a:r>
            <a:endParaRPr lang="en-US" sz="1100" dirty="0"/>
          </a:p>
        </p:txBody>
      </p:sp>
      <p:sp>
        <p:nvSpPr>
          <p:cNvPr id="9" name="Text 7"/>
          <p:cNvSpPr txBox="1"/>
          <p:nvPr/>
        </p:nvSpPr>
        <p:spPr>
          <a:xfrm>
            <a:off x="749808" y="3465576"/>
            <a:ext cx="1353312" cy="274320"/>
          </a:xfrm>
          <a:prstGeom prst="rect">
            <a:avLst/>
          </a:prstGeom>
          <a:noFill/>
          <a:ln/>
        </p:spPr>
        <p:txBody>
          <a:bodyPr wrap="square" lIns="0" tIns="0" rIns="0" bIns="0" rtlCol="0" anchor="ctr"/>
          <a:lstStyle/>
          <a:p>
            <a:pPr indent="0" marL="0">
              <a:buNone/>
            </a:pPr>
            <a:r>
              <a:rPr lang="en-US" sz="1100" b="1" dirty="0">
                <a:solidFill>
                  <a:srgbClr val="22D3EE"/>
                </a:solidFill>
                <a:latin typeface="Calibri" pitchFamily="34" charset="0"/>
                <a:ea typeface="Calibri" pitchFamily="34" charset="-122"/>
                <a:cs typeface="Calibri" pitchFamily="34" charset="-120"/>
              </a:rPr>
              <a:t>~35s</a:t>
            </a:r>
            <a:endParaRPr lang="en-US" sz="1100" dirty="0"/>
          </a:p>
        </p:txBody>
      </p:sp>
      <p:sp>
        <p:nvSpPr>
          <p:cNvPr id="10" name="Text 8"/>
          <p:cNvSpPr txBox="1"/>
          <p:nvPr/>
        </p:nvSpPr>
        <p:spPr>
          <a:xfrm>
            <a:off x="2286000" y="2505456"/>
            <a:ext cx="146304" cy="274320"/>
          </a:xfrm>
          <a:prstGeom prst="rect">
            <a:avLst/>
          </a:prstGeom>
          <a:noFill/>
          <a:ln/>
        </p:spPr>
        <p:txBody>
          <a:bodyPr wrap="square" lIns="0" tIns="0" rIns="0" bIns="0" rtlCol="0" anchor="ctr"/>
          <a:lstStyle/>
          <a:p>
            <a:pPr algn="ctr" indent="0" marL="0">
              <a:buNone/>
            </a:pPr>
            <a:r>
              <a:rPr lang="en-US" sz="1600" b="1" dirty="0">
                <a:solidFill>
                  <a:srgbClr val="3D5478"/>
                </a:solidFill>
                <a:latin typeface="Arial" pitchFamily="34" charset="0"/>
                <a:ea typeface="Arial" pitchFamily="34" charset="-122"/>
                <a:cs typeface="Arial" pitchFamily="34" charset="-120"/>
              </a:rPr>
              <a:t>›</a:t>
            </a:r>
            <a:endParaRPr lang="en-US" sz="1600" dirty="0"/>
          </a:p>
        </p:txBody>
      </p:sp>
      <p:sp>
        <p:nvSpPr>
          <p:cNvPr id="11" name="Shape 9"/>
          <p:cNvSpPr/>
          <p:nvPr/>
        </p:nvSpPr>
        <p:spPr>
          <a:xfrm>
            <a:off x="2414016" y="1591056"/>
            <a:ext cx="1755648" cy="2377440"/>
          </a:xfrm>
          <a:prstGeom prst="roundRect">
            <a:avLst>
              <a:gd name="adj" fmla="val 2083"/>
            </a:avLst>
          </a:prstGeom>
          <a:solidFill>
            <a:srgbClr val="16213A"/>
          </a:solidFill>
          <a:ln w="12700">
            <a:solidFill>
              <a:srgbClr val="1E2A47"/>
            </a:solidFill>
            <a:prstDash val="solid"/>
          </a:ln>
        </p:spPr>
      </p:sp>
      <p:sp>
        <p:nvSpPr>
          <p:cNvPr id="12" name="Shape 10"/>
          <p:cNvSpPr/>
          <p:nvPr/>
        </p:nvSpPr>
        <p:spPr>
          <a:xfrm>
            <a:off x="2615184" y="1792224"/>
            <a:ext cx="347472" cy="347472"/>
          </a:xfrm>
          <a:prstGeom prst="roundRect">
            <a:avLst>
              <a:gd name="adj" fmla="val 26316"/>
            </a:avLst>
          </a:prstGeom>
          <a:solidFill>
            <a:srgbClr val="1E2A47"/>
          </a:solidFill>
          <a:ln w="12700">
            <a:solidFill>
              <a:srgbClr val="22D3EE"/>
            </a:solidFill>
            <a:prstDash val="solid"/>
          </a:ln>
        </p:spPr>
      </p:sp>
      <p:sp>
        <p:nvSpPr>
          <p:cNvPr id="13" name="Text 11"/>
          <p:cNvSpPr txBox="1"/>
          <p:nvPr/>
        </p:nvSpPr>
        <p:spPr>
          <a:xfrm>
            <a:off x="2615184" y="1792224"/>
            <a:ext cx="347472" cy="347472"/>
          </a:xfrm>
          <a:prstGeom prst="rect">
            <a:avLst/>
          </a:prstGeom>
          <a:noFill/>
          <a:ln/>
        </p:spPr>
        <p:txBody>
          <a:bodyPr wrap="square" lIns="0" tIns="0" rIns="0" bIns="0" rtlCol="0" anchor="ctr"/>
          <a:lstStyle/>
          <a:p>
            <a:pPr algn="ctr" indent="0" marL="0">
              <a:buNone/>
            </a:pPr>
            <a:r>
              <a:rPr lang="en-US" sz="1100" b="1" dirty="0">
                <a:solidFill>
                  <a:srgbClr val="22D3EE"/>
                </a:solidFill>
                <a:latin typeface="Arial" pitchFamily="34" charset="0"/>
                <a:ea typeface="Arial" pitchFamily="34" charset="-122"/>
                <a:cs typeface="Arial" pitchFamily="34" charset="-120"/>
              </a:rPr>
              <a:t>2</a:t>
            </a:r>
            <a:endParaRPr lang="en-US" sz="1100" dirty="0"/>
          </a:p>
        </p:txBody>
      </p:sp>
      <p:sp>
        <p:nvSpPr>
          <p:cNvPr id="14" name="Text 12"/>
          <p:cNvSpPr txBox="1"/>
          <p:nvPr/>
        </p:nvSpPr>
        <p:spPr>
          <a:xfrm>
            <a:off x="2615184" y="2249424"/>
            <a:ext cx="1353312" cy="292608"/>
          </a:xfrm>
          <a:prstGeom prst="rect">
            <a:avLst/>
          </a:prstGeom>
          <a:noFill/>
          <a:ln/>
        </p:spPr>
        <p:txBody>
          <a:bodyPr wrap="square" lIns="0" tIns="0" rIns="0" bIns="0" rtlCol="0" anchor="ctr"/>
          <a:lstStyle/>
          <a:p>
            <a:pPr indent="0" marL="0">
              <a:buNone/>
            </a:pPr>
            <a:r>
              <a:rPr lang="en-US" sz="1400" b="1" dirty="0">
                <a:solidFill>
                  <a:srgbClr val="E9EFFA"/>
                </a:solidFill>
                <a:latin typeface="Arial" pitchFamily="34" charset="0"/>
                <a:ea typeface="Arial" pitchFamily="34" charset="-122"/>
                <a:cs typeface="Arial" pitchFamily="34" charset="-120"/>
              </a:rPr>
              <a:t>Investigate</a:t>
            </a:r>
            <a:endParaRPr lang="en-US" sz="1400" dirty="0"/>
          </a:p>
        </p:txBody>
      </p:sp>
      <p:sp>
        <p:nvSpPr>
          <p:cNvPr id="15" name="Text 13"/>
          <p:cNvSpPr txBox="1"/>
          <p:nvPr/>
        </p:nvSpPr>
        <p:spPr>
          <a:xfrm>
            <a:off x="2615184" y="2578608"/>
            <a:ext cx="1353312" cy="777240"/>
          </a:xfrm>
          <a:prstGeom prst="rect">
            <a:avLst/>
          </a:prstGeom>
          <a:noFill/>
          <a:ln/>
        </p:spPr>
        <p:txBody>
          <a:bodyPr wrap="square" lIns="0" tIns="0" rIns="0" bIns="0" rtlCol="0" anchor="ctr"/>
          <a:lstStyle/>
          <a:p>
            <a:pPr indent="0" marL="0">
              <a:lnSpc>
                <a:spcPts val="1400"/>
              </a:lnSpc>
              <a:buNone/>
            </a:pPr>
            <a:r>
              <a:rPr lang="en-US" sz="1100" dirty="0">
                <a:solidFill>
                  <a:srgbClr val="94A8C4"/>
                </a:solidFill>
                <a:latin typeface="Calibri" pitchFamily="34" charset="0"/>
                <a:ea typeface="Calibri" pitchFamily="34" charset="-122"/>
                <a:cs typeface="Calibri" pitchFamily="34" charset="-120"/>
              </a:rPr>
              <a:t>Claude Sonnet 5 with</a:t>
            </a:r>
            <a:endParaRPr lang="en-US" sz="1100" dirty="0"/>
          </a:p>
          <a:p>
            <a:pPr indent="0" marL="0">
              <a:lnSpc>
                <a:spcPts val="1400"/>
              </a:lnSpc>
              <a:buNone/>
            </a:pPr>
            <a:r>
              <a:rPr lang="en-US" sz="1100" dirty="0">
                <a:solidFill>
                  <a:srgbClr val="94A8C4"/>
                </a:solidFill>
                <a:latin typeface="Calibri" pitchFamily="34" charset="0"/>
                <a:ea typeface="Calibri" pitchFamily="34" charset="-122"/>
                <a:cs typeface="Calibri" pitchFamily="34" charset="-120"/>
              </a:rPr>
              <a:t>nine read-only tools</a:t>
            </a:r>
            <a:endParaRPr lang="en-US" sz="1100" dirty="0"/>
          </a:p>
        </p:txBody>
      </p:sp>
      <p:sp>
        <p:nvSpPr>
          <p:cNvPr id="16" name="Text 14"/>
          <p:cNvSpPr txBox="1"/>
          <p:nvPr/>
        </p:nvSpPr>
        <p:spPr>
          <a:xfrm>
            <a:off x="2615184" y="3465576"/>
            <a:ext cx="1353312" cy="274320"/>
          </a:xfrm>
          <a:prstGeom prst="rect">
            <a:avLst/>
          </a:prstGeom>
          <a:noFill/>
          <a:ln/>
        </p:spPr>
        <p:txBody>
          <a:bodyPr wrap="square" lIns="0" tIns="0" rIns="0" bIns="0" rtlCol="0" anchor="ctr"/>
          <a:lstStyle/>
          <a:p>
            <a:pPr indent="0" marL="0">
              <a:buNone/>
            </a:pPr>
            <a:r>
              <a:rPr lang="en-US" sz="1100" b="1" dirty="0">
                <a:solidFill>
                  <a:srgbClr val="22D3EE"/>
                </a:solidFill>
                <a:latin typeface="Calibri" pitchFamily="34" charset="0"/>
                <a:ea typeface="Calibri" pitchFamily="34" charset="-122"/>
                <a:cs typeface="Calibri" pitchFamily="34" charset="-120"/>
              </a:rPr>
              <a:t>~60s</a:t>
            </a:r>
            <a:endParaRPr lang="en-US" sz="1100" dirty="0"/>
          </a:p>
        </p:txBody>
      </p:sp>
      <p:sp>
        <p:nvSpPr>
          <p:cNvPr id="17" name="Text 15"/>
          <p:cNvSpPr txBox="1"/>
          <p:nvPr/>
        </p:nvSpPr>
        <p:spPr>
          <a:xfrm>
            <a:off x="4151376" y="2505456"/>
            <a:ext cx="146304" cy="274320"/>
          </a:xfrm>
          <a:prstGeom prst="rect">
            <a:avLst/>
          </a:prstGeom>
          <a:noFill/>
          <a:ln/>
        </p:spPr>
        <p:txBody>
          <a:bodyPr wrap="square" lIns="0" tIns="0" rIns="0" bIns="0" rtlCol="0" anchor="ctr"/>
          <a:lstStyle/>
          <a:p>
            <a:pPr algn="ctr" indent="0" marL="0">
              <a:buNone/>
            </a:pPr>
            <a:r>
              <a:rPr lang="en-US" sz="1600" b="1" dirty="0">
                <a:solidFill>
                  <a:srgbClr val="3D5478"/>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4279392" y="1591056"/>
            <a:ext cx="1755648" cy="2377440"/>
          </a:xfrm>
          <a:prstGeom prst="roundRect">
            <a:avLst>
              <a:gd name="adj" fmla="val 2083"/>
            </a:avLst>
          </a:prstGeom>
          <a:solidFill>
            <a:srgbClr val="16213A"/>
          </a:solidFill>
          <a:ln w="12700">
            <a:solidFill>
              <a:srgbClr val="1E2A47"/>
            </a:solidFill>
            <a:prstDash val="solid"/>
          </a:ln>
        </p:spPr>
      </p:sp>
      <p:sp>
        <p:nvSpPr>
          <p:cNvPr id="19" name="Shape 17"/>
          <p:cNvSpPr/>
          <p:nvPr/>
        </p:nvSpPr>
        <p:spPr>
          <a:xfrm>
            <a:off x="4480560" y="1792224"/>
            <a:ext cx="347472" cy="347472"/>
          </a:xfrm>
          <a:prstGeom prst="roundRect">
            <a:avLst>
              <a:gd name="adj" fmla="val 26316"/>
            </a:avLst>
          </a:prstGeom>
          <a:solidFill>
            <a:srgbClr val="1E2A47"/>
          </a:solidFill>
          <a:ln w="12700">
            <a:solidFill>
              <a:srgbClr val="22D3EE"/>
            </a:solidFill>
            <a:prstDash val="solid"/>
          </a:ln>
        </p:spPr>
      </p:sp>
      <p:sp>
        <p:nvSpPr>
          <p:cNvPr id="20" name="Text 18"/>
          <p:cNvSpPr txBox="1"/>
          <p:nvPr/>
        </p:nvSpPr>
        <p:spPr>
          <a:xfrm>
            <a:off x="4480560" y="1792224"/>
            <a:ext cx="347472" cy="347472"/>
          </a:xfrm>
          <a:prstGeom prst="rect">
            <a:avLst/>
          </a:prstGeom>
          <a:noFill/>
          <a:ln/>
        </p:spPr>
        <p:txBody>
          <a:bodyPr wrap="square" lIns="0" tIns="0" rIns="0" bIns="0" rtlCol="0" anchor="ctr"/>
          <a:lstStyle/>
          <a:p>
            <a:pPr algn="ctr" indent="0" marL="0">
              <a:buNone/>
            </a:pPr>
            <a:r>
              <a:rPr lang="en-US" sz="1100" b="1" dirty="0">
                <a:solidFill>
                  <a:srgbClr val="22D3EE"/>
                </a:solidFill>
                <a:latin typeface="Arial" pitchFamily="34" charset="0"/>
                <a:ea typeface="Arial" pitchFamily="34" charset="-122"/>
                <a:cs typeface="Arial" pitchFamily="34" charset="-120"/>
              </a:rPr>
              <a:t>3</a:t>
            </a:r>
            <a:endParaRPr lang="en-US" sz="1100" dirty="0"/>
          </a:p>
        </p:txBody>
      </p:sp>
      <p:sp>
        <p:nvSpPr>
          <p:cNvPr id="21" name="Text 19"/>
          <p:cNvSpPr txBox="1"/>
          <p:nvPr/>
        </p:nvSpPr>
        <p:spPr>
          <a:xfrm>
            <a:off x="4480560" y="2249424"/>
            <a:ext cx="1353312" cy="292608"/>
          </a:xfrm>
          <a:prstGeom prst="rect">
            <a:avLst/>
          </a:prstGeom>
          <a:noFill/>
          <a:ln/>
        </p:spPr>
        <p:txBody>
          <a:bodyPr wrap="square" lIns="0" tIns="0" rIns="0" bIns="0" rtlCol="0" anchor="ctr"/>
          <a:lstStyle/>
          <a:p>
            <a:pPr indent="0" marL="0">
              <a:buNone/>
            </a:pPr>
            <a:r>
              <a:rPr lang="en-US" sz="1400" b="1" dirty="0">
                <a:solidFill>
                  <a:srgbClr val="E9EFFA"/>
                </a:solidFill>
                <a:latin typeface="Arial" pitchFamily="34" charset="0"/>
                <a:ea typeface="Arial" pitchFamily="34" charset="-122"/>
                <a:cs typeface="Arial" pitchFamily="34" charset="-120"/>
              </a:rPr>
              <a:t>Propose</a:t>
            </a:r>
            <a:endParaRPr lang="en-US" sz="1400" dirty="0"/>
          </a:p>
        </p:txBody>
      </p:sp>
      <p:sp>
        <p:nvSpPr>
          <p:cNvPr id="22" name="Text 20"/>
          <p:cNvSpPr txBox="1"/>
          <p:nvPr/>
        </p:nvSpPr>
        <p:spPr>
          <a:xfrm>
            <a:off x="4480560" y="2578608"/>
            <a:ext cx="1353312" cy="777240"/>
          </a:xfrm>
          <a:prstGeom prst="rect">
            <a:avLst/>
          </a:prstGeom>
          <a:noFill/>
          <a:ln/>
        </p:spPr>
        <p:txBody>
          <a:bodyPr wrap="square" lIns="0" tIns="0" rIns="0" bIns="0" rtlCol="0" anchor="ctr"/>
          <a:lstStyle/>
          <a:p>
            <a:pPr indent="0" marL="0">
              <a:lnSpc>
                <a:spcPts val="1400"/>
              </a:lnSpc>
              <a:buNone/>
            </a:pPr>
            <a:r>
              <a:rPr lang="en-US" sz="1100" dirty="0">
                <a:solidFill>
                  <a:srgbClr val="94A8C4"/>
                </a:solidFill>
                <a:latin typeface="Calibri" pitchFamily="34" charset="0"/>
                <a:ea typeface="Calibri" pitchFamily="34" charset="-122"/>
                <a:cs typeface="Calibri" pitchFamily="34" charset="-120"/>
              </a:rPr>
              <a:t>One action from a</a:t>
            </a:r>
            <a:endParaRPr lang="en-US" sz="1100" dirty="0"/>
          </a:p>
          <a:p>
            <a:pPr indent="0" marL="0">
              <a:lnSpc>
                <a:spcPts val="1400"/>
              </a:lnSpc>
              <a:buNone/>
            </a:pPr>
            <a:r>
              <a:rPr lang="en-US" sz="1100" dirty="0">
                <a:solidFill>
                  <a:srgbClr val="94A8C4"/>
                </a:solidFill>
                <a:latin typeface="Calibri" pitchFamily="34" charset="0"/>
                <a:ea typeface="Calibri" pitchFamily="34" charset="-122"/>
                <a:cs typeface="Calibri" pitchFamily="34" charset="-120"/>
              </a:rPr>
              <a:t>catalog of four</a:t>
            </a:r>
            <a:endParaRPr lang="en-US" sz="1100" dirty="0"/>
          </a:p>
        </p:txBody>
      </p:sp>
      <p:sp>
        <p:nvSpPr>
          <p:cNvPr id="23" name="Text 21"/>
          <p:cNvSpPr txBox="1"/>
          <p:nvPr/>
        </p:nvSpPr>
        <p:spPr>
          <a:xfrm>
            <a:off x="4480560" y="3465576"/>
            <a:ext cx="1353312" cy="274320"/>
          </a:xfrm>
          <a:prstGeom prst="rect">
            <a:avLst/>
          </a:prstGeom>
          <a:noFill/>
          <a:ln/>
        </p:spPr>
        <p:txBody>
          <a:bodyPr wrap="square" lIns="0" tIns="0" rIns="0" bIns="0" rtlCol="0" anchor="ctr"/>
          <a:lstStyle/>
          <a:p>
            <a:pPr indent="0" marL="0">
              <a:buNone/>
            </a:pPr>
            <a:r>
              <a:rPr lang="en-US" sz="1100" b="1" dirty="0">
                <a:solidFill>
                  <a:srgbClr val="22D3EE"/>
                </a:solidFill>
                <a:latin typeface="Calibri" pitchFamily="34" charset="0"/>
                <a:ea typeface="Calibri" pitchFamily="34" charset="-122"/>
                <a:cs typeface="Calibri" pitchFamily="34" charset="-120"/>
              </a:rPr>
              <a:t>instant</a:t>
            </a:r>
            <a:endParaRPr lang="en-US" sz="1100" dirty="0"/>
          </a:p>
        </p:txBody>
      </p:sp>
      <p:sp>
        <p:nvSpPr>
          <p:cNvPr id="24" name="Text 22"/>
          <p:cNvSpPr txBox="1"/>
          <p:nvPr/>
        </p:nvSpPr>
        <p:spPr>
          <a:xfrm>
            <a:off x="6016752" y="2505456"/>
            <a:ext cx="146304" cy="274320"/>
          </a:xfrm>
          <a:prstGeom prst="rect">
            <a:avLst/>
          </a:prstGeom>
          <a:noFill/>
          <a:ln/>
        </p:spPr>
        <p:txBody>
          <a:bodyPr wrap="square" lIns="0" tIns="0" rIns="0" bIns="0" rtlCol="0" anchor="ctr"/>
          <a:lstStyle/>
          <a:p>
            <a:pPr algn="ctr" indent="0" marL="0">
              <a:buNone/>
            </a:pPr>
            <a:r>
              <a:rPr lang="en-US" sz="1600" b="1" dirty="0">
                <a:solidFill>
                  <a:srgbClr val="3D5478"/>
                </a:solidFill>
                <a:latin typeface="Arial" pitchFamily="34" charset="0"/>
                <a:ea typeface="Arial" pitchFamily="34" charset="-122"/>
                <a:cs typeface="Arial" pitchFamily="34" charset="-120"/>
              </a:rPr>
              <a:t>›</a:t>
            </a:r>
            <a:endParaRPr lang="en-US" sz="1600" dirty="0"/>
          </a:p>
        </p:txBody>
      </p:sp>
      <p:sp>
        <p:nvSpPr>
          <p:cNvPr id="25" name="Shape 23"/>
          <p:cNvSpPr/>
          <p:nvPr/>
        </p:nvSpPr>
        <p:spPr>
          <a:xfrm>
            <a:off x="6144768" y="1591056"/>
            <a:ext cx="1755648" cy="2377440"/>
          </a:xfrm>
          <a:prstGeom prst="roundRect">
            <a:avLst>
              <a:gd name="adj" fmla="val 2083"/>
            </a:avLst>
          </a:prstGeom>
          <a:solidFill>
            <a:srgbClr val="16213A"/>
          </a:solidFill>
          <a:ln w="12700">
            <a:solidFill>
              <a:srgbClr val="1E2A47"/>
            </a:solidFill>
            <a:prstDash val="solid"/>
          </a:ln>
        </p:spPr>
      </p:sp>
      <p:sp>
        <p:nvSpPr>
          <p:cNvPr id="26" name="Shape 24"/>
          <p:cNvSpPr/>
          <p:nvPr/>
        </p:nvSpPr>
        <p:spPr>
          <a:xfrm>
            <a:off x="6345936" y="1792224"/>
            <a:ext cx="347472" cy="347472"/>
          </a:xfrm>
          <a:prstGeom prst="roundRect">
            <a:avLst>
              <a:gd name="adj" fmla="val 26316"/>
            </a:avLst>
          </a:prstGeom>
          <a:solidFill>
            <a:srgbClr val="1E2A47"/>
          </a:solidFill>
          <a:ln w="12700">
            <a:solidFill>
              <a:srgbClr val="FBBF24"/>
            </a:solidFill>
            <a:prstDash val="solid"/>
          </a:ln>
        </p:spPr>
      </p:sp>
      <p:sp>
        <p:nvSpPr>
          <p:cNvPr id="27" name="Text 25"/>
          <p:cNvSpPr txBox="1"/>
          <p:nvPr/>
        </p:nvSpPr>
        <p:spPr>
          <a:xfrm>
            <a:off x="6345936" y="1792224"/>
            <a:ext cx="347472" cy="347472"/>
          </a:xfrm>
          <a:prstGeom prst="rect">
            <a:avLst/>
          </a:prstGeom>
          <a:noFill/>
          <a:ln/>
        </p:spPr>
        <p:txBody>
          <a:bodyPr wrap="square" lIns="0" tIns="0" rIns="0" bIns="0" rtlCol="0" anchor="ctr"/>
          <a:lstStyle/>
          <a:p>
            <a:pPr algn="ctr" indent="0" marL="0">
              <a:buNone/>
            </a:pPr>
            <a:r>
              <a:rPr lang="en-US" sz="1100" b="1" dirty="0">
                <a:solidFill>
                  <a:srgbClr val="FBBF24"/>
                </a:solidFill>
                <a:latin typeface="Arial" pitchFamily="34" charset="0"/>
                <a:ea typeface="Arial" pitchFamily="34" charset="-122"/>
                <a:cs typeface="Arial" pitchFamily="34" charset="-120"/>
              </a:rPr>
              <a:t>4</a:t>
            </a:r>
            <a:endParaRPr lang="en-US" sz="1100" dirty="0"/>
          </a:p>
        </p:txBody>
      </p:sp>
      <p:sp>
        <p:nvSpPr>
          <p:cNvPr id="28" name="Text 26"/>
          <p:cNvSpPr txBox="1"/>
          <p:nvPr/>
        </p:nvSpPr>
        <p:spPr>
          <a:xfrm>
            <a:off x="6345936" y="2249424"/>
            <a:ext cx="1353312" cy="292608"/>
          </a:xfrm>
          <a:prstGeom prst="rect">
            <a:avLst/>
          </a:prstGeom>
          <a:noFill/>
          <a:ln/>
        </p:spPr>
        <p:txBody>
          <a:bodyPr wrap="square" lIns="0" tIns="0" rIns="0" bIns="0" rtlCol="0" anchor="ctr"/>
          <a:lstStyle/>
          <a:p>
            <a:pPr indent="0" marL="0">
              <a:buNone/>
            </a:pPr>
            <a:r>
              <a:rPr lang="en-US" sz="1400" b="1" dirty="0">
                <a:solidFill>
                  <a:srgbClr val="E9EFFA"/>
                </a:solidFill>
                <a:latin typeface="Arial" pitchFamily="34" charset="0"/>
                <a:ea typeface="Arial" pitchFamily="34" charset="-122"/>
                <a:cs typeface="Arial" pitchFamily="34" charset="-120"/>
              </a:rPr>
              <a:t>Approve</a:t>
            </a:r>
            <a:endParaRPr lang="en-US" sz="1400" dirty="0"/>
          </a:p>
        </p:txBody>
      </p:sp>
      <p:sp>
        <p:nvSpPr>
          <p:cNvPr id="29" name="Text 27"/>
          <p:cNvSpPr txBox="1"/>
          <p:nvPr/>
        </p:nvSpPr>
        <p:spPr>
          <a:xfrm>
            <a:off x="6345936" y="2578608"/>
            <a:ext cx="1353312" cy="777240"/>
          </a:xfrm>
          <a:prstGeom prst="rect">
            <a:avLst/>
          </a:prstGeom>
          <a:noFill/>
          <a:ln/>
        </p:spPr>
        <p:txBody>
          <a:bodyPr wrap="square" lIns="0" tIns="0" rIns="0" bIns="0" rtlCol="0" anchor="ctr"/>
          <a:lstStyle/>
          <a:p>
            <a:pPr indent="0" marL="0">
              <a:lnSpc>
                <a:spcPts val="1400"/>
              </a:lnSpc>
              <a:buNone/>
            </a:pPr>
            <a:r>
              <a:rPr lang="en-US" sz="1100" dirty="0">
                <a:solidFill>
                  <a:srgbClr val="94A8C4"/>
                </a:solidFill>
                <a:latin typeface="Calibri" pitchFamily="34" charset="0"/>
                <a:ea typeface="Calibri" pitchFamily="34" charset="-122"/>
                <a:cs typeface="Calibri" pitchFamily="34" charset="-120"/>
              </a:rPr>
              <a:t>Human decides, in</a:t>
            </a:r>
            <a:endParaRPr lang="en-US" sz="1100" dirty="0"/>
          </a:p>
          <a:p>
            <a:pPr indent="0" marL="0">
              <a:lnSpc>
                <a:spcPts val="1400"/>
              </a:lnSpc>
              <a:buNone/>
            </a:pPr>
            <a:r>
              <a:rPr lang="en-US" sz="1100" dirty="0">
                <a:solidFill>
                  <a:srgbClr val="94A8C4"/>
                </a:solidFill>
                <a:latin typeface="Calibri" pitchFamily="34" charset="0"/>
                <a:ea typeface="Calibri" pitchFamily="34" charset="-122"/>
                <a:cs typeface="Calibri" pitchFamily="34" charset="-120"/>
              </a:rPr>
              <a:t>Freshservice</a:t>
            </a:r>
            <a:endParaRPr lang="en-US" sz="1100" dirty="0"/>
          </a:p>
        </p:txBody>
      </p:sp>
      <p:sp>
        <p:nvSpPr>
          <p:cNvPr id="30" name="Text 28"/>
          <p:cNvSpPr txBox="1"/>
          <p:nvPr/>
        </p:nvSpPr>
        <p:spPr>
          <a:xfrm>
            <a:off x="6345936" y="3465576"/>
            <a:ext cx="1353312" cy="274320"/>
          </a:xfrm>
          <a:prstGeom prst="rect">
            <a:avLst/>
          </a:prstGeom>
          <a:noFill/>
          <a:ln/>
        </p:spPr>
        <p:txBody>
          <a:bodyPr wrap="square" lIns="0" tIns="0" rIns="0" bIns="0" rtlCol="0" anchor="ctr"/>
          <a:lstStyle/>
          <a:p>
            <a:pPr indent="0" marL="0">
              <a:buNone/>
            </a:pPr>
            <a:r>
              <a:rPr lang="en-US" sz="1100" b="1" dirty="0">
                <a:solidFill>
                  <a:srgbClr val="FBBF24"/>
                </a:solidFill>
                <a:latin typeface="Calibri" pitchFamily="34" charset="0"/>
                <a:ea typeface="Calibri" pitchFamily="34" charset="-122"/>
                <a:cs typeface="Calibri" pitchFamily="34" charset="-120"/>
              </a:rPr>
              <a:t>human</a:t>
            </a:r>
            <a:endParaRPr lang="en-US" sz="1100" dirty="0"/>
          </a:p>
        </p:txBody>
      </p:sp>
      <p:sp>
        <p:nvSpPr>
          <p:cNvPr id="31" name="Text 29"/>
          <p:cNvSpPr txBox="1"/>
          <p:nvPr/>
        </p:nvSpPr>
        <p:spPr>
          <a:xfrm>
            <a:off x="7882128" y="2505456"/>
            <a:ext cx="146304" cy="274320"/>
          </a:xfrm>
          <a:prstGeom prst="rect">
            <a:avLst/>
          </a:prstGeom>
          <a:noFill/>
          <a:ln/>
        </p:spPr>
        <p:txBody>
          <a:bodyPr wrap="square" lIns="0" tIns="0" rIns="0" bIns="0" rtlCol="0" anchor="ctr"/>
          <a:lstStyle/>
          <a:p>
            <a:pPr algn="ctr" indent="0" marL="0">
              <a:buNone/>
            </a:pPr>
            <a:r>
              <a:rPr lang="en-US" sz="1600" b="1" dirty="0">
                <a:solidFill>
                  <a:srgbClr val="3D5478"/>
                </a:solidFill>
                <a:latin typeface="Arial" pitchFamily="34" charset="0"/>
                <a:ea typeface="Arial" pitchFamily="34" charset="-122"/>
                <a:cs typeface="Arial" pitchFamily="34" charset="-120"/>
              </a:rPr>
              <a:t>›</a:t>
            </a:r>
            <a:endParaRPr lang="en-US" sz="1600" dirty="0"/>
          </a:p>
        </p:txBody>
      </p:sp>
      <p:sp>
        <p:nvSpPr>
          <p:cNvPr id="32" name="Shape 30"/>
          <p:cNvSpPr/>
          <p:nvPr/>
        </p:nvSpPr>
        <p:spPr>
          <a:xfrm>
            <a:off x="8010144" y="1591056"/>
            <a:ext cx="1755648" cy="2377440"/>
          </a:xfrm>
          <a:prstGeom prst="roundRect">
            <a:avLst>
              <a:gd name="adj" fmla="val 2083"/>
            </a:avLst>
          </a:prstGeom>
          <a:solidFill>
            <a:srgbClr val="16213A"/>
          </a:solidFill>
          <a:ln w="12700">
            <a:solidFill>
              <a:srgbClr val="1E2A47"/>
            </a:solidFill>
            <a:prstDash val="solid"/>
          </a:ln>
        </p:spPr>
      </p:sp>
      <p:sp>
        <p:nvSpPr>
          <p:cNvPr id="33" name="Shape 31"/>
          <p:cNvSpPr/>
          <p:nvPr/>
        </p:nvSpPr>
        <p:spPr>
          <a:xfrm>
            <a:off x="8211312" y="1792224"/>
            <a:ext cx="347472" cy="347472"/>
          </a:xfrm>
          <a:prstGeom prst="roundRect">
            <a:avLst>
              <a:gd name="adj" fmla="val 26316"/>
            </a:avLst>
          </a:prstGeom>
          <a:solidFill>
            <a:srgbClr val="1E2A47"/>
          </a:solidFill>
          <a:ln w="12700">
            <a:solidFill>
              <a:srgbClr val="34D399"/>
            </a:solidFill>
            <a:prstDash val="solid"/>
          </a:ln>
        </p:spPr>
      </p:sp>
      <p:sp>
        <p:nvSpPr>
          <p:cNvPr id="34" name="Text 32"/>
          <p:cNvSpPr txBox="1"/>
          <p:nvPr/>
        </p:nvSpPr>
        <p:spPr>
          <a:xfrm>
            <a:off x="8211312" y="1792224"/>
            <a:ext cx="347472" cy="347472"/>
          </a:xfrm>
          <a:prstGeom prst="rect">
            <a:avLst/>
          </a:prstGeom>
          <a:noFill/>
          <a:ln/>
        </p:spPr>
        <p:txBody>
          <a:bodyPr wrap="square" lIns="0" tIns="0" rIns="0" bIns="0" rtlCol="0" anchor="ctr"/>
          <a:lstStyle/>
          <a:p>
            <a:pPr algn="ctr" indent="0" marL="0">
              <a:buNone/>
            </a:pPr>
            <a:r>
              <a:rPr lang="en-US" sz="1100" b="1" dirty="0">
                <a:solidFill>
                  <a:srgbClr val="34D399"/>
                </a:solidFill>
                <a:latin typeface="Arial" pitchFamily="34" charset="0"/>
                <a:ea typeface="Arial" pitchFamily="34" charset="-122"/>
                <a:cs typeface="Arial" pitchFamily="34" charset="-120"/>
              </a:rPr>
              <a:t>5</a:t>
            </a:r>
            <a:endParaRPr lang="en-US" sz="1100" dirty="0"/>
          </a:p>
        </p:txBody>
      </p:sp>
      <p:sp>
        <p:nvSpPr>
          <p:cNvPr id="35" name="Text 33"/>
          <p:cNvSpPr txBox="1"/>
          <p:nvPr/>
        </p:nvSpPr>
        <p:spPr>
          <a:xfrm>
            <a:off x="8211312" y="2249424"/>
            <a:ext cx="1353312" cy="292608"/>
          </a:xfrm>
          <a:prstGeom prst="rect">
            <a:avLst/>
          </a:prstGeom>
          <a:noFill/>
          <a:ln/>
        </p:spPr>
        <p:txBody>
          <a:bodyPr wrap="square" lIns="0" tIns="0" rIns="0" bIns="0" rtlCol="0" anchor="ctr"/>
          <a:lstStyle/>
          <a:p>
            <a:pPr indent="0" marL="0">
              <a:buNone/>
            </a:pPr>
            <a:r>
              <a:rPr lang="en-US" sz="1400" b="1" dirty="0">
                <a:solidFill>
                  <a:srgbClr val="E9EFFA"/>
                </a:solidFill>
                <a:latin typeface="Arial" pitchFamily="34" charset="0"/>
                <a:ea typeface="Arial" pitchFamily="34" charset="-122"/>
                <a:cs typeface="Arial" pitchFamily="34" charset="-120"/>
              </a:rPr>
              <a:t>Execute</a:t>
            </a:r>
            <a:endParaRPr lang="en-US" sz="1400" dirty="0"/>
          </a:p>
        </p:txBody>
      </p:sp>
      <p:sp>
        <p:nvSpPr>
          <p:cNvPr id="36" name="Text 34"/>
          <p:cNvSpPr txBox="1"/>
          <p:nvPr/>
        </p:nvSpPr>
        <p:spPr>
          <a:xfrm>
            <a:off x="8211312" y="2578608"/>
            <a:ext cx="1353312" cy="777240"/>
          </a:xfrm>
          <a:prstGeom prst="rect">
            <a:avLst/>
          </a:prstGeom>
          <a:noFill/>
          <a:ln/>
        </p:spPr>
        <p:txBody>
          <a:bodyPr wrap="square" lIns="0" tIns="0" rIns="0" bIns="0" rtlCol="0" anchor="ctr"/>
          <a:lstStyle/>
          <a:p>
            <a:pPr indent="0" marL="0">
              <a:lnSpc>
                <a:spcPts val="1400"/>
              </a:lnSpc>
              <a:buNone/>
            </a:pPr>
            <a:r>
              <a:rPr lang="en-US" sz="1100" dirty="0">
                <a:solidFill>
                  <a:srgbClr val="94A8C4"/>
                </a:solidFill>
                <a:latin typeface="Calibri" pitchFamily="34" charset="0"/>
                <a:ea typeface="Calibri" pitchFamily="34" charset="-122"/>
                <a:cs typeface="Calibri" pitchFamily="34" charset="-120"/>
              </a:rPr>
              <a:t>Least-privilege</a:t>
            </a:r>
            <a:endParaRPr lang="en-US" sz="1100" dirty="0"/>
          </a:p>
          <a:p>
            <a:pPr indent="0" marL="0">
              <a:lnSpc>
                <a:spcPts val="1400"/>
              </a:lnSpc>
              <a:buNone/>
            </a:pPr>
            <a:r>
              <a:rPr lang="en-US" sz="1100" dirty="0">
                <a:solidFill>
                  <a:srgbClr val="94A8C4"/>
                </a:solidFill>
                <a:latin typeface="Calibri" pitchFamily="34" charset="0"/>
                <a:ea typeface="Calibri" pitchFamily="34" charset="-122"/>
                <a:cs typeface="Calibri" pitchFamily="34" charset="-120"/>
              </a:rPr>
              <a:t>cluster identity</a:t>
            </a:r>
            <a:endParaRPr lang="en-US" sz="1100" dirty="0"/>
          </a:p>
        </p:txBody>
      </p:sp>
      <p:sp>
        <p:nvSpPr>
          <p:cNvPr id="37" name="Text 35"/>
          <p:cNvSpPr txBox="1"/>
          <p:nvPr/>
        </p:nvSpPr>
        <p:spPr>
          <a:xfrm>
            <a:off x="8211312" y="3465576"/>
            <a:ext cx="1353312" cy="274320"/>
          </a:xfrm>
          <a:prstGeom prst="rect">
            <a:avLst/>
          </a:prstGeom>
          <a:noFill/>
          <a:ln/>
        </p:spPr>
        <p:txBody>
          <a:bodyPr wrap="square" lIns="0" tIns="0" rIns="0" bIns="0" rtlCol="0" anchor="ctr"/>
          <a:lstStyle/>
          <a:p>
            <a:pPr indent="0" marL="0">
              <a:buNone/>
            </a:pPr>
            <a:r>
              <a:rPr lang="en-US" sz="1100" b="1" dirty="0">
                <a:solidFill>
                  <a:srgbClr val="34D399"/>
                </a:solidFill>
                <a:latin typeface="Calibri" pitchFamily="34" charset="0"/>
                <a:ea typeface="Calibri" pitchFamily="34" charset="-122"/>
                <a:cs typeface="Calibri" pitchFamily="34" charset="-120"/>
              </a:rPr>
              <a:t>seconds</a:t>
            </a:r>
            <a:endParaRPr lang="en-US" sz="1100" dirty="0"/>
          </a:p>
        </p:txBody>
      </p:sp>
      <p:sp>
        <p:nvSpPr>
          <p:cNvPr id="38" name="Text 36"/>
          <p:cNvSpPr txBox="1"/>
          <p:nvPr/>
        </p:nvSpPr>
        <p:spPr>
          <a:xfrm>
            <a:off x="9747504" y="2505456"/>
            <a:ext cx="146304" cy="274320"/>
          </a:xfrm>
          <a:prstGeom prst="rect">
            <a:avLst/>
          </a:prstGeom>
          <a:noFill/>
          <a:ln/>
        </p:spPr>
        <p:txBody>
          <a:bodyPr wrap="square" lIns="0" tIns="0" rIns="0" bIns="0" rtlCol="0" anchor="ctr"/>
          <a:lstStyle/>
          <a:p>
            <a:pPr algn="ctr" indent="0" marL="0">
              <a:buNone/>
            </a:pPr>
            <a:r>
              <a:rPr lang="en-US" sz="1600" b="1" dirty="0">
                <a:solidFill>
                  <a:srgbClr val="3D5478"/>
                </a:solidFill>
                <a:latin typeface="Arial" pitchFamily="34" charset="0"/>
                <a:ea typeface="Arial" pitchFamily="34" charset="-122"/>
                <a:cs typeface="Arial" pitchFamily="34" charset="-120"/>
              </a:rPr>
              <a:t>›</a:t>
            </a:r>
            <a:endParaRPr lang="en-US" sz="1600" dirty="0"/>
          </a:p>
        </p:txBody>
      </p:sp>
      <p:sp>
        <p:nvSpPr>
          <p:cNvPr id="39" name="Shape 37"/>
          <p:cNvSpPr/>
          <p:nvPr/>
        </p:nvSpPr>
        <p:spPr>
          <a:xfrm>
            <a:off x="9875520" y="1591056"/>
            <a:ext cx="1755648" cy="2377440"/>
          </a:xfrm>
          <a:prstGeom prst="roundRect">
            <a:avLst>
              <a:gd name="adj" fmla="val 2083"/>
            </a:avLst>
          </a:prstGeom>
          <a:solidFill>
            <a:srgbClr val="16213A"/>
          </a:solidFill>
          <a:ln w="12700">
            <a:solidFill>
              <a:srgbClr val="1E2A47"/>
            </a:solidFill>
            <a:prstDash val="solid"/>
          </a:ln>
        </p:spPr>
      </p:sp>
      <p:sp>
        <p:nvSpPr>
          <p:cNvPr id="40" name="Shape 38"/>
          <p:cNvSpPr/>
          <p:nvPr/>
        </p:nvSpPr>
        <p:spPr>
          <a:xfrm>
            <a:off x="10076688" y="1792224"/>
            <a:ext cx="347472" cy="347472"/>
          </a:xfrm>
          <a:prstGeom prst="roundRect">
            <a:avLst>
              <a:gd name="adj" fmla="val 26316"/>
            </a:avLst>
          </a:prstGeom>
          <a:solidFill>
            <a:srgbClr val="1E2A47"/>
          </a:solidFill>
          <a:ln w="12700">
            <a:solidFill>
              <a:srgbClr val="34D399"/>
            </a:solidFill>
            <a:prstDash val="solid"/>
          </a:ln>
        </p:spPr>
      </p:sp>
      <p:sp>
        <p:nvSpPr>
          <p:cNvPr id="41" name="Text 39"/>
          <p:cNvSpPr txBox="1"/>
          <p:nvPr/>
        </p:nvSpPr>
        <p:spPr>
          <a:xfrm>
            <a:off x="10076688" y="1792224"/>
            <a:ext cx="347472" cy="347472"/>
          </a:xfrm>
          <a:prstGeom prst="rect">
            <a:avLst/>
          </a:prstGeom>
          <a:noFill/>
          <a:ln/>
        </p:spPr>
        <p:txBody>
          <a:bodyPr wrap="square" lIns="0" tIns="0" rIns="0" bIns="0" rtlCol="0" anchor="ctr"/>
          <a:lstStyle/>
          <a:p>
            <a:pPr algn="ctr" indent="0" marL="0">
              <a:buNone/>
            </a:pPr>
            <a:r>
              <a:rPr lang="en-US" sz="1100" b="1" dirty="0">
                <a:solidFill>
                  <a:srgbClr val="34D399"/>
                </a:solidFill>
                <a:latin typeface="Arial" pitchFamily="34" charset="0"/>
                <a:ea typeface="Arial" pitchFamily="34" charset="-122"/>
                <a:cs typeface="Arial" pitchFamily="34" charset="-120"/>
              </a:rPr>
              <a:t>6</a:t>
            </a:r>
            <a:endParaRPr lang="en-US" sz="1100" dirty="0"/>
          </a:p>
        </p:txBody>
      </p:sp>
      <p:sp>
        <p:nvSpPr>
          <p:cNvPr id="42" name="Text 40"/>
          <p:cNvSpPr txBox="1"/>
          <p:nvPr/>
        </p:nvSpPr>
        <p:spPr>
          <a:xfrm>
            <a:off x="10076688" y="2249424"/>
            <a:ext cx="1353312" cy="292608"/>
          </a:xfrm>
          <a:prstGeom prst="rect">
            <a:avLst/>
          </a:prstGeom>
          <a:noFill/>
          <a:ln/>
        </p:spPr>
        <p:txBody>
          <a:bodyPr wrap="square" lIns="0" tIns="0" rIns="0" bIns="0" rtlCol="0" anchor="ctr"/>
          <a:lstStyle/>
          <a:p>
            <a:pPr indent="0" marL="0">
              <a:buNone/>
            </a:pPr>
            <a:r>
              <a:rPr lang="en-US" sz="1400" b="1" dirty="0">
                <a:solidFill>
                  <a:srgbClr val="E9EFFA"/>
                </a:solidFill>
                <a:latin typeface="Arial" pitchFamily="34" charset="0"/>
                <a:ea typeface="Arial" pitchFamily="34" charset="-122"/>
                <a:cs typeface="Arial" pitchFamily="34" charset="-120"/>
              </a:rPr>
              <a:t>Verify</a:t>
            </a:r>
            <a:endParaRPr lang="en-US" sz="1400" dirty="0"/>
          </a:p>
        </p:txBody>
      </p:sp>
      <p:sp>
        <p:nvSpPr>
          <p:cNvPr id="43" name="Text 41"/>
          <p:cNvSpPr txBox="1"/>
          <p:nvPr/>
        </p:nvSpPr>
        <p:spPr>
          <a:xfrm>
            <a:off x="10076688" y="2578608"/>
            <a:ext cx="1353312" cy="777240"/>
          </a:xfrm>
          <a:prstGeom prst="rect">
            <a:avLst/>
          </a:prstGeom>
          <a:noFill/>
          <a:ln/>
        </p:spPr>
        <p:txBody>
          <a:bodyPr wrap="square" lIns="0" tIns="0" rIns="0" bIns="0" rtlCol="0" anchor="ctr"/>
          <a:lstStyle/>
          <a:p>
            <a:pPr indent="0" marL="0">
              <a:lnSpc>
                <a:spcPts val="1400"/>
              </a:lnSpc>
              <a:buNone/>
            </a:pPr>
            <a:r>
              <a:rPr lang="en-US" sz="1100" dirty="0">
                <a:solidFill>
                  <a:srgbClr val="94A8C4"/>
                </a:solidFill>
                <a:latin typeface="Calibri" pitchFamily="34" charset="0"/>
                <a:ea typeface="Calibri" pitchFamily="34" charset="-122"/>
                <a:cs typeface="Calibri" pitchFamily="34" charset="-120"/>
              </a:rPr>
              <a:t>Watch recovery, or</a:t>
            </a:r>
            <a:endParaRPr lang="en-US" sz="1100" dirty="0"/>
          </a:p>
          <a:p>
            <a:pPr indent="0" marL="0">
              <a:lnSpc>
                <a:spcPts val="1400"/>
              </a:lnSpc>
              <a:buNone/>
            </a:pPr>
            <a:r>
              <a:rPr lang="en-US" sz="1100" dirty="0">
                <a:solidFill>
                  <a:srgbClr val="94A8C4"/>
                </a:solidFill>
                <a:latin typeface="Calibri" pitchFamily="34" charset="0"/>
                <a:ea typeface="Calibri" pitchFamily="34" charset="-122"/>
                <a:cs typeface="Calibri" pitchFamily="34" charset="-120"/>
              </a:rPr>
              <a:t>roll back automatically</a:t>
            </a:r>
            <a:endParaRPr lang="en-US" sz="1100" dirty="0"/>
          </a:p>
        </p:txBody>
      </p:sp>
      <p:sp>
        <p:nvSpPr>
          <p:cNvPr id="44" name="Text 42"/>
          <p:cNvSpPr txBox="1"/>
          <p:nvPr/>
        </p:nvSpPr>
        <p:spPr>
          <a:xfrm>
            <a:off x="10076688" y="3465576"/>
            <a:ext cx="1353312" cy="274320"/>
          </a:xfrm>
          <a:prstGeom prst="rect">
            <a:avLst/>
          </a:prstGeom>
          <a:noFill/>
          <a:ln/>
        </p:spPr>
        <p:txBody>
          <a:bodyPr wrap="square" lIns="0" tIns="0" rIns="0" bIns="0" rtlCol="0" anchor="ctr"/>
          <a:lstStyle/>
          <a:p>
            <a:pPr indent="0" marL="0">
              <a:buNone/>
            </a:pPr>
            <a:r>
              <a:rPr lang="en-US" sz="1100" b="1" dirty="0">
                <a:solidFill>
                  <a:srgbClr val="34D399"/>
                </a:solidFill>
                <a:latin typeface="Calibri" pitchFamily="34" charset="0"/>
                <a:ea typeface="Calibri" pitchFamily="34" charset="-122"/>
                <a:cs typeface="Calibri" pitchFamily="34" charset="-120"/>
              </a:rPr>
              <a:t>≤ 2 min</a:t>
            </a:r>
            <a:endParaRPr lang="en-US" sz="1100" dirty="0"/>
          </a:p>
        </p:txBody>
      </p:sp>
      <p:sp>
        <p:nvSpPr>
          <p:cNvPr id="45" name="Shape 43"/>
          <p:cNvSpPr/>
          <p:nvPr/>
        </p:nvSpPr>
        <p:spPr>
          <a:xfrm>
            <a:off x="548640" y="4197096"/>
            <a:ext cx="5440680" cy="1463040"/>
          </a:xfrm>
          <a:prstGeom prst="roundRect">
            <a:avLst>
              <a:gd name="adj" fmla="val 2500"/>
            </a:avLst>
          </a:prstGeom>
          <a:solidFill>
            <a:srgbClr val="1E2A47"/>
          </a:solidFill>
          <a:ln w="12700">
            <a:solidFill>
              <a:srgbClr val="1E2A47"/>
            </a:solidFill>
            <a:prstDash val="solid"/>
          </a:ln>
        </p:spPr>
      </p:sp>
      <p:sp>
        <p:nvSpPr>
          <p:cNvPr id="46" name="Shape 44"/>
          <p:cNvSpPr/>
          <p:nvPr/>
        </p:nvSpPr>
        <p:spPr>
          <a:xfrm>
            <a:off x="822960" y="4471416"/>
            <a:ext cx="365760" cy="365760"/>
          </a:xfrm>
          <a:prstGeom prst="roundRect">
            <a:avLst>
              <a:gd name="adj" fmla="val 25000"/>
            </a:avLst>
          </a:prstGeom>
          <a:solidFill>
            <a:srgbClr val="1E2A47"/>
          </a:solidFill>
          <a:ln w="12700">
            <a:solidFill>
              <a:srgbClr val="34D399"/>
            </a:solidFill>
            <a:prstDash val="solid"/>
          </a:ln>
        </p:spPr>
      </p:sp>
      <p:sp>
        <p:nvSpPr>
          <p:cNvPr id="47" name="Text 45"/>
          <p:cNvSpPr txBox="1"/>
          <p:nvPr/>
        </p:nvSpPr>
        <p:spPr>
          <a:xfrm>
            <a:off x="822960" y="4471416"/>
            <a:ext cx="365760" cy="365760"/>
          </a:xfrm>
          <a:prstGeom prst="rect">
            <a:avLst/>
          </a:prstGeom>
          <a:noFill/>
          <a:ln/>
        </p:spPr>
        <p:txBody>
          <a:bodyPr wrap="square" lIns="0" tIns="0" rIns="0" bIns="0" rtlCol="0" anchor="ctr"/>
          <a:lstStyle/>
          <a:p>
            <a:pPr algn="ctr" indent="0" marL="0">
              <a:buNone/>
            </a:pPr>
            <a:r>
              <a:rPr lang="en-US" sz="1100" b="1" dirty="0">
                <a:solidFill>
                  <a:srgbClr val="34D399"/>
                </a:solidFill>
                <a:latin typeface="Arial" pitchFamily="34" charset="0"/>
                <a:ea typeface="Arial" pitchFamily="34" charset="-122"/>
                <a:cs typeface="Arial" pitchFamily="34" charset="-120"/>
              </a:rPr>
              <a:t>7</a:t>
            </a:r>
            <a:endParaRPr lang="en-US" sz="1100" dirty="0"/>
          </a:p>
        </p:txBody>
      </p:sp>
      <p:sp>
        <p:nvSpPr>
          <p:cNvPr id="48" name="Text 46"/>
          <p:cNvSpPr txBox="1"/>
          <p:nvPr/>
        </p:nvSpPr>
        <p:spPr>
          <a:xfrm>
            <a:off x="1371600" y="4453128"/>
            <a:ext cx="4389120" cy="274320"/>
          </a:xfrm>
          <a:prstGeom prst="rect">
            <a:avLst/>
          </a:prstGeom>
          <a:noFill/>
          <a:ln/>
        </p:spPr>
        <p:txBody>
          <a:bodyPr wrap="square" lIns="0" tIns="0" rIns="0" bIns="0" rtlCol="0" anchor="ctr"/>
          <a:lstStyle/>
          <a:p>
            <a:pPr indent="0" marL="0">
              <a:buNone/>
            </a:pPr>
            <a:r>
              <a:rPr lang="en-US" sz="1400" b="1" dirty="0">
                <a:solidFill>
                  <a:srgbClr val="E9EFFA"/>
                </a:solidFill>
                <a:latin typeface="Arial" pitchFamily="34" charset="0"/>
                <a:ea typeface="Arial" pitchFamily="34" charset="-122"/>
                <a:cs typeface="Arial" pitchFamily="34" charset="-120"/>
              </a:rPr>
              <a:t>Audit</a:t>
            </a:r>
            <a:endParaRPr lang="en-US" sz="1400" dirty="0"/>
          </a:p>
        </p:txBody>
      </p:sp>
      <p:sp>
        <p:nvSpPr>
          <p:cNvPr id="49" name="Text 47"/>
          <p:cNvSpPr txBox="1"/>
          <p:nvPr/>
        </p:nvSpPr>
        <p:spPr>
          <a:xfrm>
            <a:off x="1371600" y="4773168"/>
            <a:ext cx="4434840" cy="777240"/>
          </a:xfrm>
          <a:prstGeom prst="rect">
            <a:avLst/>
          </a:prstGeom>
          <a:noFill/>
          <a:ln/>
        </p:spPr>
        <p:txBody>
          <a:bodyPr wrap="square" lIns="0" tIns="0" rIns="0" bIns="0" rtlCol="0" anchor="ctr"/>
          <a:lstStyle/>
          <a:p>
            <a:pPr indent="0" marL="0">
              <a:lnSpc>
                <a:spcPts val="1600"/>
              </a:lnSpc>
              <a:buNone/>
            </a:pPr>
            <a:r>
              <a:rPr lang="en-US" sz="1200" dirty="0">
                <a:solidFill>
                  <a:srgbClr val="94A8C4"/>
                </a:solidFill>
                <a:latin typeface="Calibri" pitchFamily="34" charset="0"/>
                <a:ea typeface="Calibri" pitchFamily="34" charset="-122"/>
                <a:cs typeface="Calibri" pitchFamily="34" charset="-120"/>
              </a:rPr>
              <a:t>Every step is an append-only event whose hash covers the one before it. Editing anything breaks everything after it.</a:t>
            </a:r>
            <a:endParaRPr lang="en-US" sz="1200" dirty="0"/>
          </a:p>
        </p:txBody>
      </p:sp>
      <p:sp>
        <p:nvSpPr>
          <p:cNvPr id="50" name="Shape 48"/>
          <p:cNvSpPr/>
          <p:nvPr/>
        </p:nvSpPr>
        <p:spPr>
          <a:xfrm>
            <a:off x="6199632" y="4197096"/>
            <a:ext cx="5440680" cy="1463040"/>
          </a:xfrm>
          <a:prstGeom prst="roundRect">
            <a:avLst>
              <a:gd name="adj" fmla="val 2500"/>
            </a:avLst>
          </a:prstGeom>
          <a:solidFill>
            <a:srgbClr val="1E2A47"/>
          </a:solidFill>
          <a:ln w="12700">
            <a:solidFill>
              <a:srgbClr val="1E2A47"/>
            </a:solidFill>
            <a:prstDash val="solid"/>
          </a:ln>
        </p:spPr>
      </p:sp>
      <p:sp>
        <p:nvSpPr>
          <p:cNvPr id="51" name="Shape 49"/>
          <p:cNvSpPr/>
          <p:nvPr/>
        </p:nvSpPr>
        <p:spPr>
          <a:xfrm>
            <a:off x="6473952" y="4471416"/>
            <a:ext cx="365760" cy="365760"/>
          </a:xfrm>
          <a:prstGeom prst="roundRect">
            <a:avLst>
              <a:gd name="adj" fmla="val 25000"/>
            </a:avLst>
          </a:prstGeom>
          <a:solidFill>
            <a:srgbClr val="1E2A47"/>
          </a:solidFill>
          <a:ln w="12700">
            <a:solidFill>
              <a:srgbClr val="F87171"/>
            </a:solidFill>
            <a:prstDash val="solid"/>
          </a:ln>
        </p:spPr>
      </p:sp>
      <p:sp>
        <p:nvSpPr>
          <p:cNvPr id="52" name="Text 50"/>
          <p:cNvSpPr txBox="1"/>
          <p:nvPr/>
        </p:nvSpPr>
        <p:spPr>
          <a:xfrm>
            <a:off x="6473952" y="4471416"/>
            <a:ext cx="365760" cy="365760"/>
          </a:xfrm>
          <a:prstGeom prst="rect">
            <a:avLst/>
          </a:prstGeom>
          <a:noFill/>
          <a:ln/>
        </p:spPr>
        <p:txBody>
          <a:bodyPr wrap="square" lIns="0" tIns="0" rIns="0" bIns="0" rtlCol="0" anchor="ctr"/>
          <a:lstStyle/>
          <a:p>
            <a:pPr algn="ctr" indent="0" marL="0">
              <a:buNone/>
            </a:pPr>
            <a:r>
              <a:rPr lang="en-US" sz="1100" b="1" dirty="0">
                <a:solidFill>
                  <a:srgbClr val="F87171"/>
                </a:solidFill>
                <a:latin typeface="Arial" pitchFamily="34" charset="0"/>
                <a:ea typeface="Arial" pitchFamily="34" charset="-122"/>
                <a:cs typeface="Arial" pitchFamily="34" charset="-120"/>
              </a:rPr>
              <a:t>!</a:t>
            </a:r>
            <a:endParaRPr lang="en-US" sz="1100" dirty="0"/>
          </a:p>
        </p:txBody>
      </p:sp>
      <p:sp>
        <p:nvSpPr>
          <p:cNvPr id="53" name="Text 51"/>
          <p:cNvSpPr txBox="1"/>
          <p:nvPr/>
        </p:nvSpPr>
        <p:spPr>
          <a:xfrm>
            <a:off x="7022592" y="4453128"/>
            <a:ext cx="4389120" cy="274320"/>
          </a:xfrm>
          <a:prstGeom prst="rect">
            <a:avLst/>
          </a:prstGeom>
          <a:noFill/>
          <a:ln/>
        </p:spPr>
        <p:txBody>
          <a:bodyPr wrap="square" lIns="0" tIns="0" rIns="0" bIns="0" rtlCol="0" anchor="ctr"/>
          <a:lstStyle/>
          <a:p>
            <a:pPr indent="0" marL="0">
              <a:buNone/>
            </a:pPr>
            <a:r>
              <a:rPr lang="en-US" sz="1400" b="1" dirty="0">
                <a:solidFill>
                  <a:srgbClr val="E9EFFA"/>
                </a:solidFill>
                <a:latin typeface="Arial" pitchFamily="34" charset="0"/>
                <a:ea typeface="Arial" pitchFamily="34" charset="-122"/>
                <a:cs typeface="Arial" pitchFamily="34" charset="-120"/>
              </a:rPr>
              <a:t>If the fix does not work</a:t>
            </a:r>
            <a:endParaRPr lang="en-US" sz="1400" dirty="0"/>
          </a:p>
        </p:txBody>
      </p:sp>
      <p:sp>
        <p:nvSpPr>
          <p:cNvPr id="54" name="Text 52"/>
          <p:cNvSpPr txBox="1"/>
          <p:nvPr/>
        </p:nvSpPr>
        <p:spPr>
          <a:xfrm>
            <a:off x="7022592" y="4773168"/>
            <a:ext cx="4434840" cy="777240"/>
          </a:xfrm>
          <a:prstGeom prst="rect">
            <a:avLst/>
          </a:prstGeom>
          <a:noFill/>
          <a:ln/>
        </p:spPr>
        <p:txBody>
          <a:bodyPr wrap="square" lIns="0" tIns="0" rIns="0" bIns="0" rtlCol="0" anchor="ctr"/>
          <a:lstStyle/>
          <a:p>
            <a:pPr indent="0" marL="0">
              <a:lnSpc>
                <a:spcPts val="1600"/>
              </a:lnSpc>
              <a:buNone/>
            </a:pPr>
            <a:r>
              <a:rPr lang="en-US" sz="1200" dirty="0">
                <a:solidFill>
                  <a:srgbClr val="94A8C4"/>
                </a:solidFill>
                <a:latin typeface="Calibri" pitchFamily="34" charset="0"/>
                <a:ea typeface="Calibri" pitchFamily="34" charset="-122"/>
                <a:cs typeface="Calibri" pitchFamily="34" charset="-120"/>
              </a:rPr>
              <a:t>Verification fails, the change is undone automatically, and the incident goes back to a human. No silent failure.</a:t>
            </a:r>
            <a:endParaRPr lang="en-US" sz="1200" dirty="0"/>
          </a:p>
        </p:txBody>
      </p:sp>
      <p:sp>
        <p:nvSpPr>
          <p:cNvPr id="55" name="Text 53"/>
          <p:cNvSpPr txBox="1"/>
          <p:nvPr/>
        </p:nvSpPr>
        <p:spPr>
          <a:xfrm>
            <a:off x="548640" y="6400800"/>
            <a:ext cx="3657600" cy="256032"/>
          </a:xfrm>
          <a:prstGeom prst="rect">
            <a:avLst/>
          </a:prstGeom>
          <a:noFill/>
          <a:ln/>
        </p:spPr>
        <p:txBody>
          <a:bodyPr wrap="square" lIns="0" tIns="0" rIns="0" bIns="0" rtlCol="0" anchor="ctr"/>
          <a:lstStyle/>
          <a:p>
            <a:pPr indent="0" marL="0">
              <a:buNone/>
            </a:pPr>
            <a:r>
              <a:rPr lang="en-US" sz="1000" dirty="0">
                <a:solidFill>
                  <a:srgbClr val="5A6E8C"/>
                </a:solidFill>
                <a:latin typeface="Calibri" pitchFamily="34" charset="0"/>
                <a:ea typeface="Calibri" pitchFamily="34" charset="-122"/>
                <a:cs typeface="Calibri" pitchFamily="34" charset="-120"/>
              </a:rPr>
              <a:t>SentinelOps AI</a:t>
            </a:r>
            <a:endParaRPr lang="en-US" sz="1000" dirty="0"/>
          </a:p>
        </p:txBody>
      </p:sp>
      <p:sp>
        <p:nvSpPr>
          <p:cNvPr id="56" name="Text 54"/>
          <p:cNvSpPr txBox="1"/>
          <p:nvPr/>
        </p:nvSpPr>
        <p:spPr>
          <a:xfrm>
            <a:off x="10725912" y="6400800"/>
            <a:ext cx="914400" cy="256032"/>
          </a:xfrm>
          <a:prstGeom prst="rect">
            <a:avLst/>
          </a:prstGeom>
          <a:noFill/>
          <a:ln/>
        </p:spPr>
        <p:txBody>
          <a:bodyPr wrap="square" lIns="0" tIns="0" rIns="0" bIns="0" rtlCol="0" anchor="ctr"/>
          <a:lstStyle/>
          <a:p>
            <a:pPr algn="r" indent="0" marL="0">
              <a:buNone/>
            </a:pPr>
            <a:r>
              <a:rPr lang="en-US" sz="1000" dirty="0">
                <a:solidFill>
                  <a:srgbClr val="5A6E8C"/>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411480"/>
            <a:ext cx="10058400" cy="256032"/>
          </a:xfrm>
          <a:prstGeom prst="rect">
            <a:avLst/>
          </a:prstGeom>
          <a:noFill/>
          <a:ln/>
        </p:spPr>
        <p:txBody>
          <a:bodyPr wrap="square" lIns="0" tIns="0" rIns="0" bIns="0" rtlCol="0" anchor="ctr"/>
          <a:lstStyle/>
          <a:p>
            <a:pPr indent="0" marL="0">
              <a:buNone/>
            </a:pPr>
            <a:r>
              <a:rPr lang="en-US" sz="1200" b="1" spc="200" kern="0" dirty="0">
                <a:solidFill>
                  <a:srgbClr val="22D3EE"/>
                </a:solidFill>
                <a:latin typeface="Calibri" pitchFamily="34" charset="0"/>
                <a:ea typeface="Calibri" pitchFamily="34" charset="-122"/>
                <a:cs typeface="Calibri" pitchFamily="34" charset="-120"/>
              </a:rPr>
              <a:t>ARCHITECTURE</a:t>
            </a:r>
            <a:endParaRPr lang="en-US" sz="1200" dirty="0"/>
          </a:p>
        </p:txBody>
      </p:sp>
      <p:sp>
        <p:nvSpPr>
          <p:cNvPr id="3" name="Text 1"/>
          <p:cNvSpPr txBox="1"/>
          <p:nvPr/>
        </p:nvSpPr>
        <p:spPr>
          <a:xfrm>
            <a:off x="548640" y="722376"/>
            <a:ext cx="11064240" cy="475488"/>
          </a:xfrm>
          <a:prstGeom prst="rect">
            <a:avLst/>
          </a:prstGeom>
          <a:noFill/>
          <a:ln/>
        </p:spPr>
        <p:txBody>
          <a:bodyPr wrap="square" lIns="0" tIns="0" rIns="0" bIns="0" rtlCol="0" anchor="ctr"/>
          <a:lstStyle/>
          <a:p>
            <a:pPr indent="0" marL="0">
              <a:buNone/>
            </a:pPr>
            <a:r>
              <a:rPr lang="en-US" sz="3000" b="1" dirty="0">
                <a:solidFill>
                  <a:srgbClr val="E9EFFA"/>
                </a:solidFill>
                <a:latin typeface="Arial" pitchFamily="34" charset="0"/>
                <a:ea typeface="Arial" pitchFamily="34" charset="-122"/>
                <a:cs typeface="Arial" pitchFamily="34" charset="-120"/>
              </a:rPr>
              <a:t>How it all fits together</a:t>
            </a:r>
            <a:endParaRPr lang="en-US" sz="3000" dirty="0"/>
          </a:p>
        </p:txBody>
      </p:sp>
      <p:sp>
        <p:nvSpPr>
          <p:cNvPr id="4" name="Shape 2"/>
          <p:cNvSpPr/>
          <p:nvPr/>
        </p:nvSpPr>
        <p:spPr>
          <a:xfrm>
            <a:off x="548640" y="1591056"/>
            <a:ext cx="5029200" cy="2240280"/>
          </a:xfrm>
          <a:prstGeom prst="roundRect">
            <a:avLst>
              <a:gd name="adj" fmla="val 1633"/>
            </a:avLst>
          </a:prstGeom>
          <a:solidFill>
            <a:srgbClr val="16213A"/>
          </a:solidFill>
          <a:ln w="12700">
            <a:solidFill>
              <a:srgbClr val="1E2A47"/>
            </a:solidFill>
            <a:prstDash val="solid"/>
          </a:ln>
        </p:spPr>
      </p:sp>
      <p:sp>
        <p:nvSpPr>
          <p:cNvPr id="5" name="Text 3"/>
          <p:cNvSpPr txBox="1"/>
          <p:nvPr/>
        </p:nvSpPr>
        <p:spPr>
          <a:xfrm>
            <a:off x="804672" y="1792224"/>
            <a:ext cx="4572000" cy="256032"/>
          </a:xfrm>
          <a:prstGeom prst="rect">
            <a:avLst/>
          </a:prstGeom>
          <a:noFill/>
          <a:ln/>
        </p:spPr>
        <p:txBody>
          <a:bodyPr wrap="square" lIns="0" tIns="0" rIns="0" bIns="0" rtlCol="0" anchor="ctr"/>
          <a:lstStyle/>
          <a:p>
            <a:pPr indent="0" marL="0">
              <a:buNone/>
            </a:pPr>
            <a:r>
              <a:rPr lang="en-US" sz="1000" b="1" spc="120" kern="0" dirty="0">
                <a:solidFill>
                  <a:srgbClr val="22D3EE"/>
                </a:solidFill>
                <a:latin typeface="Calibri" pitchFamily="34" charset="0"/>
                <a:ea typeface="Calibri" pitchFamily="34" charset="-122"/>
                <a:cs typeface="Calibri" pitchFamily="34" charset="-120"/>
              </a:rPr>
              <a:t>THE MONITORED SYSTEM  ·  Kubernetes on Docker</a:t>
            </a:r>
            <a:endParaRPr lang="en-US" sz="1000" dirty="0"/>
          </a:p>
        </p:txBody>
      </p:sp>
      <p:sp>
        <p:nvSpPr>
          <p:cNvPr id="6" name="Shape 4"/>
          <p:cNvSpPr/>
          <p:nvPr/>
        </p:nvSpPr>
        <p:spPr>
          <a:xfrm>
            <a:off x="804672" y="2157984"/>
            <a:ext cx="2194560" cy="594360"/>
          </a:xfrm>
          <a:prstGeom prst="roundRect">
            <a:avLst>
              <a:gd name="adj" fmla="val 6154"/>
            </a:avLst>
          </a:prstGeom>
          <a:solidFill>
            <a:srgbClr val="1E2A47"/>
          </a:solidFill>
          <a:ln w="12700">
            <a:solidFill>
              <a:srgbClr val="1E2A47"/>
            </a:solidFill>
            <a:prstDash val="solid"/>
          </a:ln>
        </p:spPr>
      </p:sp>
      <p:sp>
        <p:nvSpPr>
          <p:cNvPr id="7" name="Text 5"/>
          <p:cNvSpPr txBox="1"/>
          <p:nvPr/>
        </p:nvSpPr>
        <p:spPr>
          <a:xfrm>
            <a:off x="941832" y="2231136"/>
            <a:ext cx="1920240" cy="237744"/>
          </a:xfrm>
          <a:prstGeom prst="rect">
            <a:avLst/>
          </a:prstGeom>
          <a:noFill/>
          <a:ln/>
        </p:spPr>
        <p:txBody>
          <a:bodyPr wrap="square" lIns="0" tIns="0" rIns="0" bIns="0" rtlCol="0" anchor="ctr"/>
          <a:lstStyle/>
          <a:p>
            <a:pPr indent="0" marL="0">
              <a:buNone/>
            </a:pPr>
            <a:r>
              <a:rPr lang="en-US" sz="1200" b="1" dirty="0">
                <a:solidFill>
                  <a:srgbClr val="E9EFFA"/>
                </a:solidFill>
                <a:latin typeface="Calibri" pitchFamily="34" charset="0"/>
                <a:ea typeface="Calibri" pitchFamily="34" charset="-122"/>
                <a:cs typeface="Calibri" pitchFamily="34" charset="-120"/>
              </a:rPr>
              <a:t>order-service</a:t>
            </a:r>
            <a:endParaRPr lang="en-US" sz="1200" dirty="0"/>
          </a:p>
        </p:txBody>
      </p:sp>
      <p:sp>
        <p:nvSpPr>
          <p:cNvPr id="8" name="Text 6"/>
          <p:cNvSpPr txBox="1"/>
          <p:nvPr/>
        </p:nvSpPr>
        <p:spPr>
          <a:xfrm>
            <a:off x="941832" y="2468880"/>
            <a:ext cx="1920240" cy="219456"/>
          </a:xfrm>
          <a:prstGeom prst="rect">
            <a:avLst/>
          </a:prstGeom>
          <a:noFill/>
          <a:ln/>
        </p:spPr>
        <p:txBody>
          <a:bodyPr wrap="square" lIns="0" tIns="0" rIns="0" bIns="0" rtlCol="0" anchor="ctr"/>
          <a:lstStyle/>
          <a:p>
            <a:pPr indent="0" marL="0">
              <a:buNone/>
            </a:pPr>
            <a:r>
              <a:rPr lang="en-US" sz="1000" dirty="0">
                <a:solidFill>
                  <a:srgbClr val="94A8C4"/>
                </a:solidFill>
                <a:latin typeface="Calibri" pitchFamily="34" charset="0"/>
                <a:ea typeface="Calibri" pitchFamily="34" charset="-122"/>
                <a:cs typeface="Calibri" pitchFamily="34" charset="-120"/>
              </a:rPr>
              <a:t>2 pods</a:t>
            </a:r>
            <a:endParaRPr lang="en-US" sz="1000" dirty="0"/>
          </a:p>
        </p:txBody>
      </p:sp>
      <p:sp>
        <p:nvSpPr>
          <p:cNvPr id="9" name="Shape 7"/>
          <p:cNvSpPr/>
          <p:nvPr/>
        </p:nvSpPr>
        <p:spPr>
          <a:xfrm>
            <a:off x="3136392" y="2157984"/>
            <a:ext cx="2194560" cy="594360"/>
          </a:xfrm>
          <a:prstGeom prst="roundRect">
            <a:avLst>
              <a:gd name="adj" fmla="val 6154"/>
            </a:avLst>
          </a:prstGeom>
          <a:solidFill>
            <a:srgbClr val="1E2A47"/>
          </a:solidFill>
          <a:ln w="12700">
            <a:solidFill>
              <a:srgbClr val="1E2A47"/>
            </a:solidFill>
            <a:prstDash val="solid"/>
          </a:ln>
        </p:spPr>
      </p:sp>
      <p:sp>
        <p:nvSpPr>
          <p:cNvPr id="10" name="Text 8"/>
          <p:cNvSpPr txBox="1"/>
          <p:nvPr/>
        </p:nvSpPr>
        <p:spPr>
          <a:xfrm>
            <a:off x="3273552" y="2231136"/>
            <a:ext cx="1920240" cy="237744"/>
          </a:xfrm>
          <a:prstGeom prst="rect">
            <a:avLst/>
          </a:prstGeom>
          <a:noFill/>
          <a:ln/>
        </p:spPr>
        <p:txBody>
          <a:bodyPr wrap="square" lIns="0" tIns="0" rIns="0" bIns="0" rtlCol="0" anchor="ctr"/>
          <a:lstStyle/>
          <a:p>
            <a:pPr indent="0" marL="0">
              <a:buNone/>
            </a:pPr>
            <a:r>
              <a:rPr lang="en-US" sz="1200" b="1" dirty="0">
                <a:solidFill>
                  <a:srgbClr val="E9EFFA"/>
                </a:solidFill>
                <a:latin typeface="Calibri" pitchFamily="34" charset="0"/>
                <a:ea typeface="Calibri" pitchFamily="34" charset="-122"/>
                <a:cs typeface="Calibri" pitchFamily="34" charset="-120"/>
              </a:rPr>
              <a:t>payment-service</a:t>
            </a:r>
            <a:endParaRPr lang="en-US" sz="1200" dirty="0"/>
          </a:p>
        </p:txBody>
      </p:sp>
      <p:sp>
        <p:nvSpPr>
          <p:cNvPr id="11" name="Text 9"/>
          <p:cNvSpPr txBox="1"/>
          <p:nvPr/>
        </p:nvSpPr>
        <p:spPr>
          <a:xfrm>
            <a:off x="3273552" y="2468880"/>
            <a:ext cx="1920240" cy="219456"/>
          </a:xfrm>
          <a:prstGeom prst="rect">
            <a:avLst/>
          </a:prstGeom>
          <a:noFill/>
          <a:ln/>
        </p:spPr>
        <p:txBody>
          <a:bodyPr wrap="square" lIns="0" tIns="0" rIns="0" bIns="0" rtlCol="0" anchor="ctr"/>
          <a:lstStyle/>
          <a:p>
            <a:pPr indent="0" marL="0">
              <a:buNone/>
            </a:pPr>
            <a:r>
              <a:rPr lang="en-US" sz="1000" dirty="0">
                <a:solidFill>
                  <a:srgbClr val="94A8C4"/>
                </a:solidFill>
                <a:latin typeface="Calibri" pitchFamily="34" charset="0"/>
                <a:ea typeface="Calibri" pitchFamily="34" charset="-122"/>
                <a:cs typeface="Calibri" pitchFamily="34" charset="-120"/>
              </a:rPr>
              <a:t>2 pods</a:t>
            </a:r>
            <a:endParaRPr lang="en-US" sz="1000" dirty="0"/>
          </a:p>
        </p:txBody>
      </p:sp>
      <p:sp>
        <p:nvSpPr>
          <p:cNvPr id="12" name="Shape 10"/>
          <p:cNvSpPr/>
          <p:nvPr/>
        </p:nvSpPr>
        <p:spPr>
          <a:xfrm>
            <a:off x="804672" y="2889504"/>
            <a:ext cx="2194560" cy="594360"/>
          </a:xfrm>
          <a:prstGeom prst="roundRect">
            <a:avLst>
              <a:gd name="adj" fmla="val 6154"/>
            </a:avLst>
          </a:prstGeom>
          <a:solidFill>
            <a:srgbClr val="1E2A47"/>
          </a:solidFill>
          <a:ln w="12700">
            <a:solidFill>
              <a:srgbClr val="1E2A47"/>
            </a:solidFill>
            <a:prstDash val="solid"/>
          </a:ln>
        </p:spPr>
      </p:sp>
      <p:sp>
        <p:nvSpPr>
          <p:cNvPr id="13" name="Text 11"/>
          <p:cNvSpPr txBox="1"/>
          <p:nvPr/>
        </p:nvSpPr>
        <p:spPr>
          <a:xfrm>
            <a:off x="941832" y="2962656"/>
            <a:ext cx="1920240" cy="237744"/>
          </a:xfrm>
          <a:prstGeom prst="rect">
            <a:avLst/>
          </a:prstGeom>
          <a:noFill/>
          <a:ln/>
        </p:spPr>
        <p:txBody>
          <a:bodyPr wrap="square" lIns="0" tIns="0" rIns="0" bIns="0" rtlCol="0" anchor="ctr"/>
          <a:lstStyle/>
          <a:p>
            <a:pPr indent="0" marL="0">
              <a:buNone/>
            </a:pPr>
            <a:r>
              <a:rPr lang="en-US" sz="1200" b="1" dirty="0">
                <a:solidFill>
                  <a:srgbClr val="E9EFFA"/>
                </a:solidFill>
                <a:latin typeface="Calibri" pitchFamily="34" charset="0"/>
                <a:ea typeface="Calibri" pitchFamily="34" charset="-122"/>
                <a:cs typeface="Calibri" pitchFamily="34" charset="-120"/>
              </a:rPr>
              <a:t>postgres</a:t>
            </a:r>
            <a:endParaRPr lang="en-US" sz="1200" dirty="0"/>
          </a:p>
        </p:txBody>
      </p:sp>
      <p:sp>
        <p:nvSpPr>
          <p:cNvPr id="14" name="Text 12"/>
          <p:cNvSpPr txBox="1"/>
          <p:nvPr/>
        </p:nvSpPr>
        <p:spPr>
          <a:xfrm>
            <a:off x="941832" y="3200400"/>
            <a:ext cx="1920240" cy="219456"/>
          </a:xfrm>
          <a:prstGeom prst="rect">
            <a:avLst/>
          </a:prstGeom>
          <a:noFill/>
          <a:ln/>
        </p:spPr>
        <p:txBody>
          <a:bodyPr wrap="square" lIns="0" tIns="0" rIns="0" bIns="0" rtlCol="0" anchor="ctr"/>
          <a:lstStyle/>
          <a:p>
            <a:pPr indent="0" marL="0">
              <a:buNone/>
            </a:pPr>
            <a:r>
              <a:rPr lang="en-US" sz="1000" dirty="0">
                <a:solidFill>
                  <a:srgbClr val="94A8C4"/>
                </a:solidFill>
                <a:latin typeface="Calibri" pitchFamily="34" charset="0"/>
                <a:ea typeface="Calibri" pitchFamily="34" charset="-122"/>
                <a:cs typeface="Calibri" pitchFamily="34" charset="-120"/>
              </a:rPr>
              <a:t>1 pod</a:t>
            </a:r>
            <a:endParaRPr lang="en-US" sz="1000" dirty="0"/>
          </a:p>
        </p:txBody>
      </p:sp>
      <p:sp>
        <p:nvSpPr>
          <p:cNvPr id="15" name="Shape 13"/>
          <p:cNvSpPr/>
          <p:nvPr/>
        </p:nvSpPr>
        <p:spPr>
          <a:xfrm>
            <a:off x="3136392" y="2889504"/>
            <a:ext cx="2194560" cy="594360"/>
          </a:xfrm>
          <a:prstGeom prst="roundRect">
            <a:avLst>
              <a:gd name="adj" fmla="val 6154"/>
            </a:avLst>
          </a:prstGeom>
          <a:solidFill>
            <a:srgbClr val="1E2A47"/>
          </a:solidFill>
          <a:ln w="12700">
            <a:solidFill>
              <a:srgbClr val="1E2A47"/>
            </a:solidFill>
            <a:prstDash val="solid"/>
          </a:ln>
        </p:spPr>
      </p:sp>
      <p:sp>
        <p:nvSpPr>
          <p:cNvPr id="16" name="Text 14"/>
          <p:cNvSpPr txBox="1"/>
          <p:nvPr/>
        </p:nvSpPr>
        <p:spPr>
          <a:xfrm>
            <a:off x="3273552" y="2962656"/>
            <a:ext cx="1920240" cy="237744"/>
          </a:xfrm>
          <a:prstGeom prst="rect">
            <a:avLst/>
          </a:prstGeom>
          <a:noFill/>
          <a:ln/>
        </p:spPr>
        <p:txBody>
          <a:bodyPr wrap="square" lIns="0" tIns="0" rIns="0" bIns="0" rtlCol="0" anchor="ctr"/>
          <a:lstStyle/>
          <a:p>
            <a:pPr indent="0" marL="0">
              <a:buNone/>
            </a:pPr>
            <a:r>
              <a:rPr lang="en-US" sz="1200" b="1" dirty="0">
                <a:solidFill>
                  <a:srgbClr val="E9EFFA"/>
                </a:solidFill>
                <a:latin typeface="Calibri" pitchFamily="34" charset="0"/>
                <a:ea typeface="Calibri" pitchFamily="34" charset="-122"/>
                <a:cs typeface="Calibri" pitchFamily="34" charset="-120"/>
              </a:rPr>
              <a:t>prometheus</a:t>
            </a:r>
            <a:endParaRPr lang="en-US" sz="1200" dirty="0"/>
          </a:p>
        </p:txBody>
      </p:sp>
      <p:sp>
        <p:nvSpPr>
          <p:cNvPr id="17" name="Text 15"/>
          <p:cNvSpPr txBox="1"/>
          <p:nvPr/>
        </p:nvSpPr>
        <p:spPr>
          <a:xfrm>
            <a:off x="3273552" y="3200400"/>
            <a:ext cx="1920240" cy="219456"/>
          </a:xfrm>
          <a:prstGeom prst="rect">
            <a:avLst/>
          </a:prstGeom>
          <a:noFill/>
          <a:ln/>
        </p:spPr>
        <p:txBody>
          <a:bodyPr wrap="square" lIns="0" tIns="0" rIns="0" bIns="0" rtlCol="0" anchor="ctr"/>
          <a:lstStyle/>
          <a:p>
            <a:pPr indent="0" marL="0">
              <a:buNone/>
            </a:pPr>
            <a:r>
              <a:rPr lang="en-US" sz="1000" dirty="0">
                <a:solidFill>
                  <a:srgbClr val="94A8C4"/>
                </a:solidFill>
                <a:latin typeface="Calibri" pitchFamily="34" charset="0"/>
                <a:ea typeface="Calibri" pitchFamily="34" charset="-122"/>
                <a:cs typeface="Calibri" pitchFamily="34" charset="-120"/>
              </a:rPr>
              <a:t>1 pod</a:t>
            </a:r>
            <a:endParaRPr lang="en-US" sz="1000" dirty="0"/>
          </a:p>
        </p:txBody>
      </p:sp>
      <p:sp>
        <p:nvSpPr>
          <p:cNvPr id="18" name="Text 16"/>
          <p:cNvSpPr txBox="1"/>
          <p:nvPr/>
        </p:nvSpPr>
        <p:spPr>
          <a:xfrm>
            <a:off x="804672" y="3529584"/>
            <a:ext cx="4572000" cy="237744"/>
          </a:xfrm>
          <a:prstGeom prst="rect">
            <a:avLst/>
          </a:prstGeom>
          <a:noFill/>
          <a:ln/>
        </p:spPr>
        <p:txBody>
          <a:bodyPr wrap="square" lIns="0" tIns="0" rIns="0" bIns="0" rtlCol="0" anchor="ctr"/>
          <a:lstStyle/>
          <a:p>
            <a:pPr indent="0" marL="0">
              <a:buNone/>
            </a:pPr>
            <a:r>
              <a:rPr lang="en-US" sz="1100" dirty="0">
                <a:solidFill>
                  <a:srgbClr val="94A8C4"/>
                </a:solidFill>
                <a:latin typeface="Calibri" pitchFamily="34" charset="0"/>
                <a:ea typeface="Calibri" pitchFamily="34" charset="-122"/>
                <a:cs typeface="Calibri" pitchFamily="34" charset="-120"/>
              </a:rPr>
              <a:t>Real cluster, real database, real metrics. Nothing mocked.</a:t>
            </a:r>
            <a:endParaRPr lang="en-US" sz="1100" dirty="0"/>
          </a:p>
        </p:txBody>
      </p:sp>
      <p:sp>
        <p:nvSpPr>
          <p:cNvPr id="19" name="Shape 17"/>
          <p:cNvSpPr/>
          <p:nvPr/>
        </p:nvSpPr>
        <p:spPr>
          <a:xfrm>
            <a:off x="5806440" y="1591056"/>
            <a:ext cx="5833872" cy="2240280"/>
          </a:xfrm>
          <a:prstGeom prst="roundRect">
            <a:avLst>
              <a:gd name="adj" fmla="val 1633"/>
            </a:avLst>
          </a:prstGeom>
          <a:solidFill>
            <a:srgbClr val="16213A"/>
          </a:solidFill>
          <a:ln w="12700">
            <a:solidFill>
              <a:srgbClr val="1E2A47"/>
            </a:solidFill>
            <a:prstDash val="solid"/>
          </a:ln>
        </p:spPr>
      </p:sp>
      <p:sp>
        <p:nvSpPr>
          <p:cNvPr id="20" name="Text 18"/>
          <p:cNvSpPr txBox="1"/>
          <p:nvPr/>
        </p:nvSpPr>
        <p:spPr>
          <a:xfrm>
            <a:off x="6062472" y="1792224"/>
            <a:ext cx="5394960" cy="256032"/>
          </a:xfrm>
          <a:prstGeom prst="rect">
            <a:avLst/>
          </a:prstGeom>
          <a:noFill/>
          <a:ln/>
        </p:spPr>
        <p:txBody>
          <a:bodyPr wrap="square" lIns="0" tIns="0" rIns="0" bIns="0" rtlCol="0" anchor="ctr"/>
          <a:lstStyle/>
          <a:p>
            <a:pPr indent="0" marL="0">
              <a:buNone/>
            </a:pPr>
            <a:r>
              <a:rPr lang="en-US" sz="1000" b="1" spc="120" kern="0" dirty="0">
                <a:solidFill>
                  <a:srgbClr val="22D3EE"/>
                </a:solidFill>
                <a:latin typeface="Calibri" pitchFamily="34" charset="0"/>
                <a:ea typeface="Calibri" pitchFamily="34" charset="-122"/>
                <a:cs typeface="Calibri" pitchFamily="34" charset="-120"/>
              </a:rPr>
              <a:t>SENTINELOPS  ·  runs beside the cluster, never inside it</a:t>
            </a:r>
            <a:endParaRPr lang="en-US" sz="1000" dirty="0"/>
          </a:p>
        </p:txBody>
      </p:sp>
      <p:sp>
        <p:nvSpPr>
          <p:cNvPr id="21" name="Shape 19"/>
          <p:cNvSpPr/>
          <p:nvPr/>
        </p:nvSpPr>
        <p:spPr>
          <a:xfrm>
            <a:off x="6062472" y="2157984"/>
            <a:ext cx="1645920" cy="530352"/>
          </a:xfrm>
          <a:prstGeom prst="roundRect">
            <a:avLst>
              <a:gd name="adj" fmla="val 6897"/>
            </a:avLst>
          </a:prstGeom>
          <a:solidFill>
            <a:srgbClr val="1E2A47"/>
          </a:solidFill>
          <a:ln w="12700">
            <a:solidFill>
              <a:srgbClr val="1E2A47"/>
            </a:solidFill>
            <a:prstDash val="solid"/>
          </a:ln>
        </p:spPr>
      </p:sp>
      <p:sp>
        <p:nvSpPr>
          <p:cNvPr id="22" name="Text 20"/>
          <p:cNvSpPr txBox="1"/>
          <p:nvPr/>
        </p:nvSpPr>
        <p:spPr>
          <a:xfrm>
            <a:off x="6062472" y="2157984"/>
            <a:ext cx="1645920" cy="530352"/>
          </a:xfrm>
          <a:prstGeom prst="rect">
            <a:avLst/>
          </a:prstGeom>
          <a:noFill/>
          <a:ln/>
        </p:spPr>
        <p:txBody>
          <a:bodyPr wrap="square" lIns="0" tIns="0" rIns="0" bIns="0" rtlCol="0" anchor="ctr"/>
          <a:lstStyle/>
          <a:p>
            <a:pPr algn="ctr" indent="0" marL="0">
              <a:buNone/>
            </a:pPr>
            <a:r>
              <a:rPr lang="en-US" sz="1200" b="1" dirty="0">
                <a:solidFill>
                  <a:srgbClr val="E9EFFA"/>
                </a:solidFill>
                <a:latin typeface="Calibri" pitchFamily="34" charset="0"/>
                <a:ea typeface="Calibri" pitchFamily="34" charset="-122"/>
                <a:cs typeface="Calibri" pitchFamily="34" charset="-120"/>
              </a:rPr>
              <a:t>detector</a:t>
            </a:r>
            <a:endParaRPr lang="en-US" sz="1200" dirty="0"/>
          </a:p>
        </p:txBody>
      </p:sp>
      <p:sp>
        <p:nvSpPr>
          <p:cNvPr id="23" name="Shape 21"/>
          <p:cNvSpPr/>
          <p:nvPr/>
        </p:nvSpPr>
        <p:spPr>
          <a:xfrm>
            <a:off x="7845552" y="2157984"/>
            <a:ext cx="1645920" cy="530352"/>
          </a:xfrm>
          <a:prstGeom prst="roundRect">
            <a:avLst>
              <a:gd name="adj" fmla="val 6897"/>
            </a:avLst>
          </a:prstGeom>
          <a:solidFill>
            <a:srgbClr val="1E2A47"/>
          </a:solidFill>
          <a:ln w="12700">
            <a:solidFill>
              <a:srgbClr val="1E2A47"/>
            </a:solidFill>
            <a:prstDash val="solid"/>
          </a:ln>
        </p:spPr>
      </p:sp>
      <p:sp>
        <p:nvSpPr>
          <p:cNvPr id="24" name="Text 22"/>
          <p:cNvSpPr txBox="1"/>
          <p:nvPr/>
        </p:nvSpPr>
        <p:spPr>
          <a:xfrm>
            <a:off x="7845552" y="2157984"/>
            <a:ext cx="1645920" cy="530352"/>
          </a:xfrm>
          <a:prstGeom prst="rect">
            <a:avLst/>
          </a:prstGeom>
          <a:noFill/>
          <a:ln/>
        </p:spPr>
        <p:txBody>
          <a:bodyPr wrap="square" lIns="0" tIns="0" rIns="0" bIns="0" rtlCol="0" anchor="ctr"/>
          <a:lstStyle/>
          <a:p>
            <a:pPr algn="ctr" indent="0" marL="0">
              <a:buNone/>
            </a:pPr>
            <a:r>
              <a:rPr lang="en-US" sz="1200" b="1" dirty="0">
                <a:solidFill>
                  <a:srgbClr val="E9EFFA"/>
                </a:solidFill>
                <a:latin typeface="Calibri" pitchFamily="34" charset="0"/>
                <a:ea typeface="Calibri" pitchFamily="34" charset="-122"/>
                <a:cs typeface="Calibri" pitchFamily="34" charset="-120"/>
              </a:rPr>
              <a:t>agent</a:t>
            </a:r>
            <a:endParaRPr lang="en-US" sz="1200" dirty="0"/>
          </a:p>
        </p:txBody>
      </p:sp>
      <p:sp>
        <p:nvSpPr>
          <p:cNvPr id="25" name="Shape 23"/>
          <p:cNvSpPr/>
          <p:nvPr/>
        </p:nvSpPr>
        <p:spPr>
          <a:xfrm>
            <a:off x="9628632" y="2157984"/>
            <a:ext cx="1645920" cy="530352"/>
          </a:xfrm>
          <a:prstGeom prst="roundRect">
            <a:avLst>
              <a:gd name="adj" fmla="val 6897"/>
            </a:avLst>
          </a:prstGeom>
          <a:solidFill>
            <a:srgbClr val="1E2A47"/>
          </a:solidFill>
          <a:ln w="12700">
            <a:solidFill>
              <a:srgbClr val="1E2A47"/>
            </a:solidFill>
            <a:prstDash val="solid"/>
          </a:ln>
        </p:spPr>
      </p:sp>
      <p:sp>
        <p:nvSpPr>
          <p:cNvPr id="26" name="Text 24"/>
          <p:cNvSpPr txBox="1"/>
          <p:nvPr/>
        </p:nvSpPr>
        <p:spPr>
          <a:xfrm>
            <a:off x="9628632" y="2157984"/>
            <a:ext cx="1645920" cy="530352"/>
          </a:xfrm>
          <a:prstGeom prst="rect">
            <a:avLst/>
          </a:prstGeom>
          <a:noFill/>
          <a:ln/>
        </p:spPr>
        <p:txBody>
          <a:bodyPr wrap="square" lIns="0" tIns="0" rIns="0" bIns="0" rtlCol="0" anchor="ctr"/>
          <a:lstStyle/>
          <a:p>
            <a:pPr algn="ctr" indent="0" marL="0">
              <a:buNone/>
            </a:pPr>
            <a:r>
              <a:rPr lang="en-US" sz="1200" b="1" dirty="0">
                <a:solidFill>
                  <a:srgbClr val="E9EFFA"/>
                </a:solidFill>
                <a:latin typeface="Calibri" pitchFamily="34" charset="0"/>
                <a:ea typeface="Calibri" pitchFamily="34" charset="-122"/>
                <a:cs typeface="Calibri" pitchFamily="34" charset="-120"/>
              </a:rPr>
              <a:t>policy</a:t>
            </a:r>
            <a:endParaRPr lang="en-US" sz="1200" dirty="0"/>
          </a:p>
        </p:txBody>
      </p:sp>
      <p:sp>
        <p:nvSpPr>
          <p:cNvPr id="27" name="Shape 25"/>
          <p:cNvSpPr/>
          <p:nvPr/>
        </p:nvSpPr>
        <p:spPr>
          <a:xfrm>
            <a:off x="6062472" y="2816352"/>
            <a:ext cx="1645920" cy="530352"/>
          </a:xfrm>
          <a:prstGeom prst="roundRect">
            <a:avLst>
              <a:gd name="adj" fmla="val 6897"/>
            </a:avLst>
          </a:prstGeom>
          <a:solidFill>
            <a:srgbClr val="1E2A47"/>
          </a:solidFill>
          <a:ln w="12700">
            <a:solidFill>
              <a:srgbClr val="1E2A47"/>
            </a:solidFill>
            <a:prstDash val="solid"/>
          </a:ln>
        </p:spPr>
      </p:sp>
      <p:sp>
        <p:nvSpPr>
          <p:cNvPr id="28" name="Text 26"/>
          <p:cNvSpPr txBox="1"/>
          <p:nvPr/>
        </p:nvSpPr>
        <p:spPr>
          <a:xfrm>
            <a:off x="6062472" y="2816352"/>
            <a:ext cx="1645920" cy="530352"/>
          </a:xfrm>
          <a:prstGeom prst="rect">
            <a:avLst/>
          </a:prstGeom>
          <a:noFill/>
          <a:ln/>
        </p:spPr>
        <p:txBody>
          <a:bodyPr wrap="square" lIns="0" tIns="0" rIns="0" bIns="0" rtlCol="0" anchor="ctr"/>
          <a:lstStyle/>
          <a:p>
            <a:pPr algn="ctr" indent="0" marL="0">
              <a:buNone/>
            </a:pPr>
            <a:r>
              <a:rPr lang="en-US" sz="1200" b="1" dirty="0">
                <a:solidFill>
                  <a:srgbClr val="E9EFFA"/>
                </a:solidFill>
                <a:latin typeface="Calibri" pitchFamily="34" charset="0"/>
                <a:ea typeface="Calibri" pitchFamily="34" charset="-122"/>
                <a:cs typeface="Calibri" pitchFamily="34" charset="-120"/>
              </a:rPr>
              <a:t>executor</a:t>
            </a:r>
            <a:endParaRPr lang="en-US" sz="1200" dirty="0"/>
          </a:p>
        </p:txBody>
      </p:sp>
      <p:sp>
        <p:nvSpPr>
          <p:cNvPr id="29" name="Shape 27"/>
          <p:cNvSpPr/>
          <p:nvPr/>
        </p:nvSpPr>
        <p:spPr>
          <a:xfrm>
            <a:off x="7845552" y="2816352"/>
            <a:ext cx="1645920" cy="530352"/>
          </a:xfrm>
          <a:prstGeom prst="roundRect">
            <a:avLst>
              <a:gd name="adj" fmla="val 6897"/>
            </a:avLst>
          </a:prstGeom>
          <a:solidFill>
            <a:srgbClr val="1E2A47"/>
          </a:solidFill>
          <a:ln w="12700">
            <a:solidFill>
              <a:srgbClr val="1E2A47"/>
            </a:solidFill>
            <a:prstDash val="solid"/>
          </a:ln>
        </p:spPr>
      </p:sp>
      <p:sp>
        <p:nvSpPr>
          <p:cNvPr id="30" name="Text 28"/>
          <p:cNvSpPr txBox="1"/>
          <p:nvPr/>
        </p:nvSpPr>
        <p:spPr>
          <a:xfrm>
            <a:off x="7845552" y="2816352"/>
            <a:ext cx="1645920" cy="530352"/>
          </a:xfrm>
          <a:prstGeom prst="rect">
            <a:avLst/>
          </a:prstGeom>
          <a:noFill/>
          <a:ln/>
        </p:spPr>
        <p:txBody>
          <a:bodyPr wrap="square" lIns="0" tIns="0" rIns="0" bIns="0" rtlCol="0" anchor="ctr"/>
          <a:lstStyle/>
          <a:p>
            <a:pPr algn="ctr" indent="0" marL="0">
              <a:buNone/>
            </a:pPr>
            <a:r>
              <a:rPr lang="en-US" sz="1200" b="1" dirty="0">
                <a:solidFill>
                  <a:srgbClr val="E9EFFA"/>
                </a:solidFill>
                <a:latin typeface="Calibri" pitchFamily="34" charset="0"/>
                <a:ea typeface="Calibri" pitchFamily="34" charset="-122"/>
                <a:cs typeface="Calibri" pitchFamily="34" charset="-120"/>
              </a:rPr>
              <a:t>verifier</a:t>
            </a:r>
            <a:endParaRPr lang="en-US" sz="1200" dirty="0"/>
          </a:p>
        </p:txBody>
      </p:sp>
      <p:sp>
        <p:nvSpPr>
          <p:cNvPr id="31" name="Shape 29"/>
          <p:cNvSpPr/>
          <p:nvPr/>
        </p:nvSpPr>
        <p:spPr>
          <a:xfrm>
            <a:off x="9628632" y="2816352"/>
            <a:ext cx="1645920" cy="530352"/>
          </a:xfrm>
          <a:prstGeom prst="roundRect">
            <a:avLst>
              <a:gd name="adj" fmla="val 6897"/>
            </a:avLst>
          </a:prstGeom>
          <a:solidFill>
            <a:srgbClr val="1E2A47"/>
          </a:solidFill>
          <a:ln w="12700">
            <a:solidFill>
              <a:srgbClr val="1E2A47"/>
            </a:solidFill>
            <a:prstDash val="solid"/>
          </a:ln>
        </p:spPr>
      </p:sp>
      <p:sp>
        <p:nvSpPr>
          <p:cNvPr id="32" name="Text 30"/>
          <p:cNvSpPr txBox="1"/>
          <p:nvPr/>
        </p:nvSpPr>
        <p:spPr>
          <a:xfrm>
            <a:off x="9628632" y="2816352"/>
            <a:ext cx="1645920" cy="530352"/>
          </a:xfrm>
          <a:prstGeom prst="rect">
            <a:avLst/>
          </a:prstGeom>
          <a:noFill/>
          <a:ln/>
        </p:spPr>
        <p:txBody>
          <a:bodyPr wrap="square" lIns="0" tIns="0" rIns="0" bIns="0" rtlCol="0" anchor="ctr"/>
          <a:lstStyle/>
          <a:p>
            <a:pPr algn="ctr" indent="0" marL="0">
              <a:buNone/>
            </a:pPr>
            <a:r>
              <a:rPr lang="en-US" sz="1200" b="1" dirty="0">
                <a:solidFill>
                  <a:srgbClr val="E9EFFA"/>
                </a:solidFill>
                <a:latin typeface="Calibri" pitchFamily="34" charset="0"/>
                <a:ea typeface="Calibri" pitchFamily="34" charset="-122"/>
                <a:cs typeface="Calibri" pitchFamily="34" charset="-120"/>
              </a:rPr>
              <a:t>audit</a:t>
            </a:r>
            <a:endParaRPr lang="en-US" sz="1200" dirty="0"/>
          </a:p>
        </p:txBody>
      </p:sp>
      <p:sp>
        <p:nvSpPr>
          <p:cNvPr id="33" name="Text 31"/>
          <p:cNvSpPr txBox="1"/>
          <p:nvPr/>
        </p:nvSpPr>
        <p:spPr>
          <a:xfrm>
            <a:off x="6062472" y="3529584"/>
            <a:ext cx="5394960" cy="237744"/>
          </a:xfrm>
          <a:prstGeom prst="rect">
            <a:avLst/>
          </a:prstGeom>
          <a:noFill/>
          <a:ln/>
        </p:spPr>
        <p:txBody>
          <a:bodyPr wrap="square" lIns="0" tIns="0" rIns="0" bIns="0" rtlCol="0" anchor="ctr"/>
          <a:lstStyle/>
          <a:p>
            <a:pPr indent="0" marL="0">
              <a:buNone/>
            </a:pPr>
            <a:r>
              <a:rPr lang="en-US" sz="1100" dirty="0">
                <a:solidFill>
                  <a:srgbClr val="94A8C4"/>
                </a:solidFill>
                <a:latin typeface="Calibri" pitchFamily="34" charset="0"/>
                <a:ea typeface="Calibri" pitchFamily="34" charset="-122"/>
                <a:cs typeface="Calibri" pitchFamily="34" charset="-120"/>
              </a:rPr>
              <a:t>A tool that diagnoses an outage must not be part of the outage.</a:t>
            </a:r>
            <a:endParaRPr lang="en-US" sz="1100" dirty="0"/>
          </a:p>
        </p:txBody>
      </p:sp>
      <p:sp>
        <p:nvSpPr>
          <p:cNvPr id="34" name="Shape 32"/>
          <p:cNvSpPr/>
          <p:nvPr/>
        </p:nvSpPr>
        <p:spPr>
          <a:xfrm>
            <a:off x="548640" y="3968496"/>
            <a:ext cx="3529584" cy="868680"/>
          </a:xfrm>
          <a:prstGeom prst="roundRect">
            <a:avLst>
              <a:gd name="adj" fmla="val 4211"/>
            </a:avLst>
          </a:prstGeom>
          <a:solidFill>
            <a:srgbClr val="16213A"/>
          </a:solidFill>
          <a:ln w="12700">
            <a:solidFill>
              <a:srgbClr val="1E2A47"/>
            </a:solidFill>
            <a:prstDash val="solid"/>
          </a:ln>
        </p:spPr>
      </p:sp>
      <p:sp>
        <p:nvSpPr>
          <p:cNvPr id="35" name="Text 33"/>
          <p:cNvSpPr txBox="1"/>
          <p:nvPr/>
        </p:nvSpPr>
        <p:spPr>
          <a:xfrm>
            <a:off x="768096" y="4087368"/>
            <a:ext cx="3108960" cy="274320"/>
          </a:xfrm>
          <a:prstGeom prst="rect">
            <a:avLst/>
          </a:prstGeom>
          <a:noFill/>
          <a:ln/>
        </p:spPr>
        <p:txBody>
          <a:bodyPr wrap="square" lIns="0" tIns="0" rIns="0" bIns="0" rtlCol="0" anchor="ctr"/>
          <a:lstStyle/>
          <a:p>
            <a:pPr indent="0" marL="0">
              <a:buNone/>
            </a:pPr>
            <a:r>
              <a:rPr lang="en-US" sz="1300" b="1" dirty="0">
                <a:solidFill>
                  <a:srgbClr val="22D3EE"/>
                </a:solidFill>
                <a:latin typeface="Arial" pitchFamily="34" charset="0"/>
                <a:ea typeface="Arial" pitchFamily="34" charset="-122"/>
                <a:cs typeface="Arial" pitchFamily="34" charset="-120"/>
              </a:rPr>
              <a:t>Prometheus</a:t>
            </a:r>
            <a:endParaRPr lang="en-US" sz="1300" dirty="0"/>
          </a:p>
        </p:txBody>
      </p:sp>
      <p:sp>
        <p:nvSpPr>
          <p:cNvPr id="36" name="Text 34"/>
          <p:cNvSpPr txBox="1"/>
          <p:nvPr/>
        </p:nvSpPr>
        <p:spPr>
          <a:xfrm>
            <a:off x="768096" y="4370832"/>
            <a:ext cx="3108960" cy="402336"/>
          </a:xfrm>
          <a:prstGeom prst="rect">
            <a:avLst/>
          </a:prstGeom>
          <a:noFill/>
          <a:ln/>
        </p:spPr>
        <p:txBody>
          <a:bodyPr wrap="square" lIns="0" tIns="0" rIns="0" bIns="0" rtlCol="0" anchor="ctr"/>
          <a:lstStyle/>
          <a:p>
            <a:pPr indent="0" marL="0">
              <a:lnSpc>
                <a:spcPts val="1300"/>
              </a:lnSpc>
              <a:buNone/>
            </a:pPr>
            <a:r>
              <a:rPr lang="en-US" sz="1100" dirty="0">
                <a:solidFill>
                  <a:srgbClr val="94A8C4"/>
                </a:solidFill>
                <a:latin typeface="Calibri" pitchFamily="34" charset="0"/>
                <a:ea typeface="Calibri" pitchFamily="34" charset="-122"/>
                <a:cs typeface="Calibri" pitchFamily="34" charset="-120"/>
              </a:rPr>
              <a:t>PromQL over HTTP, pull-based — the detector asks every 15s</a:t>
            </a:r>
            <a:endParaRPr lang="en-US" sz="1100" dirty="0"/>
          </a:p>
        </p:txBody>
      </p:sp>
      <p:sp>
        <p:nvSpPr>
          <p:cNvPr id="37" name="Shape 35"/>
          <p:cNvSpPr/>
          <p:nvPr/>
        </p:nvSpPr>
        <p:spPr>
          <a:xfrm>
            <a:off x="4261104" y="3968496"/>
            <a:ext cx="3529584" cy="868680"/>
          </a:xfrm>
          <a:prstGeom prst="roundRect">
            <a:avLst>
              <a:gd name="adj" fmla="val 4211"/>
            </a:avLst>
          </a:prstGeom>
          <a:solidFill>
            <a:srgbClr val="16213A"/>
          </a:solidFill>
          <a:ln w="12700">
            <a:solidFill>
              <a:srgbClr val="1E2A47"/>
            </a:solidFill>
            <a:prstDash val="solid"/>
          </a:ln>
        </p:spPr>
      </p:sp>
      <p:sp>
        <p:nvSpPr>
          <p:cNvPr id="38" name="Text 36"/>
          <p:cNvSpPr txBox="1"/>
          <p:nvPr/>
        </p:nvSpPr>
        <p:spPr>
          <a:xfrm>
            <a:off x="4480560" y="4087368"/>
            <a:ext cx="3108960" cy="274320"/>
          </a:xfrm>
          <a:prstGeom prst="rect">
            <a:avLst/>
          </a:prstGeom>
          <a:noFill/>
          <a:ln/>
        </p:spPr>
        <p:txBody>
          <a:bodyPr wrap="square" lIns="0" tIns="0" rIns="0" bIns="0" rtlCol="0" anchor="ctr"/>
          <a:lstStyle/>
          <a:p>
            <a:pPr indent="0" marL="0">
              <a:buNone/>
            </a:pPr>
            <a:r>
              <a:rPr lang="en-US" sz="1300" b="1" dirty="0">
                <a:solidFill>
                  <a:srgbClr val="22D3EE"/>
                </a:solidFill>
                <a:latin typeface="Arial" pitchFamily="34" charset="0"/>
                <a:ea typeface="Arial" pitchFamily="34" charset="-122"/>
                <a:cs typeface="Arial" pitchFamily="34" charset="-120"/>
              </a:rPr>
              <a:t>Kubernetes API</a:t>
            </a:r>
            <a:endParaRPr lang="en-US" sz="1300" dirty="0"/>
          </a:p>
        </p:txBody>
      </p:sp>
      <p:sp>
        <p:nvSpPr>
          <p:cNvPr id="39" name="Text 37"/>
          <p:cNvSpPr txBox="1"/>
          <p:nvPr/>
        </p:nvSpPr>
        <p:spPr>
          <a:xfrm>
            <a:off x="4480560" y="4370832"/>
            <a:ext cx="3108960" cy="402336"/>
          </a:xfrm>
          <a:prstGeom prst="rect">
            <a:avLst/>
          </a:prstGeom>
          <a:noFill/>
          <a:ln/>
        </p:spPr>
        <p:txBody>
          <a:bodyPr wrap="square" lIns="0" tIns="0" rIns="0" bIns="0" rtlCol="0" anchor="ctr"/>
          <a:lstStyle/>
          <a:p>
            <a:pPr indent="0" marL="0">
              <a:lnSpc>
                <a:spcPts val="1300"/>
              </a:lnSpc>
              <a:buNone/>
            </a:pPr>
            <a:r>
              <a:rPr lang="en-US" sz="1100" dirty="0">
                <a:solidFill>
                  <a:srgbClr val="94A8C4"/>
                </a:solidFill>
                <a:latin typeface="Calibri" pitchFamily="34" charset="0"/>
                <a:ea typeface="Calibri" pitchFamily="34" charset="-122"/>
                <a:cs typeface="Calibri" pitchFamily="34" charset="-120"/>
              </a:rPr>
              <a:t>Read, plus patch on exactly the allowed objects</a:t>
            </a:r>
            <a:endParaRPr lang="en-US" sz="1100" dirty="0"/>
          </a:p>
        </p:txBody>
      </p:sp>
      <p:sp>
        <p:nvSpPr>
          <p:cNvPr id="40" name="Shape 38"/>
          <p:cNvSpPr/>
          <p:nvPr/>
        </p:nvSpPr>
        <p:spPr>
          <a:xfrm>
            <a:off x="7973568" y="3968496"/>
            <a:ext cx="3529584" cy="868680"/>
          </a:xfrm>
          <a:prstGeom prst="roundRect">
            <a:avLst>
              <a:gd name="adj" fmla="val 4211"/>
            </a:avLst>
          </a:prstGeom>
          <a:solidFill>
            <a:srgbClr val="16213A"/>
          </a:solidFill>
          <a:ln w="12700">
            <a:solidFill>
              <a:srgbClr val="1E2A47"/>
            </a:solidFill>
            <a:prstDash val="solid"/>
          </a:ln>
        </p:spPr>
      </p:sp>
      <p:sp>
        <p:nvSpPr>
          <p:cNvPr id="41" name="Text 39"/>
          <p:cNvSpPr txBox="1"/>
          <p:nvPr/>
        </p:nvSpPr>
        <p:spPr>
          <a:xfrm>
            <a:off x="8193024" y="4087368"/>
            <a:ext cx="3108960" cy="274320"/>
          </a:xfrm>
          <a:prstGeom prst="rect">
            <a:avLst/>
          </a:prstGeom>
          <a:noFill/>
          <a:ln/>
        </p:spPr>
        <p:txBody>
          <a:bodyPr wrap="square" lIns="0" tIns="0" rIns="0" bIns="0" rtlCol="0" anchor="ctr"/>
          <a:lstStyle/>
          <a:p>
            <a:pPr indent="0" marL="0">
              <a:buNone/>
            </a:pPr>
            <a:r>
              <a:rPr lang="en-US" sz="1300" b="1" dirty="0">
                <a:solidFill>
                  <a:srgbClr val="34D399"/>
                </a:solidFill>
                <a:latin typeface="Arial" pitchFamily="34" charset="0"/>
                <a:ea typeface="Arial" pitchFamily="34" charset="-122"/>
                <a:cs typeface="Arial" pitchFamily="34" charset="-120"/>
              </a:rPr>
              <a:t>Claude Sonnet 5</a:t>
            </a:r>
            <a:endParaRPr lang="en-US" sz="1300" dirty="0"/>
          </a:p>
        </p:txBody>
      </p:sp>
      <p:sp>
        <p:nvSpPr>
          <p:cNvPr id="42" name="Text 40"/>
          <p:cNvSpPr txBox="1"/>
          <p:nvPr/>
        </p:nvSpPr>
        <p:spPr>
          <a:xfrm>
            <a:off x="8193024" y="4370832"/>
            <a:ext cx="3108960" cy="402336"/>
          </a:xfrm>
          <a:prstGeom prst="rect">
            <a:avLst/>
          </a:prstGeom>
          <a:noFill/>
          <a:ln/>
        </p:spPr>
        <p:txBody>
          <a:bodyPr wrap="square" lIns="0" tIns="0" rIns="0" bIns="0" rtlCol="0" anchor="ctr"/>
          <a:lstStyle/>
          <a:p>
            <a:pPr indent="0" marL="0">
              <a:lnSpc>
                <a:spcPts val="1300"/>
              </a:lnSpc>
              <a:buNone/>
            </a:pPr>
            <a:r>
              <a:rPr lang="en-US" sz="1100" dirty="0">
                <a:solidFill>
                  <a:srgbClr val="94A8C4"/>
                </a:solidFill>
                <a:latin typeface="Calibri" pitchFamily="34" charset="0"/>
                <a:ea typeface="Calibri" pitchFamily="34" charset="-122"/>
                <a:cs typeface="Calibri" pitchFamily="34" charset="-120"/>
              </a:rPr>
              <a:t>Tool-use loop for the investigation</a:t>
            </a:r>
            <a:endParaRPr lang="en-US" sz="1100" dirty="0"/>
          </a:p>
        </p:txBody>
      </p:sp>
      <p:sp>
        <p:nvSpPr>
          <p:cNvPr id="43" name="Shape 41"/>
          <p:cNvSpPr/>
          <p:nvPr/>
        </p:nvSpPr>
        <p:spPr>
          <a:xfrm>
            <a:off x="548640" y="4956048"/>
            <a:ext cx="3529584" cy="868680"/>
          </a:xfrm>
          <a:prstGeom prst="roundRect">
            <a:avLst>
              <a:gd name="adj" fmla="val 4211"/>
            </a:avLst>
          </a:prstGeom>
          <a:solidFill>
            <a:srgbClr val="16213A"/>
          </a:solidFill>
          <a:ln w="12700">
            <a:solidFill>
              <a:srgbClr val="1E2A47"/>
            </a:solidFill>
            <a:prstDash val="solid"/>
          </a:ln>
        </p:spPr>
      </p:sp>
      <p:sp>
        <p:nvSpPr>
          <p:cNvPr id="44" name="Text 42"/>
          <p:cNvSpPr txBox="1"/>
          <p:nvPr/>
        </p:nvSpPr>
        <p:spPr>
          <a:xfrm>
            <a:off x="768096" y="5074920"/>
            <a:ext cx="3108960" cy="274320"/>
          </a:xfrm>
          <a:prstGeom prst="rect">
            <a:avLst/>
          </a:prstGeom>
          <a:noFill/>
          <a:ln/>
        </p:spPr>
        <p:txBody>
          <a:bodyPr wrap="square" lIns="0" tIns="0" rIns="0" bIns="0" rtlCol="0" anchor="ctr"/>
          <a:lstStyle/>
          <a:p>
            <a:pPr indent="0" marL="0">
              <a:buNone/>
            </a:pPr>
            <a:r>
              <a:rPr lang="en-US" sz="1300" b="1" dirty="0">
                <a:solidFill>
                  <a:srgbClr val="34D399"/>
                </a:solidFill>
                <a:latin typeface="Arial" pitchFamily="34" charset="0"/>
                <a:ea typeface="Arial" pitchFamily="34" charset="-122"/>
                <a:cs typeface="Arial" pitchFamily="34" charset="-120"/>
              </a:rPr>
              <a:t>Supabase</a:t>
            </a:r>
            <a:endParaRPr lang="en-US" sz="1300" dirty="0"/>
          </a:p>
        </p:txBody>
      </p:sp>
      <p:sp>
        <p:nvSpPr>
          <p:cNvPr id="45" name="Text 43"/>
          <p:cNvSpPr txBox="1"/>
          <p:nvPr/>
        </p:nvSpPr>
        <p:spPr>
          <a:xfrm>
            <a:off x="768096" y="5358384"/>
            <a:ext cx="3108960" cy="402336"/>
          </a:xfrm>
          <a:prstGeom prst="rect">
            <a:avLst/>
          </a:prstGeom>
          <a:noFill/>
          <a:ln/>
        </p:spPr>
        <p:txBody>
          <a:bodyPr wrap="square" lIns="0" tIns="0" rIns="0" bIns="0" rtlCol="0" anchor="ctr"/>
          <a:lstStyle/>
          <a:p>
            <a:pPr indent="0" marL="0">
              <a:lnSpc>
                <a:spcPts val="1300"/>
              </a:lnSpc>
              <a:buNone/>
            </a:pPr>
            <a:r>
              <a:rPr lang="en-US" sz="1100" dirty="0">
                <a:solidFill>
                  <a:srgbClr val="94A8C4"/>
                </a:solidFill>
                <a:latin typeface="Calibri" pitchFamily="34" charset="0"/>
                <a:ea typeface="Calibri" pitchFamily="34" charset="-122"/>
                <a:cs typeface="Calibri" pitchFamily="34" charset="-120"/>
              </a:rPr>
              <a:t>SentinelOps’ own Postgres — deliberately separate</a:t>
            </a:r>
            <a:endParaRPr lang="en-US" sz="1100" dirty="0"/>
          </a:p>
        </p:txBody>
      </p:sp>
      <p:sp>
        <p:nvSpPr>
          <p:cNvPr id="46" name="Shape 44"/>
          <p:cNvSpPr/>
          <p:nvPr/>
        </p:nvSpPr>
        <p:spPr>
          <a:xfrm>
            <a:off x="4261104" y="4956048"/>
            <a:ext cx="3529584" cy="868680"/>
          </a:xfrm>
          <a:prstGeom prst="roundRect">
            <a:avLst>
              <a:gd name="adj" fmla="val 4211"/>
            </a:avLst>
          </a:prstGeom>
          <a:solidFill>
            <a:srgbClr val="16213A"/>
          </a:solidFill>
          <a:ln w="12700">
            <a:solidFill>
              <a:srgbClr val="1E2A47"/>
            </a:solidFill>
            <a:prstDash val="solid"/>
          </a:ln>
        </p:spPr>
      </p:sp>
      <p:sp>
        <p:nvSpPr>
          <p:cNvPr id="47" name="Text 45"/>
          <p:cNvSpPr txBox="1"/>
          <p:nvPr/>
        </p:nvSpPr>
        <p:spPr>
          <a:xfrm>
            <a:off x="4480560" y="5074920"/>
            <a:ext cx="3108960" cy="274320"/>
          </a:xfrm>
          <a:prstGeom prst="rect">
            <a:avLst/>
          </a:prstGeom>
          <a:noFill/>
          <a:ln/>
        </p:spPr>
        <p:txBody>
          <a:bodyPr wrap="square" lIns="0" tIns="0" rIns="0" bIns="0" rtlCol="0" anchor="ctr"/>
          <a:lstStyle/>
          <a:p>
            <a:pPr indent="0" marL="0">
              <a:buNone/>
            </a:pPr>
            <a:r>
              <a:rPr lang="en-US" sz="1300" b="1" dirty="0">
                <a:solidFill>
                  <a:srgbClr val="FBBF24"/>
                </a:solidFill>
                <a:latin typeface="Arial" pitchFamily="34" charset="0"/>
                <a:ea typeface="Arial" pitchFamily="34" charset="-122"/>
                <a:cs typeface="Arial" pitchFamily="34" charset="-120"/>
              </a:rPr>
              <a:t>Freshservice</a:t>
            </a:r>
            <a:endParaRPr lang="en-US" sz="1300" dirty="0"/>
          </a:p>
        </p:txBody>
      </p:sp>
      <p:sp>
        <p:nvSpPr>
          <p:cNvPr id="48" name="Text 46"/>
          <p:cNvSpPr txBox="1"/>
          <p:nvPr/>
        </p:nvSpPr>
        <p:spPr>
          <a:xfrm>
            <a:off x="4480560" y="5358384"/>
            <a:ext cx="3108960" cy="402336"/>
          </a:xfrm>
          <a:prstGeom prst="rect">
            <a:avLst/>
          </a:prstGeom>
          <a:noFill/>
          <a:ln/>
        </p:spPr>
        <p:txBody>
          <a:bodyPr wrap="square" lIns="0" tIns="0" rIns="0" bIns="0" rtlCol="0" anchor="ctr"/>
          <a:lstStyle/>
          <a:p>
            <a:pPr indent="0" marL="0">
              <a:lnSpc>
                <a:spcPts val="1300"/>
              </a:lnSpc>
              <a:buNone/>
            </a:pPr>
            <a:r>
              <a:rPr lang="en-US" sz="1100" dirty="0">
                <a:solidFill>
                  <a:srgbClr val="94A8C4"/>
                </a:solidFill>
                <a:latin typeface="Calibri" pitchFamily="34" charset="0"/>
                <a:ea typeface="Calibri" pitchFamily="34" charset="-122"/>
                <a:cs typeface="Calibri" pitchFamily="34" charset="-120"/>
              </a:rPr>
              <a:t>Tickets, changes, and approvals read back</a:t>
            </a:r>
            <a:endParaRPr lang="en-US" sz="1100" dirty="0"/>
          </a:p>
        </p:txBody>
      </p:sp>
      <p:sp>
        <p:nvSpPr>
          <p:cNvPr id="49" name="Shape 47"/>
          <p:cNvSpPr/>
          <p:nvPr/>
        </p:nvSpPr>
        <p:spPr>
          <a:xfrm>
            <a:off x="7973568" y="4956048"/>
            <a:ext cx="3529584" cy="868680"/>
          </a:xfrm>
          <a:prstGeom prst="roundRect">
            <a:avLst>
              <a:gd name="adj" fmla="val 4211"/>
            </a:avLst>
          </a:prstGeom>
          <a:solidFill>
            <a:srgbClr val="16213A"/>
          </a:solidFill>
          <a:ln w="12700">
            <a:solidFill>
              <a:srgbClr val="1E2A47"/>
            </a:solidFill>
            <a:prstDash val="solid"/>
          </a:ln>
        </p:spPr>
      </p:sp>
      <p:sp>
        <p:nvSpPr>
          <p:cNvPr id="50" name="Text 48"/>
          <p:cNvSpPr txBox="1"/>
          <p:nvPr/>
        </p:nvSpPr>
        <p:spPr>
          <a:xfrm>
            <a:off x="8193024" y="5074920"/>
            <a:ext cx="3108960" cy="274320"/>
          </a:xfrm>
          <a:prstGeom prst="rect">
            <a:avLst/>
          </a:prstGeom>
          <a:noFill/>
          <a:ln/>
        </p:spPr>
        <p:txBody>
          <a:bodyPr wrap="square" lIns="0" tIns="0" rIns="0" bIns="0" rtlCol="0" anchor="ctr"/>
          <a:lstStyle/>
          <a:p>
            <a:pPr indent="0" marL="0">
              <a:buNone/>
            </a:pPr>
            <a:r>
              <a:rPr lang="en-US" sz="1300" b="1" dirty="0">
                <a:solidFill>
                  <a:srgbClr val="FBBF24"/>
                </a:solidFill>
                <a:latin typeface="Arial" pitchFamily="34" charset="0"/>
                <a:ea typeface="Arial" pitchFamily="34" charset="-122"/>
                <a:cs typeface="Arial" pitchFamily="34" charset="-120"/>
              </a:rPr>
              <a:t>Vobiz + TTS</a:t>
            </a:r>
            <a:endParaRPr lang="en-US" sz="1300" dirty="0"/>
          </a:p>
        </p:txBody>
      </p:sp>
      <p:sp>
        <p:nvSpPr>
          <p:cNvPr id="51" name="Text 49"/>
          <p:cNvSpPr txBox="1"/>
          <p:nvPr/>
        </p:nvSpPr>
        <p:spPr>
          <a:xfrm>
            <a:off x="8193024" y="5358384"/>
            <a:ext cx="3108960" cy="402336"/>
          </a:xfrm>
          <a:prstGeom prst="rect">
            <a:avLst/>
          </a:prstGeom>
          <a:noFill/>
          <a:ln/>
        </p:spPr>
        <p:txBody>
          <a:bodyPr wrap="square" lIns="0" tIns="0" rIns="0" bIns="0" rtlCol="0" anchor="ctr"/>
          <a:lstStyle/>
          <a:p>
            <a:pPr indent="0" marL="0">
              <a:lnSpc>
                <a:spcPts val="1300"/>
              </a:lnSpc>
              <a:buNone/>
            </a:pPr>
            <a:r>
              <a:rPr lang="en-US" sz="1100" dirty="0">
                <a:solidFill>
                  <a:srgbClr val="94A8C4"/>
                </a:solidFill>
                <a:latin typeface="Calibri" pitchFamily="34" charset="0"/>
                <a:ea typeface="Calibri" pitchFamily="34" charset="-122"/>
                <a:cs typeface="Calibri" pitchFamily="34" charset="-120"/>
              </a:rPr>
              <a:t>Phones the on-call engineer when a fix waits</a:t>
            </a:r>
            <a:endParaRPr lang="en-US" sz="1100" dirty="0"/>
          </a:p>
        </p:txBody>
      </p:sp>
      <p:sp>
        <p:nvSpPr>
          <p:cNvPr id="52" name="Text 50"/>
          <p:cNvSpPr txBox="1"/>
          <p:nvPr/>
        </p:nvSpPr>
        <p:spPr>
          <a:xfrm>
            <a:off x="548640" y="6400800"/>
            <a:ext cx="3657600" cy="256032"/>
          </a:xfrm>
          <a:prstGeom prst="rect">
            <a:avLst/>
          </a:prstGeom>
          <a:noFill/>
          <a:ln/>
        </p:spPr>
        <p:txBody>
          <a:bodyPr wrap="square" lIns="0" tIns="0" rIns="0" bIns="0" rtlCol="0" anchor="ctr"/>
          <a:lstStyle/>
          <a:p>
            <a:pPr indent="0" marL="0">
              <a:buNone/>
            </a:pPr>
            <a:r>
              <a:rPr lang="en-US" sz="1000" dirty="0">
                <a:solidFill>
                  <a:srgbClr val="5A6E8C"/>
                </a:solidFill>
                <a:latin typeface="Calibri" pitchFamily="34" charset="0"/>
                <a:ea typeface="Calibri" pitchFamily="34" charset="-122"/>
                <a:cs typeface="Calibri" pitchFamily="34" charset="-120"/>
              </a:rPr>
              <a:t>SentinelOps AI</a:t>
            </a:r>
            <a:endParaRPr lang="en-US" sz="1000" dirty="0"/>
          </a:p>
        </p:txBody>
      </p:sp>
      <p:sp>
        <p:nvSpPr>
          <p:cNvPr id="53" name="Text 51"/>
          <p:cNvSpPr txBox="1"/>
          <p:nvPr/>
        </p:nvSpPr>
        <p:spPr>
          <a:xfrm>
            <a:off x="10725912" y="6400800"/>
            <a:ext cx="914400" cy="256032"/>
          </a:xfrm>
          <a:prstGeom prst="rect">
            <a:avLst/>
          </a:prstGeom>
          <a:noFill/>
          <a:ln/>
        </p:spPr>
        <p:txBody>
          <a:bodyPr wrap="square" lIns="0" tIns="0" rIns="0" bIns="0" rtlCol="0" anchor="ctr"/>
          <a:lstStyle/>
          <a:p>
            <a:pPr algn="r" indent="0" marL="0">
              <a:buNone/>
            </a:pPr>
            <a:r>
              <a:rPr lang="en-US" sz="1000" dirty="0">
                <a:solidFill>
                  <a:srgbClr val="5A6E8C"/>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411480"/>
            <a:ext cx="10058400" cy="256032"/>
          </a:xfrm>
          <a:prstGeom prst="rect">
            <a:avLst/>
          </a:prstGeom>
          <a:noFill/>
          <a:ln/>
        </p:spPr>
        <p:txBody>
          <a:bodyPr wrap="square" lIns="0" tIns="0" rIns="0" bIns="0" rtlCol="0" anchor="ctr"/>
          <a:lstStyle/>
          <a:p>
            <a:pPr indent="0" marL="0">
              <a:buNone/>
            </a:pPr>
            <a:r>
              <a:rPr lang="en-US" sz="1200" b="1" spc="200" kern="0" dirty="0">
                <a:solidFill>
                  <a:srgbClr val="22D3EE"/>
                </a:solidFill>
                <a:latin typeface="Calibri" pitchFamily="34" charset="0"/>
                <a:ea typeface="Calibri" pitchFamily="34" charset="-122"/>
                <a:cs typeface="Calibri" pitchFamily="34" charset="-120"/>
              </a:rPr>
              <a:t>EFFECTIVENESS OF THE AI AND AGENTIC DESIGN</a:t>
            </a:r>
            <a:endParaRPr lang="en-US" sz="1200" dirty="0"/>
          </a:p>
        </p:txBody>
      </p:sp>
      <p:sp>
        <p:nvSpPr>
          <p:cNvPr id="3" name="Text 1"/>
          <p:cNvSpPr txBox="1"/>
          <p:nvPr/>
        </p:nvSpPr>
        <p:spPr>
          <a:xfrm>
            <a:off x="548640" y="722376"/>
            <a:ext cx="11064240" cy="475488"/>
          </a:xfrm>
          <a:prstGeom prst="rect">
            <a:avLst/>
          </a:prstGeom>
          <a:noFill/>
          <a:ln/>
        </p:spPr>
        <p:txBody>
          <a:bodyPr wrap="square" lIns="0" tIns="0" rIns="0" bIns="0" rtlCol="0" anchor="ctr"/>
          <a:lstStyle/>
          <a:p>
            <a:pPr indent="0" marL="0">
              <a:buNone/>
            </a:pPr>
            <a:r>
              <a:rPr lang="en-US" sz="3000" b="1" dirty="0">
                <a:solidFill>
                  <a:srgbClr val="E9EFFA"/>
                </a:solidFill>
                <a:latin typeface="Arial" pitchFamily="34" charset="0"/>
                <a:ea typeface="Arial" pitchFamily="34" charset="-122"/>
                <a:cs typeface="Arial" pitchFamily="34" charset="-120"/>
              </a:rPr>
              <a:t>AI-native by construction, not bolted on</a:t>
            </a:r>
            <a:endParaRPr lang="en-US" sz="3000" dirty="0"/>
          </a:p>
        </p:txBody>
      </p:sp>
      <p:sp>
        <p:nvSpPr>
          <p:cNvPr id="4" name="Shape 2"/>
          <p:cNvSpPr/>
          <p:nvPr/>
        </p:nvSpPr>
        <p:spPr>
          <a:xfrm>
            <a:off x="548640" y="1591056"/>
            <a:ext cx="5486400" cy="1645920"/>
          </a:xfrm>
          <a:prstGeom prst="roundRect">
            <a:avLst>
              <a:gd name="adj" fmla="val 2222"/>
            </a:avLst>
          </a:prstGeom>
          <a:solidFill>
            <a:srgbClr val="16213A"/>
          </a:solidFill>
          <a:ln w="12700">
            <a:solidFill>
              <a:srgbClr val="1E2A47"/>
            </a:solidFill>
            <a:prstDash val="solid"/>
          </a:ln>
        </p:spPr>
      </p:sp>
      <p:sp>
        <p:nvSpPr>
          <p:cNvPr id="5" name="Shape 3"/>
          <p:cNvSpPr/>
          <p:nvPr/>
        </p:nvSpPr>
        <p:spPr>
          <a:xfrm>
            <a:off x="804672" y="1828800"/>
            <a:ext cx="384048" cy="384048"/>
          </a:xfrm>
          <a:prstGeom prst="roundRect">
            <a:avLst>
              <a:gd name="adj" fmla="val 23810"/>
            </a:avLst>
          </a:prstGeom>
          <a:solidFill>
            <a:srgbClr val="1E2A47"/>
          </a:solidFill>
          <a:ln w="12700">
            <a:solidFill>
              <a:srgbClr val="22D3EE"/>
            </a:solidFill>
            <a:prstDash val="solid"/>
          </a:ln>
        </p:spPr>
      </p:sp>
      <p:sp>
        <p:nvSpPr>
          <p:cNvPr id="6" name="Text 4"/>
          <p:cNvSpPr txBox="1"/>
          <p:nvPr/>
        </p:nvSpPr>
        <p:spPr>
          <a:xfrm>
            <a:off x="804672" y="1828800"/>
            <a:ext cx="384048" cy="384048"/>
          </a:xfrm>
          <a:prstGeom prst="rect">
            <a:avLst/>
          </a:prstGeom>
          <a:noFill/>
          <a:ln/>
        </p:spPr>
        <p:txBody>
          <a:bodyPr wrap="square" lIns="0" tIns="0" rIns="0" bIns="0" rtlCol="0" anchor="ctr"/>
          <a:lstStyle/>
          <a:p>
            <a:pPr algn="ctr" indent="0" marL="0">
              <a:buNone/>
            </a:pPr>
            <a:r>
              <a:rPr lang="en-US" sz="1400" b="1" dirty="0">
                <a:solidFill>
                  <a:srgbClr val="22D3EE"/>
                </a:solidFill>
                <a:latin typeface="Arial" pitchFamily="34" charset="0"/>
                <a:ea typeface="Arial" pitchFamily="34" charset="-122"/>
                <a:cs typeface="Arial" pitchFamily="34" charset="-120"/>
              </a:rPr>
              <a:t>⚙</a:t>
            </a:r>
            <a:endParaRPr lang="en-US" sz="1400" dirty="0"/>
          </a:p>
        </p:txBody>
      </p:sp>
      <p:sp>
        <p:nvSpPr>
          <p:cNvPr id="7" name="Text 5"/>
          <p:cNvSpPr txBox="1"/>
          <p:nvPr/>
        </p:nvSpPr>
        <p:spPr>
          <a:xfrm>
            <a:off x="1298448" y="1847088"/>
            <a:ext cx="4480560" cy="347472"/>
          </a:xfrm>
          <a:prstGeom prst="rect">
            <a:avLst/>
          </a:prstGeom>
          <a:noFill/>
          <a:ln/>
        </p:spPr>
        <p:txBody>
          <a:bodyPr wrap="square" lIns="0" tIns="0" rIns="0" bIns="0" rtlCol="0" anchor="ctr"/>
          <a:lstStyle/>
          <a:p>
            <a:pPr indent="0" marL="0">
              <a:buNone/>
            </a:pPr>
            <a:r>
              <a:rPr lang="en-US" sz="1500" b="1" dirty="0">
                <a:solidFill>
                  <a:srgbClr val="E9EFFA"/>
                </a:solidFill>
                <a:latin typeface="Arial" pitchFamily="34" charset="0"/>
                <a:ea typeface="Arial" pitchFamily="34" charset="-122"/>
                <a:cs typeface="Arial" pitchFamily="34" charset="-120"/>
              </a:rPr>
              <a:t>An agent, not a prompt</a:t>
            </a:r>
            <a:endParaRPr lang="en-US" sz="1500" dirty="0"/>
          </a:p>
        </p:txBody>
      </p:sp>
      <p:sp>
        <p:nvSpPr>
          <p:cNvPr id="8" name="Text 6"/>
          <p:cNvSpPr txBox="1"/>
          <p:nvPr/>
        </p:nvSpPr>
        <p:spPr>
          <a:xfrm>
            <a:off x="804672" y="2340864"/>
            <a:ext cx="4974336" cy="685800"/>
          </a:xfrm>
          <a:prstGeom prst="rect">
            <a:avLst/>
          </a:prstGeom>
          <a:noFill/>
          <a:ln/>
        </p:spPr>
        <p:txBody>
          <a:bodyPr wrap="square" lIns="0" tIns="0" rIns="0" bIns="0" rtlCol="0" anchor="ctr"/>
          <a:lstStyle/>
          <a:p>
            <a:pPr indent="0" marL="0">
              <a:lnSpc>
                <a:spcPts val="1700"/>
              </a:lnSpc>
              <a:buNone/>
            </a:pPr>
            <a:r>
              <a:rPr lang="en-US" sz="1300" dirty="0">
                <a:solidFill>
                  <a:srgbClr val="94A8C4"/>
                </a:solidFill>
                <a:latin typeface="Calibri" pitchFamily="34" charset="0"/>
                <a:ea typeface="Calibri" pitchFamily="34" charset="-122"/>
                <a:cs typeface="Calibri" pitchFamily="34" charset="-120"/>
              </a:rPr>
              <a:t>Claude Sonnet 5 runs a tool-use loop: it chooses which of nine read-only tools to call, reads the result, and decides the next step. Metrics, pod logs, pod status, deployment config, Service definition, rollout history, database settings, dependencies, and a live TCP probe from inside a pod.</a:t>
            </a:r>
            <a:endParaRPr lang="en-US" sz="1300" dirty="0"/>
          </a:p>
        </p:txBody>
      </p:sp>
      <p:sp>
        <p:nvSpPr>
          <p:cNvPr id="9" name="Shape 7"/>
          <p:cNvSpPr/>
          <p:nvPr/>
        </p:nvSpPr>
        <p:spPr>
          <a:xfrm>
            <a:off x="548640" y="3374136"/>
            <a:ext cx="5486400" cy="1645920"/>
          </a:xfrm>
          <a:prstGeom prst="roundRect">
            <a:avLst>
              <a:gd name="adj" fmla="val 2222"/>
            </a:avLst>
          </a:prstGeom>
          <a:solidFill>
            <a:srgbClr val="16213A"/>
          </a:solidFill>
          <a:ln w="12700">
            <a:solidFill>
              <a:srgbClr val="1E2A47"/>
            </a:solidFill>
            <a:prstDash val="solid"/>
          </a:ln>
        </p:spPr>
      </p:sp>
      <p:sp>
        <p:nvSpPr>
          <p:cNvPr id="10" name="Shape 8"/>
          <p:cNvSpPr/>
          <p:nvPr/>
        </p:nvSpPr>
        <p:spPr>
          <a:xfrm>
            <a:off x="804672" y="3611880"/>
            <a:ext cx="384048" cy="384048"/>
          </a:xfrm>
          <a:prstGeom prst="roundRect">
            <a:avLst>
              <a:gd name="adj" fmla="val 23810"/>
            </a:avLst>
          </a:prstGeom>
          <a:solidFill>
            <a:srgbClr val="1E2A47"/>
          </a:solidFill>
          <a:ln w="12700">
            <a:solidFill>
              <a:srgbClr val="34D399"/>
            </a:solidFill>
            <a:prstDash val="solid"/>
          </a:ln>
        </p:spPr>
      </p:sp>
      <p:sp>
        <p:nvSpPr>
          <p:cNvPr id="11" name="Text 9"/>
          <p:cNvSpPr txBox="1"/>
          <p:nvPr/>
        </p:nvSpPr>
        <p:spPr>
          <a:xfrm>
            <a:off x="804672" y="3611880"/>
            <a:ext cx="384048" cy="384048"/>
          </a:xfrm>
          <a:prstGeom prst="rect">
            <a:avLst/>
          </a:prstGeom>
          <a:noFill/>
          <a:ln/>
        </p:spPr>
        <p:txBody>
          <a:bodyPr wrap="square" lIns="0" tIns="0" rIns="0" bIns="0" rtlCol="0" anchor="ctr"/>
          <a:lstStyle/>
          <a:p>
            <a:pPr algn="ctr" indent="0" marL="0">
              <a:buNone/>
            </a:pPr>
            <a:r>
              <a:rPr lang="en-US" sz="1400" b="1" dirty="0">
                <a:solidFill>
                  <a:srgbClr val="34D399"/>
                </a:solidFill>
                <a:latin typeface="Arial" pitchFamily="34" charset="0"/>
                <a:ea typeface="Arial" pitchFamily="34" charset="-122"/>
                <a:cs typeface="Arial" pitchFamily="34" charset="-120"/>
              </a:rPr>
              <a:t>✓</a:t>
            </a:r>
            <a:endParaRPr lang="en-US" sz="1400" dirty="0"/>
          </a:p>
        </p:txBody>
      </p:sp>
      <p:sp>
        <p:nvSpPr>
          <p:cNvPr id="12" name="Text 10"/>
          <p:cNvSpPr txBox="1"/>
          <p:nvPr/>
        </p:nvSpPr>
        <p:spPr>
          <a:xfrm>
            <a:off x="1298448" y="3630168"/>
            <a:ext cx="4480560" cy="347472"/>
          </a:xfrm>
          <a:prstGeom prst="rect">
            <a:avLst/>
          </a:prstGeom>
          <a:noFill/>
          <a:ln/>
        </p:spPr>
        <p:txBody>
          <a:bodyPr wrap="square" lIns="0" tIns="0" rIns="0" bIns="0" rtlCol="0" anchor="ctr"/>
          <a:lstStyle/>
          <a:p>
            <a:pPr indent="0" marL="0">
              <a:buNone/>
            </a:pPr>
            <a:r>
              <a:rPr lang="en-US" sz="1500" b="1" dirty="0">
                <a:solidFill>
                  <a:srgbClr val="E9EFFA"/>
                </a:solidFill>
                <a:latin typeface="Arial" pitchFamily="34" charset="0"/>
                <a:ea typeface="Arial" pitchFamily="34" charset="-122"/>
                <a:cs typeface="Arial" pitchFamily="34" charset="-120"/>
              </a:rPr>
              <a:t>Evidence is compulsory</a:t>
            </a:r>
            <a:endParaRPr lang="en-US" sz="1500" dirty="0"/>
          </a:p>
        </p:txBody>
      </p:sp>
      <p:sp>
        <p:nvSpPr>
          <p:cNvPr id="13" name="Text 11"/>
          <p:cNvSpPr txBox="1"/>
          <p:nvPr/>
        </p:nvSpPr>
        <p:spPr>
          <a:xfrm>
            <a:off x="804672" y="4123944"/>
            <a:ext cx="4974336" cy="685800"/>
          </a:xfrm>
          <a:prstGeom prst="rect">
            <a:avLst/>
          </a:prstGeom>
          <a:noFill/>
          <a:ln/>
        </p:spPr>
        <p:txBody>
          <a:bodyPr wrap="square" lIns="0" tIns="0" rIns="0" bIns="0" rtlCol="0" anchor="ctr"/>
          <a:lstStyle/>
          <a:p>
            <a:pPr indent="0" marL="0">
              <a:lnSpc>
                <a:spcPts val="1700"/>
              </a:lnSpc>
              <a:buNone/>
            </a:pPr>
            <a:r>
              <a:rPr lang="en-US" sz="1300" dirty="0">
                <a:solidFill>
                  <a:srgbClr val="94A8C4"/>
                </a:solidFill>
                <a:latin typeface="Calibri" pitchFamily="34" charset="0"/>
                <a:ea typeface="Calibri" pitchFamily="34" charset="-122"/>
                <a:cs typeface="Calibri" pitchFamily="34" charset="-120"/>
              </a:rPr>
              <a:t>A finding is rejected unless it cites the tool results that prove it, and every claim links to the raw output. The approver is not trusting the AI — they are reading its working.</a:t>
            </a:r>
            <a:endParaRPr lang="en-US" sz="1300" dirty="0"/>
          </a:p>
        </p:txBody>
      </p:sp>
      <p:sp>
        <p:nvSpPr>
          <p:cNvPr id="14" name="Shape 12"/>
          <p:cNvSpPr/>
          <p:nvPr/>
        </p:nvSpPr>
        <p:spPr>
          <a:xfrm>
            <a:off x="6153912" y="1591056"/>
            <a:ext cx="5486400" cy="1645920"/>
          </a:xfrm>
          <a:prstGeom prst="roundRect">
            <a:avLst>
              <a:gd name="adj" fmla="val 2222"/>
            </a:avLst>
          </a:prstGeom>
          <a:solidFill>
            <a:srgbClr val="16213A"/>
          </a:solidFill>
          <a:ln w="12700">
            <a:solidFill>
              <a:srgbClr val="1E2A47"/>
            </a:solidFill>
            <a:prstDash val="solid"/>
          </a:ln>
        </p:spPr>
      </p:sp>
      <p:sp>
        <p:nvSpPr>
          <p:cNvPr id="15" name="Shape 13"/>
          <p:cNvSpPr/>
          <p:nvPr/>
        </p:nvSpPr>
        <p:spPr>
          <a:xfrm>
            <a:off x="6409944" y="1828800"/>
            <a:ext cx="384048" cy="384048"/>
          </a:xfrm>
          <a:prstGeom prst="roundRect">
            <a:avLst>
              <a:gd name="adj" fmla="val 23810"/>
            </a:avLst>
          </a:prstGeom>
          <a:solidFill>
            <a:srgbClr val="1E2A47"/>
          </a:solidFill>
          <a:ln w="12700">
            <a:solidFill>
              <a:srgbClr val="FBBF24"/>
            </a:solidFill>
            <a:prstDash val="solid"/>
          </a:ln>
        </p:spPr>
      </p:sp>
      <p:sp>
        <p:nvSpPr>
          <p:cNvPr id="16" name="Text 14"/>
          <p:cNvSpPr txBox="1"/>
          <p:nvPr/>
        </p:nvSpPr>
        <p:spPr>
          <a:xfrm>
            <a:off x="6409944" y="1828800"/>
            <a:ext cx="384048" cy="384048"/>
          </a:xfrm>
          <a:prstGeom prst="rect">
            <a:avLst/>
          </a:prstGeom>
          <a:noFill/>
          <a:ln/>
        </p:spPr>
        <p:txBody>
          <a:bodyPr wrap="square" lIns="0" tIns="0" rIns="0" bIns="0" rtlCol="0" anchor="ctr"/>
          <a:lstStyle/>
          <a:p>
            <a:pPr algn="ctr" indent="0" marL="0">
              <a:buNone/>
            </a:pPr>
            <a:r>
              <a:rPr lang="en-US" sz="1400" b="1" dirty="0">
                <a:solidFill>
                  <a:srgbClr val="FBBF24"/>
                </a:solidFill>
                <a:latin typeface="Arial" pitchFamily="34" charset="0"/>
                <a:ea typeface="Arial" pitchFamily="34" charset="-122"/>
                <a:cs typeface="Arial" pitchFamily="34" charset="-120"/>
              </a:rPr>
              <a:t>⚠</a:t>
            </a:r>
            <a:endParaRPr lang="en-US" sz="1400" dirty="0"/>
          </a:p>
        </p:txBody>
      </p:sp>
      <p:sp>
        <p:nvSpPr>
          <p:cNvPr id="17" name="Text 15"/>
          <p:cNvSpPr txBox="1"/>
          <p:nvPr/>
        </p:nvSpPr>
        <p:spPr>
          <a:xfrm>
            <a:off x="6903720" y="1847088"/>
            <a:ext cx="4480560" cy="347472"/>
          </a:xfrm>
          <a:prstGeom prst="rect">
            <a:avLst/>
          </a:prstGeom>
          <a:noFill/>
          <a:ln/>
        </p:spPr>
        <p:txBody>
          <a:bodyPr wrap="square" lIns="0" tIns="0" rIns="0" bIns="0" rtlCol="0" anchor="ctr"/>
          <a:lstStyle/>
          <a:p>
            <a:pPr indent="0" marL="0">
              <a:buNone/>
            </a:pPr>
            <a:r>
              <a:rPr lang="en-US" sz="1500" b="1" dirty="0">
                <a:solidFill>
                  <a:srgbClr val="E9EFFA"/>
                </a:solidFill>
                <a:latin typeface="Arial" pitchFamily="34" charset="0"/>
                <a:ea typeface="Arial" pitchFamily="34" charset="-122"/>
                <a:cs typeface="Arial" pitchFamily="34" charset="-120"/>
              </a:rPr>
              <a:t>It cannot write commands</a:t>
            </a:r>
            <a:endParaRPr lang="en-US" sz="1500" dirty="0"/>
          </a:p>
        </p:txBody>
      </p:sp>
      <p:sp>
        <p:nvSpPr>
          <p:cNvPr id="18" name="Text 16"/>
          <p:cNvSpPr txBox="1"/>
          <p:nvPr/>
        </p:nvSpPr>
        <p:spPr>
          <a:xfrm>
            <a:off x="6409944" y="2340864"/>
            <a:ext cx="4974336" cy="685800"/>
          </a:xfrm>
          <a:prstGeom prst="rect">
            <a:avLst/>
          </a:prstGeom>
          <a:noFill/>
          <a:ln/>
        </p:spPr>
        <p:txBody>
          <a:bodyPr wrap="square" lIns="0" tIns="0" rIns="0" bIns="0" rtlCol="0" anchor="ctr"/>
          <a:lstStyle/>
          <a:p>
            <a:pPr indent="0" marL="0">
              <a:lnSpc>
                <a:spcPts val="1700"/>
              </a:lnSpc>
              <a:buNone/>
            </a:pPr>
            <a:r>
              <a:rPr lang="en-US" sz="1300" dirty="0">
                <a:solidFill>
                  <a:srgbClr val="94A8C4"/>
                </a:solidFill>
                <a:latin typeface="Calibri" pitchFamily="34" charset="0"/>
                <a:ea typeface="Calibri" pitchFamily="34" charset="-122"/>
                <a:cs typeface="Calibri" pitchFamily="34" charset="-120"/>
              </a:rPr>
              <a:t>The agent picks one of four typed actions and fills in parameters that are validated and allow-listed server-side. There is no code path from the model to the cluster.</a:t>
            </a:r>
            <a:endParaRPr lang="en-US" sz="1300" dirty="0"/>
          </a:p>
        </p:txBody>
      </p:sp>
      <p:sp>
        <p:nvSpPr>
          <p:cNvPr id="19" name="Shape 17"/>
          <p:cNvSpPr/>
          <p:nvPr/>
        </p:nvSpPr>
        <p:spPr>
          <a:xfrm>
            <a:off x="6153912" y="3374136"/>
            <a:ext cx="5486400" cy="1645920"/>
          </a:xfrm>
          <a:prstGeom prst="roundRect">
            <a:avLst>
              <a:gd name="adj" fmla="val 2222"/>
            </a:avLst>
          </a:prstGeom>
          <a:solidFill>
            <a:srgbClr val="16213A"/>
          </a:solidFill>
          <a:ln w="12700">
            <a:solidFill>
              <a:srgbClr val="1E2A47"/>
            </a:solidFill>
            <a:prstDash val="solid"/>
          </a:ln>
        </p:spPr>
      </p:sp>
      <p:sp>
        <p:nvSpPr>
          <p:cNvPr id="20" name="Shape 18"/>
          <p:cNvSpPr/>
          <p:nvPr/>
        </p:nvSpPr>
        <p:spPr>
          <a:xfrm>
            <a:off x="6409944" y="3611880"/>
            <a:ext cx="384048" cy="384048"/>
          </a:xfrm>
          <a:prstGeom prst="roundRect">
            <a:avLst>
              <a:gd name="adj" fmla="val 23810"/>
            </a:avLst>
          </a:prstGeom>
          <a:solidFill>
            <a:srgbClr val="1E2A47"/>
          </a:solidFill>
          <a:ln w="12700">
            <a:solidFill>
              <a:srgbClr val="22D3EE"/>
            </a:solidFill>
            <a:prstDash val="solid"/>
          </a:ln>
        </p:spPr>
      </p:sp>
      <p:sp>
        <p:nvSpPr>
          <p:cNvPr id="21" name="Text 19"/>
          <p:cNvSpPr txBox="1"/>
          <p:nvPr/>
        </p:nvSpPr>
        <p:spPr>
          <a:xfrm>
            <a:off x="6409944" y="3611880"/>
            <a:ext cx="384048" cy="384048"/>
          </a:xfrm>
          <a:prstGeom prst="rect">
            <a:avLst/>
          </a:prstGeom>
          <a:noFill/>
          <a:ln/>
        </p:spPr>
        <p:txBody>
          <a:bodyPr wrap="square" lIns="0" tIns="0" rIns="0" bIns="0" rtlCol="0" anchor="ctr"/>
          <a:lstStyle/>
          <a:p>
            <a:pPr algn="ctr" indent="0" marL="0">
              <a:buNone/>
            </a:pPr>
            <a:r>
              <a:rPr lang="en-US" sz="1400" b="1" dirty="0">
                <a:solidFill>
                  <a:srgbClr val="22D3EE"/>
                </a:solidFill>
                <a:latin typeface="Arial" pitchFamily="34" charset="0"/>
                <a:ea typeface="Arial" pitchFamily="34" charset="-122"/>
                <a:cs typeface="Arial" pitchFamily="34" charset="-120"/>
              </a:rPr>
              <a:t>⏱</a:t>
            </a:r>
            <a:endParaRPr lang="en-US" sz="1400" dirty="0"/>
          </a:p>
        </p:txBody>
      </p:sp>
      <p:sp>
        <p:nvSpPr>
          <p:cNvPr id="22" name="Text 20"/>
          <p:cNvSpPr txBox="1"/>
          <p:nvPr/>
        </p:nvSpPr>
        <p:spPr>
          <a:xfrm>
            <a:off x="6903720" y="3630168"/>
            <a:ext cx="4480560" cy="347472"/>
          </a:xfrm>
          <a:prstGeom prst="rect">
            <a:avLst/>
          </a:prstGeom>
          <a:noFill/>
          <a:ln/>
        </p:spPr>
        <p:txBody>
          <a:bodyPr wrap="square" lIns="0" tIns="0" rIns="0" bIns="0" rtlCol="0" anchor="ctr"/>
          <a:lstStyle/>
          <a:p>
            <a:pPr indent="0" marL="0">
              <a:buNone/>
            </a:pPr>
            <a:r>
              <a:rPr lang="en-US" sz="1500" b="1" dirty="0">
                <a:solidFill>
                  <a:srgbClr val="E9EFFA"/>
                </a:solidFill>
                <a:latin typeface="Arial" pitchFamily="34" charset="0"/>
                <a:ea typeface="Arial" pitchFamily="34" charset="-122"/>
                <a:cs typeface="Arial" pitchFamily="34" charset="-120"/>
              </a:rPr>
              <a:t>Bounded by design</a:t>
            </a:r>
            <a:endParaRPr lang="en-US" sz="1500" dirty="0"/>
          </a:p>
        </p:txBody>
      </p:sp>
      <p:sp>
        <p:nvSpPr>
          <p:cNvPr id="23" name="Text 21"/>
          <p:cNvSpPr txBox="1"/>
          <p:nvPr/>
        </p:nvSpPr>
        <p:spPr>
          <a:xfrm>
            <a:off x="6409944" y="4123944"/>
            <a:ext cx="4974336" cy="685800"/>
          </a:xfrm>
          <a:prstGeom prst="rect">
            <a:avLst/>
          </a:prstGeom>
          <a:noFill/>
          <a:ln/>
        </p:spPr>
        <p:txBody>
          <a:bodyPr wrap="square" lIns="0" tIns="0" rIns="0" bIns="0" rtlCol="0" anchor="ctr"/>
          <a:lstStyle/>
          <a:p>
            <a:pPr indent="0" marL="0">
              <a:lnSpc>
                <a:spcPts val="1700"/>
              </a:lnSpc>
              <a:buNone/>
            </a:pPr>
            <a:r>
              <a:rPr lang="en-US" sz="1300" dirty="0">
                <a:solidFill>
                  <a:srgbClr val="94A8C4"/>
                </a:solidFill>
                <a:latin typeface="Calibri" pitchFamily="34" charset="0"/>
                <a:ea typeface="Calibri" pitchFamily="34" charset="-122"/>
                <a:cs typeface="Calibri" pitchFamily="34" charset="-120"/>
              </a:rPr>
              <a:t>14 tool calls, a 120-second budget, and at most 3 investigations per incident. Roughly $0.05 of tokens per investigation, logged per run.</a:t>
            </a:r>
            <a:endParaRPr lang="en-US" sz="1300" dirty="0"/>
          </a:p>
        </p:txBody>
      </p:sp>
      <p:sp>
        <p:nvSpPr>
          <p:cNvPr id="24" name="Shape 22"/>
          <p:cNvSpPr/>
          <p:nvPr/>
        </p:nvSpPr>
        <p:spPr>
          <a:xfrm>
            <a:off x="548640" y="5202936"/>
            <a:ext cx="11091672" cy="777240"/>
          </a:xfrm>
          <a:prstGeom prst="roundRect">
            <a:avLst>
              <a:gd name="adj" fmla="val 4706"/>
            </a:avLst>
          </a:prstGeom>
          <a:solidFill>
            <a:srgbClr val="1E2A47"/>
          </a:solidFill>
          <a:ln w="12700">
            <a:solidFill>
              <a:srgbClr val="1E2A47"/>
            </a:solidFill>
            <a:prstDash val="solid"/>
          </a:ln>
        </p:spPr>
      </p:sp>
      <p:sp>
        <p:nvSpPr>
          <p:cNvPr id="25" name="Text 23"/>
          <p:cNvSpPr txBox="1"/>
          <p:nvPr/>
        </p:nvSpPr>
        <p:spPr>
          <a:xfrm>
            <a:off x="822960" y="5367528"/>
            <a:ext cx="10515600" cy="457200"/>
          </a:xfrm>
          <a:prstGeom prst="rect">
            <a:avLst/>
          </a:prstGeom>
          <a:noFill/>
          <a:ln/>
        </p:spPr>
        <p:txBody>
          <a:bodyPr wrap="square" lIns="0" tIns="0" rIns="0" bIns="0" rtlCol="0" anchor="ctr"/>
          <a:lstStyle/>
          <a:p>
            <a:pPr indent="0" marL="0">
              <a:buNone/>
            </a:pPr>
            <a:r>
              <a:rPr lang="en-US" sz="1500" b="1" i="1" dirty="0">
                <a:solidFill>
                  <a:srgbClr val="22D3EE"/>
                </a:solidFill>
                <a:latin typeface="Arial" pitchFamily="34" charset="0"/>
                <a:ea typeface="Arial" pitchFamily="34" charset="-122"/>
                <a:cs typeface="Arial" pitchFamily="34" charset="-120"/>
              </a:rPr>
              <a:t>Autonomy is the product — the AI completes the whole task. Governance is what makes it shippable.</a:t>
            </a:r>
            <a:endParaRPr lang="en-US" sz="1500" dirty="0"/>
          </a:p>
        </p:txBody>
      </p:sp>
      <p:sp>
        <p:nvSpPr>
          <p:cNvPr id="26" name="Text 24"/>
          <p:cNvSpPr txBox="1"/>
          <p:nvPr/>
        </p:nvSpPr>
        <p:spPr>
          <a:xfrm>
            <a:off x="548640" y="6400800"/>
            <a:ext cx="3657600" cy="256032"/>
          </a:xfrm>
          <a:prstGeom prst="rect">
            <a:avLst/>
          </a:prstGeom>
          <a:noFill/>
          <a:ln/>
        </p:spPr>
        <p:txBody>
          <a:bodyPr wrap="square" lIns="0" tIns="0" rIns="0" bIns="0" rtlCol="0" anchor="ctr"/>
          <a:lstStyle/>
          <a:p>
            <a:pPr indent="0" marL="0">
              <a:buNone/>
            </a:pPr>
            <a:r>
              <a:rPr lang="en-US" sz="1000" dirty="0">
                <a:solidFill>
                  <a:srgbClr val="5A6E8C"/>
                </a:solidFill>
                <a:latin typeface="Calibri" pitchFamily="34" charset="0"/>
                <a:ea typeface="Calibri" pitchFamily="34" charset="-122"/>
                <a:cs typeface="Calibri" pitchFamily="34" charset="-120"/>
              </a:rPr>
              <a:t>SentinelOps AI</a:t>
            </a:r>
            <a:endParaRPr lang="en-US" sz="1000" dirty="0"/>
          </a:p>
        </p:txBody>
      </p:sp>
      <p:sp>
        <p:nvSpPr>
          <p:cNvPr id="27" name="Text 25"/>
          <p:cNvSpPr txBox="1"/>
          <p:nvPr/>
        </p:nvSpPr>
        <p:spPr>
          <a:xfrm>
            <a:off x="10725912" y="6400800"/>
            <a:ext cx="914400" cy="256032"/>
          </a:xfrm>
          <a:prstGeom prst="rect">
            <a:avLst/>
          </a:prstGeom>
          <a:noFill/>
          <a:ln/>
        </p:spPr>
        <p:txBody>
          <a:bodyPr wrap="square" lIns="0" tIns="0" rIns="0" bIns="0" rtlCol="0" anchor="ctr"/>
          <a:lstStyle/>
          <a:p>
            <a:pPr algn="r" indent="0" marL="0">
              <a:buNone/>
            </a:pPr>
            <a:r>
              <a:rPr lang="en-US" sz="1000" dirty="0">
                <a:solidFill>
                  <a:srgbClr val="5A6E8C"/>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411480"/>
            <a:ext cx="10058400" cy="256032"/>
          </a:xfrm>
          <a:prstGeom prst="rect">
            <a:avLst/>
          </a:prstGeom>
          <a:noFill/>
          <a:ln/>
        </p:spPr>
        <p:txBody>
          <a:bodyPr wrap="square" lIns="0" tIns="0" rIns="0" bIns="0" rtlCol="0" anchor="ctr"/>
          <a:lstStyle/>
          <a:p>
            <a:pPr indent="0" marL="0">
              <a:buNone/>
            </a:pPr>
            <a:r>
              <a:rPr lang="en-US" sz="1200" b="1" spc="200" kern="0" dirty="0">
                <a:solidFill>
                  <a:srgbClr val="22D3EE"/>
                </a:solidFill>
                <a:latin typeface="Calibri" pitchFamily="34" charset="0"/>
                <a:ea typeface="Calibri" pitchFamily="34" charset="-122"/>
                <a:cs typeface="Calibri" pitchFamily="34" charset="-120"/>
              </a:rPr>
              <a:t>THE DOCKER AND KUBERNETES SETUP</a:t>
            </a:r>
            <a:endParaRPr lang="en-US" sz="1200" dirty="0"/>
          </a:p>
        </p:txBody>
      </p:sp>
      <p:sp>
        <p:nvSpPr>
          <p:cNvPr id="3" name="Text 1"/>
          <p:cNvSpPr txBox="1"/>
          <p:nvPr/>
        </p:nvSpPr>
        <p:spPr>
          <a:xfrm>
            <a:off x="548640" y="722376"/>
            <a:ext cx="11064240" cy="475488"/>
          </a:xfrm>
          <a:prstGeom prst="rect">
            <a:avLst/>
          </a:prstGeom>
          <a:noFill/>
          <a:ln/>
        </p:spPr>
        <p:txBody>
          <a:bodyPr wrap="square" lIns="0" tIns="0" rIns="0" bIns="0" rtlCol="0" anchor="ctr"/>
          <a:lstStyle/>
          <a:p>
            <a:pPr indent="0" marL="0">
              <a:buNone/>
            </a:pPr>
            <a:r>
              <a:rPr lang="en-US" sz="3000" b="1" dirty="0">
                <a:solidFill>
                  <a:srgbClr val="E9EFFA"/>
                </a:solidFill>
                <a:latin typeface="Arial" pitchFamily="34" charset="0"/>
                <a:ea typeface="Arial" pitchFamily="34" charset="-122"/>
                <a:cs typeface="Arial" pitchFamily="34" charset="-120"/>
              </a:rPr>
              <a:t>A real cluster; the agent sees only symptoms</a:t>
            </a:r>
            <a:endParaRPr lang="en-US" sz="3000" dirty="0"/>
          </a:p>
        </p:txBody>
      </p:sp>
      <p:sp>
        <p:nvSpPr>
          <p:cNvPr id="4" name="Text 2"/>
          <p:cNvSpPr txBox="1"/>
          <p:nvPr/>
        </p:nvSpPr>
        <p:spPr>
          <a:xfrm>
            <a:off x="548640" y="1591056"/>
            <a:ext cx="6675120" cy="1143000"/>
          </a:xfrm>
          <a:prstGeom prst="rect">
            <a:avLst/>
          </a:prstGeom>
          <a:noFill/>
          <a:ln/>
        </p:spPr>
        <p:txBody>
          <a:bodyPr wrap="square" lIns="0" tIns="0" rIns="0" bIns="0" rtlCol="0" anchor="ctr"/>
          <a:lstStyle/>
          <a:p>
            <a:pPr indent="0" marL="0">
              <a:lnSpc>
                <a:spcPts val="2000"/>
              </a:lnSpc>
              <a:buNone/>
            </a:pPr>
            <a:r>
              <a:rPr lang="en-US" sz="1400" dirty="0">
                <a:solidFill>
                  <a:srgbClr val="E9EFFA"/>
                </a:solidFill>
                <a:latin typeface="Calibri" pitchFamily="34" charset="0"/>
                <a:ea typeface="Calibri" pitchFamily="34" charset="-122"/>
                <a:cs typeface="Calibri" pitchFamily="34" charset="-120"/>
              </a:rPr>
              <a:t>Docker Desktop runs Kubernetes on the laptop. Six pods: two order-service, two payment-service, one Postgres they share, and Prometheus scraping every pod every five seconds. The simulator breaks the cluster itself — it does not flip a flag in our software, so the agent has to diagnose from evidence like anyone else.</a:t>
            </a:r>
            <a:endParaRPr lang="en-US" sz="1400" dirty="0"/>
          </a:p>
        </p:txBody>
      </p:sp>
      <p:sp>
        <p:nvSpPr>
          <p:cNvPr id="5" name="Shape 3"/>
          <p:cNvSpPr/>
          <p:nvPr/>
        </p:nvSpPr>
        <p:spPr>
          <a:xfrm>
            <a:off x="548640" y="2916936"/>
            <a:ext cx="6675120" cy="1325880"/>
          </a:xfrm>
          <a:prstGeom prst="roundRect">
            <a:avLst>
              <a:gd name="adj" fmla="val 2759"/>
            </a:avLst>
          </a:prstGeom>
          <a:solidFill>
            <a:srgbClr val="16213A"/>
          </a:solidFill>
          <a:ln w="12700">
            <a:solidFill>
              <a:srgbClr val="1E2A47"/>
            </a:solidFill>
            <a:prstDash val="solid"/>
          </a:ln>
        </p:spPr>
      </p:sp>
      <p:sp>
        <p:nvSpPr>
          <p:cNvPr id="6" name="Shape 4"/>
          <p:cNvSpPr/>
          <p:nvPr/>
        </p:nvSpPr>
        <p:spPr>
          <a:xfrm>
            <a:off x="804672" y="3154680"/>
            <a:ext cx="384048" cy="384048"/>
          </a:xfrm>
          <a:prstGeom prst="roundRect">
            <a:avLst>
              <a:gd name="adj" fmla="val 23810"/>
            </a:avLst>
          </a:prstGeom>
          <a:solidFill>
            <a:srgbClr val="1E2A47"/>
          </a:solidFill>
          <a:ln w="12700">
            <a:solidFill>
              <a:srgbClr val="22D3EE"/>
            </a:solidFill>
            <a:prstDash val="solid"/>
          </a:ln>
        </p:spPr>
      </p:sp>
      <p:sp>
        <p:nvSpPr>
          <p:cNvPr id="7" name="Text 5"/>
          <p:cNvSpPr txBox="1"/>
          <p:nvPr/>
        </p:nvSpPr>
        <p:spPr>
          <a:xfrm>
            <a:off x="804672" y="3154680"/>
            <a:ext cx="384048" cy="384048"/>
          </a:xfrm>
          <a:prstGeom prst="rect">
            <a:avLst/>
          </a:prstGeom>
          <a:noFill/>
          <a:ln/>
        </p:spPr>
        <p:txBody>
          <a:bodyPr wrap="square" lIns="0" tIns="0" rIns="0" bIns="0" rtlCol="0" anchor="ctr"/>
          <a:lstStyle/>
          <a:p>
            <a:pPr algn="ctr" indent="0" marL="0">
              <a:buNone/>
            </a:pPr>
            <a:r>
              <a:rPr lang="en-US" sz="1400" b="1" dirty="0">
                <a:solidFill>
                  <a:srgbClr val="22D3EE"/>
                </a:solidFill>
                <a:latin typeface="Arial" pitchFamily="34" charset="0"/>
                <a:ea typeface="Arial" pitchFamily="34" charset="-122"/>
                <a:cs typeface="Arial" pitchFamily="34" charset="-120"/>
              </a:rPr>
              <a:t>⚿</a:t>
            </a:r>
            <a:endParaRPr lang="en-US" sz="1400" dirty="0"/>
          </a:p>
        </p:txBody>
      </p:sp>
      <p:sp>
        <p:nvSpPr>
          <p:cNvPr id="8" name="Text 6"/>
          <p:cNvSpPr txBox="1"/>
          <p:nvPr/>
        </p:nvSpPr>
        <p:spPr>
          <a:xfrm>
            <a:off x="1298448" y="3172968"/>
            <a:ext cx="5669280" cy="347472"/>
          </a:xfrm>
          <a:prstGeom prst="rect">
            <a:avLst/>
          </a:prstGeom>
          <a:noFill/>
          <a:ln/>
        </p:spPr>
        <p:txBody>
          <a:bodyPr wrap="square" lIns="0" tIns="0" rIns="0" bIns="0" rtlCol="0" anchor="ctr"/>
          <a:lstStyle/>
          <a:p>
            <a:pPr indent="0" marL="0">
              <a:buNone/>
            </a:pPr>
            <a:r>
              <a:rPr lang="en-US" sz="1500" b="1" dirty="0">
                <a:solidFill>
                  <a:srgbClr val="E9EFFA"/>
                </a:solidFill>
                <a:latin typeface="Arial" pitchFamily="34" charset="0"/>
                <a:ea typeface="Arial" pitchFamily="34" charset="-122"/>
                <a:cs typeface="Arial" pitchFamily="34" charset="-120"/>
              </a:rPr>
              <a:t>Least-privilege identity</a:t>
            </a:r>
            <a:endParaRPr lang="en-US" sz="1500" dirty="0"/>
          </a:p>
        </p:txBody>
      </p:sp>
      <p:sp>
        <p:nvSpPr>
          <p:cNvPr id="9" name="Text 7"/>
          <p:cNvSpPr txBox="1"/>
          <p:nvPr/>
        </p:nvSpPr>
        <p:spPr>
          <a:xfrm>
            <a:off x="804672" y="3666744"/>
            <a:ext cx="6163056" cy="365760"/>
          </a:xfrm>
          <a:prstGeom prst="rect">
            <a:avLst/>
          </a:prstGeom>
          <a:noFill/>
          <a:ln/>
        </p:spPr>
        <p:txBody>
          <a:bodyPr wrap="square" lIns="0" tIns="0" rIns="0" bIns="0" rtlCol="0" anchor="ctr"/>
          <a:lstStyle/>
          <a:p>
            <a:pPr indent="0" marL="0">
              <a:lnSpc>
                <a:spcPts val="1700"/>
              </a:lnSpc>
              <a:buNone/>
            </a:pPr>
            <a:r>
              <a:rPr lang="en-US" sz="1300" dirty="0">
                <a:solidFill>
                  <a:srgbClr val="94A8C4"/>
                </a:solidFill>
                <a:latin typeface="Calibri" pitchFamily="34" charset="0"/>
                <a:ea typeface="Calibri" pitchFamily="34" charset="-122"/>
                <a:cs typeface="Calibri" pitchFamily="34" charset="-120"/>
              </a:rPr>
              <a:t>SentinelOps authenticates as its own ServiceAccount. It may read pods, logs and deployments and patch allowed objects in one namespace. It cannot delete, cannot create, cannot read secrets, cannot see other namespaces — provable live with kubectl auth can-i.</a:t>
            </a:r>
            <a:endParaRPr lang="en-US" sz="1300" dirty="0"/>
          </a:p>
        </p:txBody>
      </p:sp>
      <p:sp>
        <p:nvSpPr>
          <p:cNvPr id="10" name="Shape 8"/>
          <p:cNvSpPr/>
          <p:nvPr/>
        </p:nvSpPr>
        <p:spPr>
          <a:xfrm>
            <a:off x="548640" y="4379976"/>
            <a:ext cx="6675120" cy="1325880"/>
          </a:xfrm>
          <a:prstGeom prst="roundRect">
            <a:avLst>
              <a:gd name="adj" fmla="val 2759"/>
            </a:avLst>
          </a:prstGeom>
          <a:solidFill>
            <a:srgbClr val="16213A"/>
          </a:solidFill>
          <a:ln w="12700">
            <a:solidFill>
              <a:srgbClr val="1E2A47"/>
            </a:solidFill>
            <a:prstDash val="solid"/>
          </a:ln>
        </p:spPr>
      </p:sp>
      <p:sp>
        <p:nvSpPr>
          <p:cNvPr id="11" name="Shape 9"/>
          <p:cNvSpPr/>
          <p:nvPr/>
        </p:nvSpPr>
        <p:spPr>
          <a:xfrm>
            <a:off x="804672" y="4617720"/>
            <a:ext cx="384048" cy="384048"/>
          </a:xfrm>
          <a:prstGeom prst="roundRect">
            <a:avLst>
              <a:gd name="adj" fmla="val 23810"/>
            </a:avLst>
          </a:prstGeom>
          <a:solidFill>
            <a:srgbClr val="1E2A47"/>
          </a:solidFill>
          <a:ln w="12700">
            <a:solidFill>
              <a:srgbClr val="34D399"/>
            </a:solidFill>
            <a:prstDash val="solid"/>
          </a:ln>
        </p:spPr>
      </p:sp>
      <p:sp>
        <p:nvSpPr>
          <p:cNvPr id="12" name="Text 10"/>
          <p:cNvSpPr txBox="1"/>
          <p:nvPr/>
        </p:nvSpPr>
        <p:spPr>
          <a:xfrm>
            <a:off x="804672" y="4617720"/>
            <a:ext cx="384048" cy="384048"/>
          </a:xfrm>
          <a:prstGeom prst="rect">
            <a:avLst/>
          </a:prstGeom>
          <a:noFill/>
          <a:ln/>
        </p:spPr>
        <p:txBody>
          <a:bodyPr wrap="square" lIns="0" tIns="0" rIns="0" bIns="0" rtlCol="0" anchor="ctr"/>
          <a:lstStyle/>
          <a:p>
            <a:pPr algn="ctr" indent="0" marL="0">
              <a:buNone/>
            </a:pPr>
            <a:r>
              <a:rPr lang="en-US" sz="1400" b="1" dirty="0">
                <a:solidFill>
                  <a:srgbClr val="34D399"/>
                </a:solidFill>
                <a:latin typeface="Arial" pitchFamily="34" charset="0"/>
                <a:ea typeface="Arial" pitchFamily="34" charset="-122"/>
                <a:cs typeface="Arial" pitchFamily="34" charset="-120"/>
              </a:rPr>
              <a:t>◉</a:t>
            </a:r>
            <a:endParaRPr lang="en-US" sz="1400" dirty="0"/>
          </a:p>
        </p:txBody>
      </p:sp>
      <p:sp>
        <p:nvSpPr>
          <p:cNvPr id="13" name="Text 11"/>
          <p:cNvSpPr txBox="1"/>
          <p:nvPr/>
        </p:nvSpPr>
        <p:spPr>
          <a:xfrm>
            <a:off x="1298448" y="4636008"/>
            <a:ext cx="5669280" cy="347472"/>
          </a:xfrm>
          <a:prstGeom prst="rect">
            <a:avLst/>
          </a:prstGeom>
          <a:noFill/>
          <a:ln/>
        </p:spPr>
        <p:txBody>
          <a:bodyPr wrap="square" lIns="0" tIns="0" rIns="0" bIns="0" rtlCol="0" anchor="ctr"/>
          <a:lstStyle/>
          <a:p>
            <a:pPr indent="0" marL="0">
              <a:buNone/>
            </a:pPr>
            <a:r>
              <a:rPr lang="en-US" sz="1500" b="1" dirty="0">
                <a:solidFill>
                  <a:srgbClr val="E9EFFA"/>
                </a:solidFill>
                <a:latin typeface="Arial" pitchFamily="34" charset="0"/>
                <a:ea typeface="Arial" pitchFamily="34" charset="-122"/>
                <a:cs typeface="Arial" pitchFamily="34" charset="-120"/>
              </a:rPr>
              <a:t>Kubernetes records who acted</a:t>
            </a:r>
            <a:endParaRPr lang="en-US" sz="1500" dirty="0"/>
          </a:p>
        </p:txBody>
      </p:sp>
      <p:sp>
        <p:nvSpPr>
          <p:cNvPr id="14" name="Text 12"/>
          <p:cNvSpPr txBox="1"/>
          <p:nvPr/>
        </p:nvSpPr>
        <p:spPr>
          <a:xfrm>
            <a:off x="804672" y="5129784"/>
            <a:ext cx="6163056" cy="365760"/>
          </a:xfrm>
          <a:prstGeom prst="rect">
            <a:avLst/>
          </a:prstGeom>
          <a:noFill/>
          <a:ln/>
        </p:spPr>
        <p:txBody>
          <a:bodyPr wrap="square" lIns="0" tIns="0" rIns="0" bIns="0" rtlCol="0" anchor="ctr"/>
          <a:lstStyle/>
          <a:p>
            <a:pPr indent="0" marL="0">
              <a:lnSpc>
                <a:spcPts val="1700"/>
              </a:lnSpc>
              <a:buNone/>
            </a:pPr>
            <a:r>
              <a:rPr lang="en-US" sz="1300" dirty="0">
                <a:solidFill>
                  <a:srgbClr val="94A8C4"/>
                </a:solidFill>
                <a:latin typeface="Calibri" pitchFamily="34" charset="0"/>
                <a:ea typeface="Calibri" pitchFamily="34" charset="-122"/>
                <a:cs typeface="Calibri" pitchFamily="34" charset="-120"/>
              </a:rPr>
              <a:t>Our writes are labelled sentinelops-agent, the simulator’s sentinelops-simulator. That is the cluster’s own record, not our database — independent proof the agent made the change.</a:t>
            </a:r>
            <a:endParaRPr lang="en-US" sz="1300" dirty="0"/>
          </a:p>
        </p:txBody>
      </p:sp>
      <p:sp>
        <p:nvSpPr>
          <p:cNvPr id="15" name="Shape 13"/>
          <p:cNvSpPr/>
          <p:nvPr/>
        </p:nvSpPr>
        <p:spPr>
          <a:xfrm>
            <a:off x="7543800" y="1545336"/>
            <a:ext cx="4114800" cy="4160520"/>
          </a:xfrm>
          <a:prstGeom prst="roundRect">
            <a:avLst>
              <a:gd name="adj" fmla="val 889"/>
            </a:avLst>
          </a:prstGeom>
          <a:solidFill>
            <a:srgbClr val="16213A"/>
          </a:solidFill>
          <a:ln w="12700">
            <a:solidFill>
              <a:srgbClr val="1E2A47"/>
            </a:solidFill>
            <a:prstDash val="solid"/>
          </a:ln>
        </p:spPr>
      </p:sp>
      <p:sp>
        <p:nvSpPr>
          <p:cNvPr id="16" name="Text 14"/>
          <p:cNvSpPr txBox="1"/>
          <p:nvPr/>
        </p:nvSpPr>
        <p:spPr>
          <a:xfrm>
            <a:off x="7818120" y="1773936"/>
            <a:ext cx="3566160" cy="256032"/>
          </a:xfrm>
          <a:prstGeom prst="rect">
            <a:avLst/>
          </a:prstGeom>
          <a:noFill/>
          <a:ln/>
        </p:spPr>
        <p:txBody>
          <a:bodyPr wrap="square" lIns="0" tIns="0" rIns="0" bIns="0" rtlCol="0" anchor="ctr"/>
          <a:lstStyle/>
          <a:p>
            <a:pPr indent="0" marL="0">
              <a:buNone/>
            </a:pPr>
            <a:r>
              <a:rPr lang="en-US" sz="1000" b="1" spc="150" kern="0" dirty="0">
                <a:solidFill>
                  <a:srgbClr val="F87171"/>
                </a:solidFill>
                <a:latin typeface="Calibri" pitchFamily="34" charset="0"/>
                <a:ea typeface="Calibri" pitchFamily="34" charset="-122"/>
                <a:cs typeface="Calibri" pitchFamily="34" charset="-120"/>
              </a:rPr>
              <a:t>THE FAULT WE DEMO</a:t>
            </a:r>
            <a:endParaRPr lang="en-US" sz="1000" dirty="0"/>
          </a:p>
        </p:txBody>
      </p:sp>
      <p:sp>
        <p:nvSpPr>
          <p:cNvPr id="17" name="Text 15"/>
          <p:cNvSpPr txBox="1"/>
          <p:nvPr/>
        </p:nvSpPr>
        <p:spPr>
          <a:xfrm>
            <a:off x="7818120" y="2093976"/>
            <a:ext cx="3566160" cy="548640"/>
          </a:xfrm>
          <a:prstGeom prst="rect">
            <a:avLst/>
          </a:prstGeom>
          <a:noFill/>
          <a:ln/>
        </p:spPr>
        <p:txBody>
          <a:bodyPr wrap="square" lIns="0" tIns="0" rIns="0" bIns="0" rtlCol="0" anchor="ctr"/>
          <a:lstStyle/>
          <a:p>
            <a:pPr indent="0" marL="0">
              <a:lnSpc>
                <a:spcPts val="2000"/>
              </a:lnSpc>
              <a:buNone/>
            </a:pPr>
            <a:r>
              <a:rPr lang="en-US" sz="1600" b="1" dirty="0">
                <a:solidFill>
                  <a:srgbClr val="E9EFFA"/>
                </a:solidFill>
                <a:latin typeface="Arial" pitchFamily="34" charset="0"/>
                <a:ea typeface="Arial" pitchFamily="34" charset="-122"/>
                <a:cs typeface="Arial" pitchFamily="34" charset="-120"/>
              </a:rPr>
              <a:t>A real outage we caused ourselves</a:t>
            </a:r>
            <a:endParaRPr lang="en-US" sz="1600" dirty="0"/>
          </a:p>
        </p:txBody>
      </p:sp>
      <p:sp>
        <p:nvSpPr>
          <p:cNvPr id="18" name="Text 16"/>
          <p:cNvSpPr txBox="1"/>
          <p:nvPr/>
        </p:nvSpPr>
        <p:spPr>
          <a:xfrm>
            <a:off x="7818120" y="2734056"/>
            <a:ext cx="3566160" cy="1188720"/>
          </a:xfrm>
          <a:prstGeom prst="rect">
            <a:avLst/>
          </a:prstGeom>
          <a:noFill/>
          <a:ln/>
        </p:spPr>
        <p:txBody>
          <a:bodyPr wrap="square" lIns="0" tIns="0" rIns="0" bIns="0" rtlCol="0" anchor="ctr"/>
          <a:lstStyle/>
          <a:p>
            <a:pPr indent="0" marL="0">
              <a:lnSpc>
                <a:spcPts val="1800"/>
              </a:lnSpc>
              <a:buNone/>
            </a:pPr>
            <a:r>
              <a:rPr lang="en-US" sz="1300" dirty="0">
                <a:solidFill>
                  <a:srgbClr val="94A8C4"/>
                </a:solidFill>
                <a:latin typeface="Calibri" pitchFamily="34" charset="0"/>
                <a:ea typeface="Calibri" pitchFamily="34" charset="-122"/>
                <a:cs typeface="Calibri" pitchFamily="34" charset="-120"/>
              </a:rPr>
              <a:t>Two weeks before the hackathon we moved the Postgres Service port to 5433 for local access, and forgot both services hard-code 5432. Every new connection timed out. It took hours to find.</a:t>
            </a:r>
            <a:endParaRPr lang="en-US" sz="1300" dirty="0"/>
          </a:p>
        </p:txBody>
      </p:sp>
      <p:sp>
        <p:nvSpPr>
          <p:cNvPr id="19" name="Shape 17"/>
          <p:cNvSpPr/>
          <p:nvPr/>
        </p:nvSpPr>
        <p:spPr>
          <a:xfrm>
            <a:off x="7818120" y="3968496"/>
            <a:ext cx="3566160" cy="868680"/>
          </a:xfrm>
          <a:prstGeom prst="roundRect">
            <a:avLst>
              <a:gd name="adj" fmla="val 4211"/>
            </a:avLst>
          </a:prstGeom>
          <a:solidFill>
            <a:srgbClr val="1E2A47"/>
          </a:solidFill>
          <a:ln w="12700">
            <a:solidFill>
              <a:srgbClr val="1E2A47"/>
            </a:solidFill>
            <a:prstDash val="solid"/>
          </a:ln>
        </p:spPr>
      </p:sp>
      <p:sp>
        <p:nvSpPr>
          <p:cNvPr id="20" name="Text 18"/>
          <p:cNvSpPr txBox="1"/>
          <p:nvPr/>
        </p:nvSpPr>
        <p:spPr>
          <a:xfrm>
            <a:off x="8001000" y="4078224"/>
            <a:ext cx="3291840" cy="685800"/>
          </a:xfrm>
          <a:prstGeom prst="rect">
            <a:avLst/>
          </a:prstGeom>
          <a:noFill/>
          <a:ln/>
        </p:spPr>
        <p:txBody>
          <a:bodyPr wrap="square" lIns="0" tIns="0" rIns="0" bIns="0" rtlCol="0" anchor="ctr"/>
          <a:lstStyle/>
          <a:p>
            <a:pPr indent="0" marL="0">
              <a:lnSpc>
                <a:spcPts val="1700"/>
              </a:lnSpc>
              <a:buNone/>
            </a:pPr>
            <a:r>
              <a:rPr lang="en-US" sz="1100" dirty="0">
                <a:solidFill>
                  <a:srgbClr val="F87171"/>
                </a:solidFill>
                <a:latin typeface="Courier New" pitchFamily="34" charset="0"/>
                <a:ea typeface="Courier New" pitchFamily="34" charset="-122"/>
                <a:cs typeface="Courier New" pitchFamily="34" charset="-120"/>
              </a:rPr>
              <a:t>postgres Service  5432 → 5433</a:t>
            </a:r>
            <a:endParaRPr lang="en-US" sz="1100" dirty="0"/>
          </a:p>
          <a:p>
            <a:pPr indent="0" marL="0">
              <a:lnSpc>
                <a:spcPts val="1700"/>
              </a:lnSpc>
              <a:buNone/>
            </a:pPr>
            <a:r>
              <a:rPr lang="en-US" sz="1100" dirty="0">
                <a:solidFill>
                  <a:srgbClr val="F87171"/>
                </a:solidFill>
                <a:latin typeface="Courier New" pitchFamily="34" charset="0"/>
                <a:ea typeface="Courier New" pitchFamily="34" charset="-122"/>
                <a:cs typeface="Courier New" pitchFamily="34" charset="-120"/>
              </a:rPr>
              <a:t>clients still dial  5432</a:t>
            </a:r>
            <a:endParaRPr lang="en-US" sz="1100" dirty="0"/>
          </a:p>
        </p:txBody>
      </p:sp>
      <p:sp>
        <p:nvSpPr>
          <p:cNvPr id="21" name="Text 19"/>
          <p:cNvSpPr txBox="1"/>
          <p:nvPr/>
        </p:nvSpPr>
        <p:spPr>
          <a:xfrm>
            <a:off x="7818120" y="4974336"/>
            <a:ext cx="3566160" cy="685800"/>
          </a:xfrm>
          <a:prstGeom prst="rect">
            <a:avLst/>
          </a:prstGeom>
          <a:noFill/>
          <a:ln/>
        </p:spPr>
        <p:txBody>
          <a:bodyPr wrap="square" lIns="0" tIns="0" rIns="0" bIns="0" rtlCol="0" anchor="ctr"/>
          <a:lstStyle/>
          <a:p>
            <a:pPr indent="0" marL="0">
              <a:lnSpc>
                <a:spcPts val="1700"/>
              </a:lnSpc>
              <a:buNone/>
            </a:pPr>
            <a:r>
              <a:rPr lang="en-US" sz="1200" i="1" dirty="0">
                <a:solidFill>
                  <a:srgbClr val="E9EFFA"/>
                </a:solidFill>
                <a:latin typeface="Calibri" pitchFamily="34" charset="0"/>
                <a:ea typeface="Calibri" pitchFamily="34" charset="-122"/>
                <a:cs typeface="Calibri" pitchFamily="34" charset="-120"/>
              </a:rPr>
              <a:t>That mistake is now demo scenario one. The agent has no idea what we did — only that requests are failing.</a:t>
            </a:r>
            <a:endParaRPr lang="en-US" sz="1200" dirty="0"/>
          </a:p>
        </p:txBody>
      </p:sp>
      <p:sp>
        <p:nvSpPr>
          <p:cNvPr id="22" name="Text 20"/>
          <p:cNvSpPr txBox="1"/>
          <p:nvPr/>
        </p:nvSpPr>
        <p:spPr>
          <a:xfrm>
            <a:off x="548640" y="6400800"/>
            <a:ext cx="3657600" cy="256032"/>
          </a:xfrm>
          <a:prstGeom prst="rect">
            <a:avLst/>
          </a:prstGeom>
          <a:noFill/>
          <a:ln/>
        </p:spPr>
        <p:txBody>
          <a:bodyPr wrap="square" lIns="0" tIns="0" rIns="0" bIns="0" rtlCol="0" anchor="ctr"/>
          <a:lstStyle/>
          <a:p>
            <a:pPr indent="0" marL="0">
              <a:buNone/>
            </a:pPr>
            <a:r>
              <a:rPr lang="en-US" sz="1000" dirty="0">
                <a:solidFill>
                  <a:srgbClr val="5A6E8C"/>
                </a:solidFill>
                <a:latin typeface="Calibri" pitchFamily="34" charset="0"/>
                <a:ea typeface="Calibri" pitchFamily="34" charset="-122"/>
                <a:cs typeface="Calibri" pitchFamily="34" charset="-120"/>
              </a:rPr>
              <a:t>SentinelOps AI</a:t>
            </a:r>
            <a:endParaRPr lang="en-US" sz="1000" dirty="0"/>
          </a:p>
        </p:txBody>
      </p:sp>
      <p:sp>
        <p:nvSpPr>
          <p:cNvPr id="23" name="Text 21"/>
          <p:cNvSpPr txBox="1"/>
          <p:nvPr/>
        </p:nvSpPr>
        <p:spPr>
          <a:xfrm>
            <a:off x="10725912" y="6400800"/>
            <a:ext cx="914400" cy="256032"/>
          </a:xfrm>
          <a:prstGeom prst="rect">
            <a:avLst/>
          </a:prstGeom>
          <a:noFill/>
          <a:ln/>
        </p:spPr>
        <p:txBody>
          <a:bodyPr wrap="square" lIns="0" tIns="0" rIns="0" bIns="0" rtlCol="0" anchor="ctr"/>
          <a:lstStyle/>
          <a:p>
            <a:pPr algn="r" indent="0" marL="0">
              <a:buNone/>
            </a:pPr>
            <a:r>
              <a:rPr lang="en-US" sz="1000" dirty="0">
                <a:solidFill>
                  <a:srgbClr val="5A6E8C"/>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411480"/>
            <a:ext cx="10058400" cy="256032"/>
          </a:xfrm>
          <a:prstGeom prst="rect">
            <a:avLst/>
          </a:prstGeom>
          <a:noFill/>
          <a:ln/>
        </p:spPr>
        <p:txBody>
          <a:bodyPr wrap="square" lIns="0" tIns="0" rIns="0" bIns="0" rtlCol="0" anchor="ctr"/>
          <a:lstStyle/>
          <a:p>
            <a:pPr indent="0" marL="0">
              <a:buNone/>
            </a:pPr>
            <a:r>
              <a:rPr lang="en-US" sz="1200" b="1" spc="200" kern="0" dirty="0">
                <a:solidFill>
                  <a:srgbClr val="22D3EE"/>
                </a:solidFill>
                <a:latin typeface="Calibri" pitchFamily="34" charset="0"/>
                <a:ea typeface="Calibri" pitchFamily="34" charset="-122"/>
                <a:cs typeface="Calibri" pitchFamily="34" charset="-120"/>
              </a:rPr>
              <a:t>FRESHSERVICE INTEGRATION</a:t>
            </a:r>
            <a:endParaRPr lang="en-US" sz="1200" dirty="0"/>
          </a:p>
        </p:txBody>
      </p:sp>
      <p:sp>
        <p:nvSpPr>
          <p:cNvPr id="3" name="Text 1"/>
          <p:cNvSpPr txBox="1"/>
          <p:nvPr/>
        </p:nvSpPr>
        <p:spPr>
          <a:xfrm>
            <a:off x="548640" y="722376"/>
            <a:ext cx="11064240" cy="475488"/>
          </a:xfrm>
          <a:prstGeom prst="rect">
            <a:avLst/>
          </a:prstGeom>
          <a:noFill/>
          <a:ln/>
        </p:spPr>
        <p:txBody>
          <a:bodyPr wrap="square" lIns="0" tIns="0" rIns="0" bIns="0" rtlCol="0" anchor="ctr"/>
          <a:lstStyle/>
          <a:p>
            <a:pPr indent="0" marL="0">
              <a:buNone/>
            </a:pPr>
            <a:r>
              <a:rPr lang="en-US" sz="3000" b="1" dirty="0">
                <a:solidFill>
                  <a:srgbClr val="E9EFFA"/>
                </a:solidFill>
                <a:latin typeface="Arial" pitchFamily="34" charset="0"/>
                <a:ea typeface="Arial" pitchFamily="34" charset="-122"/>
                <a:cs typeface="Arial" pitchFamily="34" charset="-120"/>
              </a:rPr>
              <a:t>The approval gate lives in Freshservice</a:t>
            </a:r>
            <a:endParaRPr lang="en-US" sz="3000" dirty="0"/>
          </a:p>
        </p:txBody>
      </p:sp>
      <p:sp>
        <p:nvSpPr>
          <p:cNvPr id="4" name="Text 2"/>
          <p:cNvSpPr txBox="1"/>
          <p:nvPr/>
        </p:nvSpPr>
        <p:spPr>
          <a:xfrm>
            <a:off x="548640" y="1536192"/>
            <a:ext cx="11064240" cy="365760"/>
          </a:xfrm>
          <a:prstGeom prst="rect">
            <a:avLst/>
          </a:prstGeom>
          <a:noFill/>
          <a:ln/>
        </p:spPr>
        <p:txBody>
          <a:bodyPr wrap="square" lIns="0" tIns="0" rIns="0" bIns="0" rtlCol="0" anchor="ctr"/>
          <a:lstStyle/>
          <a:p>
            <a:pPr indent="0" marL="0">
              <a:buNone/>
            </a:pPr>
            <a:r>
              <a:rPr lang="en-US" sz="1400" dirty="0">
                <a:solidFill>
                  <a:srgbClr val="94A8C4"/>
                </a:solidFill>
                <a:latin typeface="Calibri" pitchFamily="34" charset="0"/>
                <a:ea typeface="Calibri" pitchFamily="34" charset="-122"/>
                <a:cs typeface="Calibri" pitchFamily="34" charset="-120"/>
              </a:rPr>
              <a:t>Every ops team already has a change process. An AI that bypasses it is a non-starter — so SentinelOps files into Freshservice and reads the approval decision back out.</a:t>
            </a:r>
            <a:endParaRPr lang="en-US" sz="1400" dirty="0"/>
          </a:p>
        </p:txBody>
      </p:sp>
      <p:sp>
        <p:nvSpPr>
          <p:cNvPr id="5" name="Shape 3"/>
          <p:cNvSpPr/>
          <p:nvPr/>
        </p:nvSpPr>
        <p:spPr>
          <a:xfrm>
            <a:off x="548640" y="2048256"/>
            <a:ext cx="11091672" cy="649224"/>
          </a:xfrm>
          <a:prstGeom prst="roundRect">
            <a:avLst>
              <a:gd name="adj" fmla="val 5634"/>
            </a:avLst>
          </a:prstGeom>
          <a:solidFill>
            <a:srgbClr val="16213A"/>
          </a:solidFill>
          <a:ln w="12700">
            <a:solidFill>
              <a:srgbClr val="1E2A47"/>
            </a:solidFill>
            <a:prstDash val="solid"/>
          </a:ln>
        </p:spPr>
      </p:sp>
      <p:sp>
        <p:nvSpPr>
          <p:cNvPr id="6" name="Text 4"/>
          <p:cNvSpPr txBox="1"/>
          <p:nvPr/>
        </p:nvSpPr>
        <p:spPr>
          <a:xfrm>
            <a:off x="777240" y="2139696"/>
            <a:ext cx="2514600" cy="475488"/>
          </a:xfrm>
          <a:prstGeom prst="rect">
            <a:avLst/>
          </a:prstGeom>
          <a:noFill/>
          <a:ln/>
        </p:spPr>
        <p:txBody>
          <a:bodyPr wrap="square" lIns="0" tIns="0" rIns="0" bIns="0" rtlCol="0" anchor="ctr"/>
          <a:lstStyle/>
          <a:p>
            <a:pPr indent="0" marL="0">
              <a:buNone/>
            </a:pPr>
            <a:r>
              <a:rPr lang="en-US" sz="1100" dirty="0">
                <a:solidFill>
                  <a:srgbClr val="22D3EE"/>
                </a:solidFill>
                <a:latin typeface="Courier New" pitchFamily="34" charset="0"/>
                <a:ea typeface="Courier New" pitchFamily="34" charset="-122"/>
                <a:cs typeface="Courier New" pitchFamily="34" charset="-120"/>
              </a:rPr>
              <a:t>incident.opened</a:t>
            </a:r>
            <a:endParaRPr lang="en-US" sz="1100" dirty="0"/>
          </a:p>
        </p:txBody>
      </p:sp>
      <p:sp>
        <p:nvSpPr>
          <p:cNvPr id="7" name="Text 5"/>
          <p:cNvSpPr txBox="1"/>
          <p:nvPr/>
        </p:nvSpPr>
        <p:spPr>
          <a:xfrm>
            <a:off x="3337560" y="2139696"/>
            <a:ext cx="274320" cy="475488"/>
          </a:xfrm>
          <a:prstGeom prst="rect">
            <a:avLst/>
          </a:prstGeom>
          <a:noFill/>
          <a:ln/>
        </p:spPr>
        <p:txBody>
          <a:bodyPr wrap="square" lIns="0" tIns="0" rIns="0" bIns="0" rtlCol="0" anchor="ctr"/>
          <a:lstStyle/>
          <a:p>
            <a:pPr algn="ctr" indent="0" marL="0">
              <a:buNone/>
            </a:pPr>
            <a:r>
              <a:rPr lang="en-US" sz="1300" dirty="0">
                <a:solidFill>
                  <a:srgbClr val="3D5478"/>
                </a:solidFill>
                <a:latin typeface="Arial" pitchFamily="34" charset="0"/>
                <a:ea typeface="Arial" pitchFamily="34" charset="-122"/>
                <a:cs typeface="Arial" pitchFamily="34" charset="-120"/>
              </a:rPr>
              <a:t>→</a:t>
            </a:r>
            <a:endParaRPr lang="en-US" sz="1300" dirty="0"/>
          </a:p>
        </p:txBody>
      </p:sp>
      <p:sp>
        <p:nvSpPr>
          <p:cNvPr id="8" name="Text 6"/>
          <p:cNvSpPr txBox="1"/>
          <p:nvPr/>
        </p:nvSpPr>
        <p:spPr>
          <a:xfrm>
            <a:off x="3703320" y="2139696"/>
            <a:ext cx="2286000" cy="475488"/>
          </a:xfrm>
          <a:prstGeom prst="rect">
            <a:avLst/>
          </a:prstGeom>
          <a:noFill/>
          <a:ln/>
        </p:spPr>
        <p:txBody>
          <a:bodyPr wrap="square" lIns="0" tIns="0" rIns="0" bIns="0" rtlCol="0" anchor="ctr"/>
          <a:lstStyle/>
          <a:p>
            <a:pPr indent="0" marL="0">
              <a:buNone/>
            </a:pPr>
            <a:r>
              <a:rPr lang="en-US" sz="1300" b="1" dirty="0">
                <a:solidFill>
                  <a:srgbClr val="E9EFFA"/>
                </a:solidFill>
                <a:latin typeface="Arial" pitchFamily="34" charset="0"/>
                <a:ea typeface="Arial" pitchFamily="34" charset="-122"/>
                <a:cs typeface="Arial" pitchFamily="34" charset="-120"/>
              </a:rPr>
              <a:t>Incident ticket</a:t>
            </a:r>
            <a:endParaRPr lang="en-US" sz="1300" dirty="0"/>
          </a:p>
        </p:txBody>
      </p:sp>
      <p:sp>
        <p:nvSpPr>
          <p:cNvPr id="9" name="Text 7"/>
          <p:cNvSpPr txBox="1"/>
          <p:nvPr/>
        </p:nvSpPr>
        <p:spPr>
          <a:xfrm>
            <a:off x="6080760" y="2139696"/>
            <a:ext cx="5349240" cy="475488"/>
          </a:xfrm>
          <a:prstGeom prst="rect">
            <a:avLst/>
          </a:prstGeom>
          <a:noFill/>
          <a:ln/>
        </p:spPr>
        <p:txBody>
          <a:bodyPr wrap="square" lIns="0" tIns="0" rIns="0" bIns="0" rtlCol="0" anchor="ctr"/>
          <a:lstStyle/>
          <a:p>
            <a:pPr indent="0" marL="0">
              <a:lnSpc>
                <a:spcPts val="1400"/>
              </a:lnSpc>
              <a:buNone/>
            </a:pPr>
            <a:r>
              <a:rPr lang="en-US" sz="1150" dirty="0">
                <a:solidFill>
                  <a:srgbClr val="94A8C4"/>
                </a:solidFill>
                <a:latin typeface="Calibri" pitchFamily="34" charset="0"/>
                <a:ea typeface="Calibri" pitchFamily="34" charset="-122"/>
                <a:cs typeface="Calibri" pitchFamily="34" charset="-120"/>
              </a:rPr>
              <a:t>Priority from severity. A second service failing in the same outage joins the same ticket.</a:t>
            </a:r>
            <a:endParaRPr lang="en-US" sz="1150" dirty="0"/>
          </a:p>
        </p:txBody>
      </p:sp>
      <p:sp>
        <p:nvSpPr>
          <p:cNvPr id="10" name="Shape 8"/>
          <p:cNvSpPr/>
          <p:nvPr/>
        </p:nvSpPr>
        <p:spPr>
          <a:xfrm>
            <a:off x="548640" y="2770632"/>
            <a:ext cx="11091672" cy="649224"/>
          </a:xfrm>
          <a:prstGeom prst="roundRect">
            <a:avLst>
              <a:gd name="adj" fmla="val 5634"/>
            </a:avLst>
          </a:prstGeom>
          <a:solidFill>
            <a:srgbClr val="16213A"/>
          </a:solidFill>
          <a:ln w="12700">
            <a:solidFill>
              <a:srgbClr val="1E2A47"/>
            </a:solidFill>
            <a:prstDash val="solid"/>
          </a:ln>
        </p:spPr>
      </p:sp>
      <p:sp>
        <p:nvSpPr>
          <p:cNvPr id="11" name="Text 9"/>
          <p:cNvSpPr txBox="1"/>
          <p:nvPr/>
        </p:nvSpPr>
        <p:spPr>
          <a:xfrm>
            <a:off x="777240" y="2862072"/>
            <a:ext cx="2514600" cy="475488"/>
          </a:xfrm>
          <a:prstGeom prst="rect">
            <a:avLst/>
          </a:prstGeom>
          <a:noFill/>
          <a:ln/>
        </p:spPr>
        <p:txBody>
          <a:bodyPr wrap="square" lIns="0" tIns="0" rIns="0" bIns="0" rtlCol="0" anchor="ctr"/>
          <a:lstStyle/>
          <a:p>
            <a:pPr indent="0" marL="0">
              <a:buNone/>
            </a:pPr>
            <a:r>
              <a:rPr lang="en-US" sz="1100" dirty="0">
                <a:solidFill>
                  <a:srgbClr val="22D3EE"/>
                </a:solidFill>
                <a:latin typeface="Courier New" pitchFamily="34" charset="0"/>
                <a:ea typeface="Courier New" pitchFamily="34" charset="-122"/>
                <a:cs typeface="Courier New" pitchFamily="34" charset="-120"/>
              </a:rPr>
              <a:t>investigation.completed</a:t>
            </a:r>
            <a:endParaRPr lang="en-US" sz="1100" dirty="0"/>
          </a:p>
        </p:txBody>
      </p:sp>
      <p:sp>
        <p:nvSpPr>
          <p:cNvPr id="12" name="Text 10"/>
          <p:cNvSpPr txBox="1"/>
          <p:nvPr/>
        </p:nvSpPr>
        <p:spPr>
          <a:xfrm>
            <a:off x="3337560" y="2862072"/>
            <a:ext cx="274320" cy="475488"/>
          </a:xfrm>
          <a:prstGeom prst="rect">
            <a:avLst/>
          </a:prstGeom>
          <a:noFill/>
          <a:ln/>
        </p:spPr>
        <p:txBody>
          <a:bodyPr wrap="square" lIns="0" tIns="0" rIns="0" bIns="0" rtlCol="0" anchor="ctr"/>
          <a:lstStyle/>
          <a:p>
            <a:pPr algn="ctr" indent="0" marL="0">
              <a:buNone/>
            </a:pPr>
            <a:r>
              <a:rPr lang="en-US" sz="1300" dirty="0">
                <a:solidFill>
                  <a:srgbClr val="3D5478"/>
                </a:solidFill>
                <a:latin typeface="Arial" pitchFamily="34" charset="0"/>
                <a:ea typeface="Arial" pitchFamily="34" charset="-122"/>
                <a:cs typeface="Arial" pitchFamily="34" charset="-120"/>
              </a:rPr>
              <a:t>→</a:t>
            </a:r>
            <a:endParaRPr lang="en-US" sz="1300" dirty="0"/>
          </a:p>
        </p:txBody>
      </p:sp>
      <p:sp>
        <p:nvSpPr>
          <p:cNvPr id="13" name="Text 11"/>
          <p:cNvSpPr txBox="1"/>
          <p:nvPr/>
        </p:nvSpPr>
        <p:spPr>
          <a:xfrm>
            <a:off x="3703320" y="2862072"/>
            <a:ext cx="2286000" cy="475488"/>
          </a:xfrm>
          <a:prstGeom prst="rect">
            <a:avLst/>
          </a:prstGeom>
          <a:noFill/>
          <a:ln/>
        </p:spPr>
        <p:txBody>
          <a:bodyPr wrap="square" lIns="0" tIns="0" rIns="0" bIns="0" rtlCol="0" anchor="ctr"/>
          <a:lstStyle/>
          <a:p>
            <a:pPr indent="0" marL="0">
              <a:buNone/>
            </a:pPr>
            <a:r>
              <a:rPr lang="en-US" sz="1300" b="1" dirty="0">
                <a:solidFill>
                  <a:srgbClr val="E9EFFA"/>
                </a:solidFill>
                <a:latin typeface="Arial" pitchFamily="34" charset="0"/>
                <a:ea typeface="Arial" pitchFamily="34" charset="-122"/>
                <a:cs typeface="Arial" pitchFamily="34" charset="-120"/>
              </a:rPr>
              <a:t>Note with evidence</a:t>
            </a:r>
            <a:endParaRPr lang="en-US" sz="1300" dirty="0"/>
          </a:p>
        </p:txBody>
      </p:sp>
      <p:sp>
        <p:nvSpPr>
          <p:cNvPr id="14" name="Text 12"/>
          <p:cNvSpPr txBox="1"/>
          <p:nvPr/>
        </p:nvSpPr>
        <p:spPr>
          <a:xfrm>
            <a:off x="6080760" y="2862072"/>
            <a:ext cx="5349240" cy="475488"/>
          </a:xfrm>
          <a:prstGeom prst="rect">
            <a:avLst/>
          </a:prstGeom>
          <a:noFill/>
          <a:ln/>
        </p:spPr>
        <p:txBody>
          <a:bodyPr wrap="square" lIns="0" tIns="0" rIns="0" bIns="0" rtlCol="0" anchor="ctr"/>
          <a:lstStyle/>
          <a:p>
            <a:pPr indent="0" marL="0">
              <a:lnSpc>
                <a:spcPts val="1400"/>
              </a:lnSpc>
              <a:buNone/>
            </a:pPr>
            <a:r>
              <a:rPr lang="en-US" sz="1150" dirty="0">
                <a:solidFill>
                  <a:srgbClr val="94A8C4"/>
                </a:solidFill>
                <a:latin typeface="Calibri" pitchFamily="34" charset="0"/>
                <a:ea typeface="Calibri" pitchFamily="34" charset="-122"/>
                <a:cs typeface="Calibri" pitchFamily="34" charset="-120"/>
              </a:rPr>
              <a:t>The root cause, the reasoning, and the tool output behind it — plus a button back into SentinelOps.</a:t>
            </a:r>
            <a:endParaRPr lang="en-US" sz="1150" dirty="0"/>
          </a:p>
        </p:txBody>
      </p:sp>
      <p:sp>
        <p:nvSpPr>
          <p:cNvPr id="15" name="Shape 13"/>
          <p:cNvSpPr/>
          <p:nvPr/>
        </p:nvSpPr>
        <p:spPr>
          <a:xfrm>
            <a:off x="548640" y="3493008"/>
            <a:ext cx="11091672" cy="649224"/>
          </a:xfrm>
          <a:prstGeom prst="roundRect">
            <a:avLst>
              <a:gd name="adj" fmla="val 5634"/>
            </a:avLst>
          </a:prstGeom>
          <a:solidFill>
            <a:srgbClr val="16213A"/>
          </a:solidFill>
          <a:ln w="12700">
            <a:solidFill>
              <a:srgbClr val="1E2A47"/>
            </a:solidFill>
            <a:prstDash val="solid"/>
          </a:ln>
        </p:spPr>
      </p:sp>
      <p:sp>
        <p:nvSpPr>
          <p:cNvPr id="16" name="Text 14"/>
          <p:cNvSpPr txBox="1"/>
          <p:nvPr/>
        </p:nvSpPr>
        <p:spPr>
          <a:xfrm>
            <a:off x="777240" y="3584448"/>
            <a:ext cx="2514600" cy="475488"/>
          </a:xfrm>
          <a:prstGeom prst="rect">
            <a:avLst/>
          </a:prstGeom>
          <a:noFill/>
          <a:ln/>
        </p:spPr>
        <p:txBody>
          <a:bodyPr wrap="square" lIns="0" tIns="0" rIns="0" bIns="0" rtlCol="0" anchor="ctr"/>
          <a:lstStyle/>
          <a:p>
            <a:pPr indent="0" marL="0">
              <a:buNone/>
            </a:pPr>
            <a:r>
              <a:rPr lang="en-US" sz="1100" dirty="0">
                <a:solidFill>
                  <a:srgbClr val="FBBF24"/>
                </a:solidFill>
                <a:latin typeface="Courier New" pitchFamily="34" charset="0"/>
                <a:ea typeface="Courier New" pitchFamily="34" charset="-122"/>
                <a:cs typeface="Courier New" pitchFamily="34" charset="-120"/>
              </a:rPr>
              <a:t>remediation.proposed</a:t>
            </a:r>
            <a:endParaRPr lang="en-US" sz="1100" dirty="0"/>
          </a:p>
        </p:txBody>
      </p:sp>
      <p:sp>
        <p:nvSpPr>
          <p:cNvPr id="17" name="Text 15"/>
          <p:cNvSpPr txBox="1"/>
          <p:nvPr/>
        </p:nvSpPr>
        <p:spPr>
          <a:xfrm>
            <a:off x="3337560" y="3584448"/>
            <a:ext cx="274320" cy="475488"/>
          </a:xfrm>
          <a:prstGeom prst="rect">
            <a:avLst/>
          </a:prstGeom>
          <a:noFill/>
          <a:ln/>
        </p:spPr>
        <p:txBody>
          <a:bodyPr wrap="square" lIns="0" tIns="0" rIns="0" bIns="0" rtlCol="0" anchor="ctr"/>
          <a:lstStyle/>
          <a:p>
            <a:pPr algn="ctr" indent="0" marL="0">
              <a:buNone/>
            </a:pPr>
            <a:r>
              <a:rPr lang="en-US" sz="1300" dirty="0">
                <a:solidFill>
                  <a:srgbClr val="3D5478"/>
                </a:solidFill>
                <a:latin typeface="Arial" pitchFamily="34" charset="0"/>
                <a:ea typeface="Arial" pitchFamily="34" charset="-122"/>
                <a:cs typeface="Arial" pitchFamily="34" charset="-120"/>
              </a:rPr>
              <a:t>→</a:t>
            </a:r>
            <a:endParaRPr lang="en-US" sz="1300" dirty="0"/>
          </a:p>
        </p:txBody>
      </p:sp>
      <p:sp>
        <p:nvSpPr>
          <p:cNvPr id="18" name="Text 16"/>
          <p:cNvSpPr txBox="1"/>
          <p:nvPr/>
        </p:nvSpPr>
        <p:spPr>
          <a:xfrm>
            <a:off x="3703320" y="3584448"/>
            <a:ext cx="2286000" cy="475488"/>
          </a:xfrm>
          <a:prstGeom prst="rect">
            <a:avLst/>
          </a:prstGeom>
          <a:noFill/>
          <a:ln/>
        </p:spPr>
        <p:txBody>
          <a:bodyPr wrap="square" lIns="0" tIns="0" rIns="0" bIns="0" rtlCol="0" anchor="ctr"/>
          <a:lstStyle/>
          <a:p>
            <a:pPr indent="0" marL="0">
              <a:buNone/>
            </a:pPr>
            <a:r>
              <a:rPr lang="en-US" sz="1300" b="1" dirty="0">
                <a:solidFill>
                  <a:srgbClr val="E9EFFA"/>
                </a:solidFill>
                <a:latin typeface="Arial" pitchFamily="34" charset="0"/>
                <a:ea typeface="Arial" pitchFamily="34" charset="-122"/>
                <a:cs typeface="Arial" pitchFamily="34" charset="-120"/>
              </a:rPr>
              <a:t>Change request</a:t>
            </a:r>
            <a:endParaRPr lang="en-US" sz="1300" dirty="0"/>
          </a:p>
        </p:txBody>
      </p:sp>
      <p:sp>
        <p:nvSpPr>
          <p:cNvPr id="19" name="Text 17"/>
          <p:cNvSpPr txBox="1"/>
          <p:nvPr/>
        </p:nvSpPr>
        <p:spPr>
          <a:xfrm>
            <a:off x="6080760" y="3584448"/>
            <a:ext cx="5349240" cy="475488"/>
          </a:xfrm>
          <a:prstGeom prst="rect">
            <a:avLst/>
          </a:prstGeom>
          <a:noFill/>
          <a:ln/>
        </p:spPr>
        <p:txBody>
          <a:bodyPr wrap="square" lIns="0" tIns="0" rIns="0" bIns="0" rtlCol="0" anchor="ctr"/>
          <a:lstStyle/>
          <a:p>
            <a:pPr indent="0" marL="0">
              <a:lnSpc>
                <a:spcPts val="1400"/>
              </a:lnSpc>
              <a:buNone/>
            </a:pPr>
            <a:r>
              <a:rPr lang="en-US" sz="1150" dirty="0">
                <a:solidFill>
                  <a:srgbClr val="94A8C4"/>
                </a:solidFill>
                <a:latin typeface="Calibri" pitchFamily="34" charset="0"/>
                <a:ea typeface="Calibri" pitchFamily="34" charset="-122"/>
                <a:cs typeface="Calibri" pitchFamily="34" charset="-120"/>
              </a:rPr>
              <a:t>The exact diff, the blast radius, how success is judged, and the rollback plan. Approvers read it like a pull request.</a:t>
            </a:r>
            <a:endParaRPr lang="en-US" sz="1150" dirty="0"/>
          </a:p>
        </p:txBody>
      </p:sp>
      <p:sp>
        <p:nvSpPr>
          <p:cNvPr id="20" name="Shape 18"/>
          <p:cNvSpPr/>
          <p:nvPr/>
        </p:nvSpPr>
        <p:spPr>
          <a:xfrm>
            <a:off x="548640" y="4215384"/>
            <a:ext cx="11091672" cy="649224"/>
          </a:xfrm>
          <a:prstGeom prst="roundRect">
            <a:avLst>
              <a:gd name="adj" fmla="val 5634"/>
            </a:avLst>
          </a:prstGeom>
          <a:solidFill>
            <a:srgbClr val="16213A"/>
          </a:solidFill>
          <a:ln w="12700">
            <a:solidFill>
              <a:srgbClr val="1E2A47"/>
            </a:solidFill>
            <a:prstDash val="solid"/>
          </a:ln>
        </p:spPr>
      </p:sp>
      <p:sp>
        <p:nvSpPr>
          <p:cNvPr id="21" name="Text 19"/>
          <p:cNvSpPr txBox="1"/>
          <p:nvPr/>
        </p:nvSpPr>
        <p:spPr>
          <a:xfrm>
            <a:off x="777240" y="4306824"/>
            <a:ext cx="2514600" cy="475488"/>
          </a:xfrm>
          <a:prstGeom prst="rect">
            <a:avLst/>
          </a:prstGeom>
          <a:noFill/>
          <a:ln/>
        </p:spPr>
        <p:txBody>
          <a:bodyPr wrap="square" lIns="0" tIns="0" rIns="0" bIns="0" rtlCol="0" anchor="ctr"/>
          <a:lstStyle/>
          <a:p>
            <a:pPr indent="0" marL="0">
              <a:buNone/>
            </a:pPr>
            <a:r>
              <a:rPr lang="en-US" sz="1100" dirty="0">
                <a:solidFill>
                  <a:srgbClr val="34D399"/>
                </a:solidFill>
                <a:latin typeface="Courier New" pitchFamily="34" charset="0"/>
                <a:ea typeface="Courier New" pitchFamily="34" charset="-122"/>
                <a:cs typeface="Courier New" pitchFamily="34" charset="-120"/>
              </a:rPr>
              <a:t>approval in Freshservice</a:t>
            </a:r>
            <a:endParaRPr lang="en-US" sz="1100" dirty="0"/>
          </a:p>
        </p:txBody>
      </p:sp>
      <p:sp>
        <p:nvSpPr>
          <p:cNvPr id="22" name="Text 20"/>
          <p:cNvSpPr txBox="1"/>
          <p:nvPr/>
        </p:nvSpPr>
        <p:spPr>
          <a:xfrm>
            <a:off x="3337560" y="4306824"/>
            <a:ext cx="274320" cy="475488"/>
          </a:xfrm>
          <a:prstGeom prst="rect">
            <a:avLst/>
          </a:prstGeom>
          <a:noFill/>
          <a:ln/>
        </p:spPr>
        <p:txBody>
          <a:bodyPr wrap="square" lIns="0" tIns="0" rIns="0" bIns="0" rtlCol="0" anchor="ctr"/>
          <a:lstStyle/>
          <a:p>
            <a:pPr algn="ctr" indent="0" marL="0">
              <a:buNone/>
            </a:pPr>
            <a:r>
              <a:rPr lang="en-US" sz="1300" dirty="0">
                <a:solidFill>
                  <a:srgbClr val="3D5478"/>
                </a:solidFill>
                <a:latin typeface="Arial" pitchFamily="34" charset="0"/>
                <a:ea typeface="Arial" pitchFamily="34" charset="-122"/>
                <a:cs typeface="Arial" pitchFamily="34" charset="-120"/>
              </a:rPr>
              <a:t>→</a:t>
            </a:r>
            <a:endParaRPr lang="en-US" sz="1300" dirty="0"/>
          </a:p>
        </p:txBody>
      </p:sp>
      <p:sp>
        <p:nvSpPr>
          <p:cNvPr id="23" name="Text 21"/>
          <p:cNvSpPr txBox="1"/>
          <p:nvPr/>
        </p:nvSpPr>
        <p:spPr>
          <a:xfrm>
            <a:off x="3703320" y="4306824"/>
            <a:ext cx="2286000" cy="475488"/>
          </a:xfrm>
          <a:prstGeom prst="rect">
            <a:avLst/>
          </a:prstGeom>
          <a:noFill/>
          <a:ln/>
        </p:spPr>
        <p:txBody>
          <a:bodyPr wrap="square" lIns="0" tIns="0" rIns="0" bIns="0" rtlCol="0" anchor="ctr"/>
          <a:lstStyle/>
          <a:p>
            <a:pPr indent="0" marL="0">
              <a:buNone/>
            </a:pPr>
            <a:r>
              <a:rPr lang="en-US" sz="1300" b="1" dirty="0">
                <a:solidFill>
                  <a:srgbClr val="E9EFFA"/>
                </a:solidFill>
                <a:latin typeface="Arial" pitchFamily="34" charset="0"/>
                <a:ea typeface="Arial" pitchFamily="34" charset="-122"/>
                <a:cs typeface="Arial" pitchFamily="34" charset="-120"/>
              </a:rPr>
              <a:t>Read back every 15s</a:t>
            </a:r>
            <a:endParaRPr lang="en-US" sz="1300" dirty="0"/>
          </a:p>
        </p:txBody>
      </p:sp>
      <p:sp>
        <p:nvSpPr>
          <p:cNvPr id="24" name="Text 22"/>
          <p:cNvSpPr txBox="1"/>
          <p:nvPr/>
        </p:nvSpPr>
        <p:spPr>
          <a:xfrm>
            <a:off x="6080760" y="4306824"/>
            <a:ext cx="5349240" cy="475488"/>
          </a:xfrm>
          <a:prstGeom prst="rect">
            <a:avLst/>
          </a:prstGeom>
          <a:noFill/>
          <a:ln/>
        </p:spPr>
        <p:txBody>
          <a:bodyPr wrap="square" lIns="0" tIns="0" rIns="0" bIns="0" rtlCol="0" anchor="ctr"/>
          <a:lstStyle/>
          <a:p>
            <a:pPr indent="0" marL="0">
              <a:lnSpc>
                <a:spcPts val="1400"/>
              </a:lnSpc>
              <a:buNone/>
            </a:pPr>
            <a:r>
              <a:rPr lang="en-US" sz="1150" dirty="0">
                <a:solidFill>
                  <a:srgbClr val="94A8C4"/>
                </a:solidFill>
                <a:latin typeface="Calibri" pitchFamily="34" charset="0"/>
                <a:ea typeface="Calibri" pitchFamily="34" charset="-122"/>
                <a:cs typeface="Calibri" pitchFamily="34" charset="-120"/>
              </a:rPr>
              <a:t>GET /api/v2/changes/{id}/approvals. A rejection beats an approval; approving in both places can never run the fix twice.</a:t>
            </a:r>
            <a:endParaRPr lang="en-US" sz="1150" dirty="0"/>
          </a:p>
        </p:txBody>
      </p:sp>
      <p:sp>
        <p:nvSpPr>
          <p:cNvPr id="25" name="Shape 23"/>
          <p:cNvSpPr/>
          <p:nvPr/>
        </p:nvSpPr>
        <p:spPr>
          <a:xfrm>
            <a:off x="548640" y="4937760"/>
            <a:ext cx="11091672" cy="649224"/>
          </a:xfrm>
          <a:prstGeom prst="roundRect">
            <a:avLst>
              <a:gd name="adj" fmla="val 5634"/>
            </a:avLst>
          </a:prstGeom>
          <a:solidFill>
            <a:srgbClr val="16213A"/>
          </a:solidFill>
          <a:ln w="12700">
            <a:solidFill>
              <a:srgbClr val="1E2A47"/>
            </a:solidFill>
            <a:prstDash val="solid"/>
          </a:ln>
        </p:spPr>
      </p:sp>
      <p:sp>
        <p:nvSpPr>
          <p:cNvPr id="26" name="Text 24"/>
          <p:cNvSpPr txBox="1"/>
          <p:nvPr/>
        </p:nvSpPr>
        <p:spPr>
          <a:xfrm>
            <a:off x="777240" y="5029200"/>
            <a:ext cx="2514600" cy="475488"/>
          </a:xfrm>
          <a:prstGeom prst="rect">
            <a:avLst/>
          </a:prstGeom>
          <a:noFill/>
          <a:ln/>
        </p:spPr>
        <p:txBody>
          <a:bodyPr wrap="square" lIns="0" tIns="0" rIns="0" bIns="0" rtlCol="0" anchor="ctr"/>
          <a:lstStyle/>
          <a:p>
            <a:pPr indent="0" marL="0">
              <a:buNone/>
            </a:pPr>
            <a:r>
              <a:rPr lang="en-US" sz="1100" dirty="0">
                <a:solidFill>
                  <a:srgbClr val="34D399"/>
                </a:solidFill>
                <a:latin typeface="Courier New" pitchFamily="34" charset="0"/>
                <a:ea typeface="Courier New" pitchFamily="34" charset="-122"/>
                <a:cs typeface="Courier New" pitchFamily="34" charset="-120"/>
              </a:rPr>
              <a:t>execution + verification</a:t>
            </a:r>
            <a:endParaRPr lang="en-US" sz="1100" dirty="0"/>
          </a:p>
        </p:txBody>
      </p:sp>
      <p:sp>
        <p:nvSpPr>
          <p:cNvPr id="27" name="Text 25"/>
          <p:cNvSpPr txBox="1"/>
          <p:nvPr/>
        </p:nvSpPr>
        <p:spPr>
          <a:xfrm>
            <a:off x="3337560" y="5029200"/>
            <a:ext cx="274320" cy="475488"/>
          </a:xfrm>
          <a:prstGeom prst="rect">
            <a:avLst/>
          </a:prstGeom>
          <a:noFill/>
          <a:ln/>
        </p:spPr>
        <p:txBody>
          <a:bodyPr wrap="square" lIns="0" tIns="0" rIns="0" bIns="0" rtlCol="0" anchor="ctr"/>
          <a:lstStyle/>
          <a:p>
            <a:pPr algn="ctr" indent="0" marL="0">
              <a:buNone/>
            </a:pPr>
            <a:r>
              <a:rPr lang="en-US" sz="1300" dirty="0">
                <a:solidFill>
                  <a:srgbClr val="3D5478"/>
                </a:solidFill>
                <a:latin typeface="Arial" pitchFamily="34" charset="0"/>
                <a:ea typeface="Arial" pitchFamily="34" charset="-122"/>
                <a:cs typeface="Arial" pitchFamily="34" charset="-120"/>
              </a:rPr>
              <a:t>→</a:t>
            </a:r>
            <a:endParaRPr lang="en-US" sz="1300" dirty="0"/>
          </a:p>
        </p:txBody>
      </p:sp>
      <p:sp>
        <p:nvSpPr>
          <p:cNvPr id="28" name="Text 26"/>
          <p:cNvSpPr txBox="1"/>
          <p:nvPr/>
        </p:nvSpPr>
        <p:spPr>
          <a:xfrm>
            <a:off x="3703320" y="5029200"/>
            <a:ext cx="2286000" cy="475488"/>
          </a:xfrm>
          <a:prstGeom prst="rect">
            <a:avLst/>
          </a:prstGeom>
          <a:noFill/>
          <a:ln/>
        </p:spPr>
        <p:txBody>
          <a:bodyPr wrap="square" lIns="0" tIns="0" rIns="0" bIns="0" rtlCol="0" anchor="ctr"/>
          <a:lstStyle/>
          <a:p>
            <a:pPr indent="0" marL="0">
              <a:buNone/>
            </a:pPr>
            <a:r>
              <a:rPr lang="en-US" sz="1300" b="1" dirty="0">
                <a:solidFill>
                  <a:srgbClr val="E9EFFA"/>
                </a:solidFill>
                <a:latin typeface="Arial" pitchFamily="34" charset="0"/>
                <a:ea typeface="Arial" pitchFamily="34" charset="-122"/>
                <a:cs typeface="Arial" pitchFamily="34" charset="-120"/>
              </a:rPr>
              <a:t>Notes, then closed</a:t>
            </a:r>
            <a:endParaRPr lang="en-US" sz="1300" dirty="0"/>
          </a:p>
        </p:txBody>
      </p:sp>
      <p:sp>
        <p:nvSpPr>
          <p:cNvPr id="29" name="Text 27"/>
          <p:cNvSpPr txBox="1"/>
          <p:nvPr/>
        </p:nvSpPr>
        <p:spPr>
          <a:xfrm>
            <a:off x="6080760" y="5029200"/>
            <a:ext cx="5349240" cy="475488"/>
          </a:xfrm>
          <a:prstGeom prst="rect">
            <a:avLst/>
          </a:prstGeom>
          <a:noFill/>
          <a:ln/>
        </p:spPr>
        <p:txBody>
          <a:bodyPr wrap="square" lIns="0" tIns="0" rIns="0" bIns="0" rtlCol="0" anchor="ctr"/>
          <a:lstStyle/>
          <a:p>
            <a:pPr indent="0" marL="0">
              <a:lnSpc>
                <a:spcPts val="1400"/>
              </a:lnSpc>
              <a:buNone/>
            </a:pPr>
            <a:r>
              <a:rPr lang="en-US" sz="1150" dirty="0">
                <a:solidFill>
                  <a:srgbClr val="94A8C4"/>
                </a:solidFill>
                <a:latin typeface="Calibri" pitchFamily="34" charset="0"/>
                <a:ea typeface="Calibri" pitchFamily="34" charset="-122"/>
                <a:cs typeface="Calibri" pitchFamily="34" charset="-120"/>
              </a:rPr>
              <a:t>Applied, verified or rolled back — each posted to the change and the ticket, and the change is closed out.</a:t>
            </a:r>
            <a:endParaRPr lang="en-US" sz="1150" dirty="0"/>
          </a:p>
        </p:txBody>
      </p:sp>
      <p:sp>
        <p:nvSpPr>
          <p:cNvPr id="30" name="Shape 28"/>
          <p:cNvSpPr/>
          <p:nvPr/>
        </p:nvSpPr>
        <p:spPr>
          <a:xfrm>
            <a:off x="548640" y="5724144"/>
            <a:ext cx="11091672" cy="603504"/>
          </a:xfrm>
          <a:prstGeom prst="roundRect">
            <a:avLst>
              <a:gd name="adj" fmla="val 6061"/>
            </a:avLst>
          </a:prstGeom>
          <a:solidFill>
            <a:srgbClr val="1E2A47"/>
          </a:solidFill>
          <a:ln w="12700">
            <a:solidFill>
              <a:srgbClr val="1E2A47"/>
            </a:solidFill>
            <a:prstDash val="solid"/>
          </a:ln>
        </p:spPr>
      </p:sp>
      <p:sp>
        <p:nvSpPr>
          <p:cNvPr id="31" name="Text 29"/>
          <p:cNvSpPr txBox="1"/>
          <p:nvPr/>
        </p:nvSpPr>
        <p:spPr>
          <a:xfrm>
            <a:off x="777240" y="5806440"/>
            <a:ext cx="4114800" cy="438912"/>
          </a:xfrm>
          <a:prstGeom prst="rect">
            <a:avLst/>
          </a:prstGeom>
          <a:noFill/>
          <a:ln/>
        </p:spPr>
        <p:txBody>
          <a:bodyPr wrap="square" lIns="0" tIns="0" rIns="0" bIns="0" rtlCol="0" anchor="ctr"/>
          <a:lstStyle/>
          <a:p>
            <a:pPr indent="0" marL="0">
              <a:buNone/>
            </a:pPr>
            <a:r>
              <a:rPr lang="en-US" sz="1200" b="1" dirty="0">
                <a:solidFill>
                  <a:srgbClr val="E9EFFA"/>
                </a:solidFill>
                <a:latin typeface="Calibri" pitchFamily="34" charset="0"/>
                <a:ea typeface="Calibri" pitchFamily="34" charset="-122"/>
                <a:cs typeface="Calibri" pitchFamily="34" charset="-120"/>
              </a:rPr>
              <a:t>Two Freshworks surfaces, split by what each one covers:</a:t>
            </a:r>
            <a:endParaRPr lang="en-US" sz="1200" dirty="0"/>
          </a:p>
        </p:txBody>
      </p:sp>
      <p:sp>
        <p:nvSpPr>
          <p:cNvPr id="32" name="Text 30"/>
          <p:cNvSpPr txBox="1"/>
          <p:nvPr/>
        </p:nvSpPr>
        <p:spPr>
          <a:xfrm>
            <a:off x="4983480" y="5806440"/>
            <a:ext cx="6446520" cy="438912"/>
          </a:xfrm>
          <a:prstGeom prst="rect">
            <a:avLst/>
          </a:prstGeom>
          <a:noFill/>
          <a:ln/>
        </p:spPr>
        <p:txBody>
          <a:bodyPr wrap="square" lIns="0" tIns="0" rIns="0" bIns="0" rtlCol="0" anchor="ctr"/>
          <a:lstStyle/>
          <a:p>
            <a:pPr indent="0" marL="0">
              <a:buNone/>
            </a:pPr>
            <a:r>
              <a:rPr lang="en-US" sz="1150" dirty="0">
                <a:solidFill>
                  <a:srgbClr val="94A8C4"/>
                </a:solidFill>
                <a:latin typeface="Calibri" pitchFamily="34" charset="0"/>
                <a:ea typeface="Calibri" pitchFamily="34" charset="-122"/>
                <a:cs typeface="Calibri" pitchFamily="34" charset="-120"/>
              </a:rPr>
              <a:t>hosted MCP server for tickets and solution articles  ·  REST v2 for changes, approvals and problems, which MCP does not expose</a:t>
            </a:r>
            <a:endParaRPr lang="en-US" sz="1150" dirty="0"/>
          </a:p>
        </p:txBody>
      </p:sp>
      <p:sp>
        <p:nvSpPr>
          <p:cNvPr id="33" name="Text 31"/>
          <p:cNvSpPr txBox="1"/>
          <p:nvPr/>
        </p:nvSpPr>
        <p:spPr>
          <a:xfrm>
            <a:off x="548640" y="6400800"/>
            <a:ext cx="3657600" cy="256032"/>
          </a:xfrm>
          <a:prstGeom prst="rect">
            <a:avLst/>
          </a:prstGeom>
          <a:noFill/>
          <a:ln/>
        </p:spPr>
        <p:txBody>
          <a:bodyPr wrap="square" lIns="0" tIns="0" rIns="0" bIns="0" rtlCol="0" anchor="ctr"/>
          <a:lstStyle/>
          <a:p>
            <a:pPr indent="0" marL="0">
              <a:buNone/>
            </a:pPr>
            <a:r>
              <a:rPr lang="en-US" sz="1000" dirty="0">
                <a:solidFill>
                  <a:srgbClr val="5A6E8C"/>
                </a:solidFill>
                <a:latin typeface="Calibri" pitchFamily="34" charset="0"/>
                <a:ea typeface="Calibri" pitchFamily="34" charset="-122"/>
                <a:cs typeface="Calibri" pitchFamily="34" charset="-120"/>
              </a:rPr>
              <a:t>SentinelOps AI</a:t>
            </a:r>
            <a:endParaRPr lang="en-US" sz="1000" dirty="0"/>
          </a:p>
        </p:txBody>
      </p:sp>
      <p:sp>
        <p:nvSpPr>
          <p:cNvPr id="34" name="Text 32"/>
          <p:cNvSpPr txBox="1"/>
          <p:nvPr/>
        </p:nvSpPr>
        <p:spPr>
          <a:xfrm>
            <a:off x="10725912" y="6400800"/>
            <a:ext cx="914400" cy="256032"/>
          </a:xfrm>
          <a:prstGeom prst="rect">
            <a:avLst/>
          </a:prstGeom>
          <a:noFill/>
          <a:ln/>
        </p:spPr>
        <p:txBody>
          <a:bodyPr wrap="square" lIns="0" tIns="0" rIns="0" bIns="0" rtlCol="0" anchor="ctr"/>
          <a:lstStyle/>
          <a:p>
            <a:pPr algn="r" indent="0" marL="0">
              <a:buNone/>
            </a:pPr>
            <a:r>
              <a:rPr lang="en-US" sz="1000" dirty="0">
                <a:solidFill>
                  <a:srgbClr val="5A6E8C"/>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411480"/>
            <a:ext cx="10058400" cy="256032"/>
          </a:xfrm>
          <a:prstGeom prst="rect">
            <a:avLst/>
          </a:prstGeom>
          <a:noFill/>
          <a:ln/>
        </p:spPr>
        <p:txBody>
          <a:bodyPr wrap="square" lIns="0" tIns="0" rIns="0" bIns="0" rtlCol="0" anchor="ctr"/>
          <a:lstStyle/>
          <a:p>
            <a:pPr indent="0" marL="0">
              <a:buNone/>
            </a:pPr>
            <a:r>
              <a:rPr lang="en-US" sz="1200" b="1" spc="200" kern="0" dirty="0">
                <a:solidFill>
                  <a:srgbClr val="22D3EE"/>
                </a:solidFill>
                <a:latin typeface="Calibri" pitchFamily="34" charset="0"/>
                <a:ea typeface="Calibri" pitchFamily="34" charset="-122"/>
                <a:cs typeface="Calibri" pitchFamily="34" charset="-120"/>
              </a:rPr>
              <a:t>CLOSING THE LAST GAP: ON-CALL ESCALATION</a:t>
            </a:r>
            <a:endParaRPr lang="en-US" sz="1200" dirty="0"/>
          </a:p>
        </p:txBody>
      </p:sp>
      <p:sp>
        <p:nvSpPr>
          <p:cNvPr id="3" name="Text 1"/>
          <p:cNvSpPr txBox="1"/>
          <p:nvPr/>
        </p:nvSpPr>
        <p:spPr>
          <a:xfrm>
            <a:off x="548640" y="722376"/>
            <a:ext cx="11064240" cy="475488"/>
          </a:xfrm>
          <a:prstGeom prst="rect">
            <a:avLst/>
          </a:prstGeom>
          <a:noFill/>
          <a:ln/>
        </p:spPr>
        <p:txBody>
          <a:bodyPr wrap="square" lIns="0" tIns="0" rIns="0" bIns="0" rtlCol="0" anchor="ctr"/>
          <a:lstStyle/>
          <a:p>
            <a:pPr indent="0" marL="0">
              <a:buNone/>
            </a:pPr>
            <a:r>
              <a:rPr lang="en-US" sz="3000" b="1" dirty="0">
                <a:solidFill>
                  <a:srgbClr val="E9EFFA"/>
                </a:solidFill>
                <a:latin typeface="Arial" pitchFamily="34" charset="0"/>
                <a:ea typeface="Arial" pitchFamily="34" charset="-122"/>
                <a:cs typeface="Arial" pitchFamily="34" charset="-120"/>
              </a:rPr>
              <a:t>A ticket can sit unnoticed. A ringing phone cannot.</a:t>
            </a:r>
            <a:endParaRPr lang="en-US" sz="3000" dirty="0"/>
          </a:p>
        </p:txBody>
      </p:sp>
      <p:sp>
        <p:nvSpPr>
          <p:cNvPr id="4" name="Text 2"/>
          <p:cNvSpPr txBox="1"/>
          <p:nvPr/>
        </p:nvSpPr>
        <p:spPr>
          <a:xfrm>
            <a:off x="548640" y="1591056"/>
            <a:ext cx="6766560" cy="777240"/>
          </a:xfrm>
          <a:prstGeom prst="rect">
            <a:avLst/>
          </a:prstGeom>
          <a:noFill/>
          <a:ln/>
        </p:spPr>
        <p:txBody>
          <a:bodyPr wrap="square" lIns="0" tIns="0" rIns="0" bIns="0" rtlCol="0" anchor="ctr"/>
          <a:lstStyle/>
          <a:p>
            <a:pPr indent="0" marL="0">
              <a:lnSpc>
                <a:spcPts val="2100"/>
              </a:lnSpc>
              <a:buNone/>
            </a:pPr>
            <a:r>
              <a:rPr lang="en-US" sz="1500" dirty="0">
                <a:solidFill>
                  <a:srgbClr val="E9EFFA"/>
                </a:solidFill>
                <a:latin typeface="Calibri" pitchFamily="34" charset="0"/>
                <a:ea typeface="Calibri" pitchFamily="34" charset="-122"/>
                <a:cs typeface="Calibri" pitchFamily="34" charset="-120"/>
              </a:rPr>
              <a:t>Autonomy only pays off if the one human step actually happens. When a fix is waiting for approval, SentinelOps phones the on-call engineer and reads out what is broken.</a:t>
            </a:r>
            <a:endParaRPr lang="en-US" sz="1500" dirty="0"/>
          </a:p>
        </p:txBody>
      </p:sp>
      <p:sp>
        <p:nvSpPr>
          <p:cNvPr id="5" name="Shape 3"/>
          <p:cNvSpPr/>
          <p:nvPr/>
        </p:nvSpPr>
        <p:spPr>
          <a:xfrm>
            <a:off x="548640" y="2551176"/>
            <a:ext cx="6766560" cy="1097280"/>
          </a:xfrm>
          <a:prstGeom prst="roundRect">
            <a:avLst>
              <a:gd name="adj" fmla="val 3333"/>
            </a:avLst>
          </a:prstGeom>
          <a:solidFill>
            <a:srgbClr val="16213A"/>
          </a:solidFill>
          <a:ln w="12700">
            <a:solidFill>
              <a:srgbClr val="1E2A47"/>
            </a:solidFill>
            <a:prstDash val="solid"/>
          </a:ln>
        </p:spPr>
      </p:sp>
      <p:sp>
        <p:nvSpPr>
          <p:cNvPr id="6" name="Shape 4"/>
          <p:cNvSpPr/>
          <p:nvPr/>
        </p:nvSpPr>
        <p:spPr>
          <a:xfrm>
            <a:off x="804672" y="2788920"/>
            <a:ext cx="384048" cy="384048"/>
          </a:xfrm>
          <a:prstGeom prst="roundRect">
            <a:avLst>
              <a:gd name="adj" fmla="val 23810"/>
            </a:avLst>
          </a:prstGeom>
          <a:solidFill>
            <a:srgbClr val="1E2A47"/>
          </a:solidFill>
          <a:ln w="12700">
            <a:solidFill>
              <a:srgbClr val="FBBF24"/>
            </a:solidFill>
            <a:prstDash val="solid"/>
          </a:ln>
        </p:spPr>
      </p:sp>
      <p:sp>
        <p:nvSpPr>
          <p:cNvPr id="7" name="Text 5"/>
          <p:cNvSpPr txBox="1"/>
          <p:nvPr/>
        </p:nvSpPr>
        <p:spPr>
          <a:xfrm>
            <a:off x="804672" y="2788920"/>
            <a:ext cx="384048" cy="384048"/>
          </a:xfrm>
          <a:prstGeom prst="rect">
            <a:avLst/>
          </a:prstGeom>
          <a:noFill/>
          <a:ln/>
        </p:spPr>
        <p:txBody>
          <a:bodyPr wrap="square" lIns="0" tIns="0" rIns="0" bIns="0" rtlCol="0" anchor="ctr"/>
          <a:lstStyle/>
          <a:p>
            <a:pPr algn="ctr" indent="0" marL="0">
              <a:buNone/>
            </a:pPr>
            <a:r>
              <a:rPr lang="en-US" sz="1400" b="1" dirty="0">
                <a:solidFill>
                  <a:srgbClr val="FBBF24"/>
                </a:solidFill>
                <a:latin typeface="Arial" pitchFamily="34" charset="0"/>
                <a:ea typeface="Arial" pitchFamily="34" charset="-122"/>
                <a:cs typeface="Arial" pitchFamily="34" charset="-120"/>
              </a:rPr>
              <a:t>☎</a:t>
            </a:r>
            <a:endParaRPr lang="en-US" sz="1400" dirty="0"/>
          </a:p>
        </p:txBody>
      </p:sp>
      <p:sp>
        <p:nvSpPr>
          <p:cNvPr id="8" name="Text 6"/>
          <p:cNvSpPr txBox="1"/>
          <p:nvPr/>
        </p:nvSpPr>
        <p:spPr>
          <a:xfrm>
            <a:off x="1298448" y="2807208"/>
            <a:ext cx="5760720" cy="347472"/>
          </a:xfrm>
          <a:prstGeom prst="rect">
            <a:avLst/>
          </a:prstGeom>
          <a:noFill/>
          <a:ln/>
        </p:spPr>
        <p:txBody>
          <a:bodyPr wrap="square" lIns="0" tIns="0" rIns="0" bIns="0" rtlCol="0" anchor="ctr"/>
          <a:lstStyle/>
          <a:p>
            <a:pPr indent="0" marL="0">
              <a:buNone/>
            </a:pPr>
            <a:r>
              <a:rPr lang="en-US" sz="1500" b="1" dirty="0">
                <a:solidFill>
                  <a:srgbClr val="E9EFFA"/>
                </a:solidFill>
                <a:latin typeface="Arial" pitchFamily="34" charset="0"/>
                <a:ea typeface="Arial" pitchFamily="34" charset="-122"/>
                <a:cs typeface="Arial" pitchFamily="34" charset="-120"/>
              </a:rPr>
              <a:t>It scales to a real outage</a:t>
            </a:r>
            <a:endParaRPr lang="en-US" sz="1500" dirty="0"/>
          </a:p>
        </p:txBody>
      </p:sp>
      <p:sp>
        <p:nvSpPr>
          <p:cNvPr id="9" name="Text 7"/>
          <p:cNvSpPr txBox="1"/>
          <p:nvPr/>
        </p:nvSpPr>
        <p:spPr>
          <a:xfrm>
            <a:off x="804672" y="3300984"/>
            <a:ext cx="6254496" cy="137160"/>
          </a:xfrm>
          <a:prstGeom prst="rect">
            <a:avLst/>
          </a:prstGeom>
          <a:noFill/>
          <a:ln/>
        </p:spPr>
        <p:txBody>
          <a:bodyPr wrap="square" lIns="0" tIns="0" rIns="0" bIns="0" rtlCol="0" anchor="ctr"/>
          <a:lstStyle/>
          <a:p>
            <a:pPr indent="0" marL="0">
              <a:lnSpc>
                <a:spcPts val="1700"/>
              </a:lnSpc>
              <a:buNone/>
            </a:pPr>
            <a:r>
              <a:rPr lang="en-US" sz="1300" dirty="0">
                <a:solidFill>
                  <a:srgbClr val="94A8C4"/>
                </a:solidFill>
                <a:latin typeface="Calibri" pitchFamily="34" charset="0"/>
                <a:ea typeface="Calibri" pitchFamily="34" charset="-122"/>
                <a:cs typeface="Calibri" pitchFamily="34" charset="-120"/>
              </a:rPr>
              <a:t>At most one call per five minutes, summarising everything open — a few services by name, then “and N more”. A hundred failing services still mean one short call.</a:t>
            </a:r>
            <a:endParaRPr lang="en-US" sz="1300" dirty="0"/>
          </a:p>
        </p:txBody>
      </p:sp>
      <p:sp>
        <p:nvSpPr>
          <p:cNvPr id="10" name="Shape 8"/>
          <p:cNvSpPr/>
          <p:nvPr/>
        </p:nvSpPr>
        <p:spPr>
          <a:xfrm>
            <a:off x="548640" y="3758184"/>
            <a:ext cx="6766560" cy="1097280"/>
          </a:xfrm>
          <a:prstGeom prst="roundRect">
            <a:avLst>
              <a:gd name="adj" fmla="val 3333"/>
            </a:avLst>
          </a:prstGeom>
          <a:solidFill>
            <a:srgbClr val="16213A"/>
          </a:solidFill>
          <a:ln w="12700">
            <a:solidFill>
              <a:srgbClr val="1E2A47"/>
            </a:solidFill>
            <a:prstDash val="solid"/>
          </a:ln>
        </p:spPr>
      </p:sp>
      <p:sp>
        <p:nvSpPr>
          <p:cNvPr id="11" name="Shape 9"/>
          <p:cNvSpPr/>
          <p:nvPr/>
        </p:nvSpPr>
        <p:spPr>
          <a:xfrm>
            <a:off x="804672" y="3995928"/>
            <a:ext cx="384048" cy="384048"/>
          </a:xfrm>
          <a:prstGeom prst="roundRect">
            <a:avLst>
              <a:gd name="adj" fmla="val 23810"/>
            </a:avLst>
          </a:prstGeom>
          <a:solidFill>
            <a:srgbClr val="1E2A47"/>
          </a:solidFill>
          <a:ln w="12700">
            <a:solidFill>
              <a:srgbClr val="22D3EE"/>
            </a:solidFill>
            <a:prstDash val="solid"/>
          </a:ln>
        </p:spPr>
      </p:sp>
      <p:sp>
        <p:nvSpPr>
          <p:cNvPr id="12" name="Text 10"/>
          <p:cNvSpPr txBox="1"/>
          <p:nvPr/>
        </p:nvSpPr>
        <p:spPr>
          <a:xfrm>
            <a:off x="804672" y="3995928"/>
            <a:ext cx="384048" cy="384048"/>
          </a:xfrm>
          <a:prstGeom prst="rect">
            <a:avLst/>
          </a:prstGeom>
          <a:noFill/>
          <a:ln/>
        </p:spPr>
        <p:txBody>
          <a:bodyPr wrap="square" lIns="0" tIns="0" rIns="0" bIns="0" rtlCol="0" anchor="ctr"/>
          <a:lstStyle/>
          <a:p>
            <a:pPr algn="ctr" indent="0" marL="0">
              <a:buNone/>
            </a:pPr>
            <a:r>
              <a:rPr lang="en-US" sz="1400" b="1" dirty="0">
                <a:solidFill>
                  <a:srgbClr val="22D3EE"/>
                </a:solidFill>
                <a:latin typeface="Arial" pitchFamily="34" charset="0"/>
                <a:ea typeface="Arial" pitchFamily="34" charset="-122"/>
                <a:cs typeface="Arial" pitchFamily="34" charset="-120"/>
              </a:rPr>
              <a:t>♪</a:t>
            </a:r>
            <a:endParaRPr lang="en-US" sz="1400" dirty="0"/>
          </a:p>
        </p:txBody>
      </p:sp>
      <p:sp>
        <p:nvSpPr>
          <p:cNvPr id="13" name="Text 11"/>
          <p:cNvSpPr txBox="1"/>
          <p:nvPr/>
        </p:nvSpPr>
        <p:spPr>
          <a:xfrm>
            <a:off x="1298448" y="4014216"/>
            <a:ext cx="5760720" cy="347472"/>
          </a:xfrm>
          <a:prstGeom prst="rect">
            <a:avLst/>
          </a:prstGeom>
          <a:noFill/>
          <a:ln/>
        </p:spPr>
        <p:txBody>
          <a:bodyPr wrap="square" lIns="0" tIns="0" rIns="0" bIns="0" rtlCol="0" anchor="ctr"/>
          <a:lstStyle/>
          <a:p>
            <a:pPr indent="0" marL="0">
              <a:buNone/>
            </a:pPr>
            <a:r>
              <a:rPr lang="en-US" sz="1500" b="1" dirty="0">
                <a:solidFill>
                  <a:srgbClr val="E9EFFA"/>
                </a:solidFill>
                <a:latin typeface="Arial" pitchFamily="34" charset="0"/>
                <a:ea typeface="Arial" pitchFamily="34" charset="-122"/>
                <a:cs typeface="Arial" pitchFamily="34" charset="-120"/>
              </a:rPr>
              <a:t>Indian-English voice, with fallbacks</a:t>
            </a:r>
            <a:endParaRPr lang="en-US" sz="1500" dirty="0"/>
          </a:p>
        </p:txBody>
      </p:sp>
      <p:sp>
        <p:nvSpPr>
          <p:cNvPr id="14" name="Text 12"/>
          <p:cNvSpPr txBox="1"/>
          <p:nvPr/>
        </p:nvSpPr>
        <p:spPr>
          <a:xfrm>
            <a:off x="804672" y="4507992"/>
            <a:ext cx="6254496" cy="137160"/>
          </a:xfrm>
          <a:prstGeom prst="rect">
            <a:avLst/>
          </a:prstGeom>
          <a:noFill/>
          <a:ln/>
        </p:spPr>
        <p:txBody>
          <a:bodyPr wrap="square" lIns="0" tIns="0" rIns="0" bIns="0" rtlCol="0" anchor="ctr"/>
          <a:lstStyle/>
          <a:p>
            <a:pPr indent="0" marL="0">
              <a:lnSpc>
                <a:spcPts val="1700"/>
              </a:lnSpc>
              <a:buNone/>
            </a:pPr>
            <a:r>
              <a:rPr lang="en-US" sz="1300" dirty="0">
                <a:solidFill>
                  <a:srgbClr val="94A8C4"/>
                </a:solidFill>
                <a:latin typeface="Calibri" pitchFamily="34" charset="0"/>
                <a:ea typeface="Calibri" pitchFamily="34" charset="-122"/>
                <a:cs typeface="Calibri" pitchFamily="34" charset="-120"/>
              </a:rPr>
              <a:t>Sarvam first, then ElevenLabs, then the telephony provider’s own voice. A nicer voice must never cost us the call.</a:t>
            </a:r>
            <a:endParaRPr lang="en-US" sz="1300" dirty="0"/>
          </a:p>
        </p:txBody>
      </p:sp>
      <p:sp>
        <p:nvSpPr>
          <p:cNvPr id="15" name="Shape 13"/>
          <p:cNvSpPr/>
          <p:nvPr/>
        </p:nvSpPr>
        <p:spPr>
          <a:xfrm>
            <a:off x="548640" y="4965192"/>
            <a:ext cx="6766560" cy="1097280"/>
          </a:xfrm>
          <a:prstGeom prst="roundRect">
            <a:avLst>
              <a:gd name="adj" fmla="val 3333"/>
            </a:avLst>
          </a:prstGeom>
          <a:solidFill>
            <a:srgbClr val="16213A"/>
          </a:solidFill>
          <a:ln w="12700">
            <a:solidFill>
              <a:srgbClr val="1E2A47"/>
            </a:solidFill>
            <a:prstDash val="solid"/>
          </a:ln>
        </p:spPr>
      </p:sp>
      <p:sp>
        <p:nvSpPr>
          <p:cNvPr id="16" name="Shape 14"/>
          <p:cNvSpPr/>
          <p:nvPr/>
        </p:nvSpPr>
        <p:spPr>
          <a:xfrm>
            <a:off x="804672" y="5202936"/>
            <a:ext cx="384048" cy="384048"/>
          </a:xfrm>
          <a:prstGeom prst="roundRect">
            <a:avLst>
              <a:gd name="adj" fmla="val 23810"/>
            </a:avLst>
          </a:prstGeom>
          <a:solidFill>
            <a:srgbClr val="1E2A47"/>
          </a:solidFill>
          <a:ln w="12700">
            <a:solidFill>
              <a:srgbClr val="34D399"/>
            </a:solidFill>
            <a:prstDash val="solid"/>
          </a:ln>
        </p:spPr>
      </p:sp>
      <p:sp>
        <p:nvSpPr>
          <p:cNvPr id="17" name="Text 15"/>
          <p:cNvSpPr txBox="1"/>
          <p:nvPr/>
        </p:nvSpPr>
        <p:spPr>
          <a:xfrm>
            <a:off x="804672" y="5202936"/>
            <a:ext cx="384048" cy="384048"/>
          </a:xfrm>
          <a:prstGeom prst="rect">
            <a:avLst/>
          </a:prstGeom>
          <a:noFill/>
          <a:ln/>
        </p:spPr>
        <p:txBody>
          <a:bodyPr wrap="square" lIns="0" tIns="0" rIns="0" bIns="0" rtlCol="0" anchor="ctr"/>
          <a:lstStyle/>
          <a:p>
            <a:pPr algn="ctr" indent="0" marL="0">
              <a:buNone/>
            </a:pPr>
            <a:r>
              <a:rPr lang="en-US" sz="1400" b="1" dirty="0">
                <a:solidFill>
                  <a:srgbClr val="34D399"/>
                </a:solidFill>
                <a:latin typeface="Arial" pitchFamily="34" charset="0"/>
                <a:ea typeface="Arial" pitchFamily="34" charset="-122"/>
                <a:cs typeface="Arial" pitchFamily="34" charset="-120"/>
              </a:rPr>
              <a:t>①</a:t>
            </a:r>
            <a:endParaRPr lang="en-US" sz="1400" dirty="0"/>
          </a:p>
        </p:txBody>
      </p:sp>
      <p:sp>
        <p:nvSpPr>
          <p:cNvPr id="18" name="Text 16"/>
          <p:cNvSpPr txBox="1"/>
          <p:nvPr/>
        </p:nvSpPr>
        <p:spPr>
          <a:xfrm>
            <a:off x="1298448" y="5221224"/>
            <a:ext cx="5760720" cy="347472"/>
          </a:xfrm>
          <a:prstGeom prst="rect">
            <a:avLst/>
          </a:prstGeom>
          <a:noFill/>
          <a:ln/>
        </p:spPr>
        <p:txBody>
          <a:bodyPr wrap="square" lIns="0" tIns="0" rIns="0" bIns="0" rtlCol="0" anchor="ctr"/>
          <a:lstStyle/>
          <a:p>
            <a:pPr indent="0" marL="0">
              <a:buNone/>
            </a:pPr>
            <a:r>
              <a:rPr lang="en-US" sz="1500" b="1" dirty="0">
                <a:solidFill>
                  <a:srgbClr val="E9EFFA"/>
                </a:solidFill>
                <a:latin typeface="Arial" pitchFamily="34" charset="0"/>
                <a:ea typeface="Arial" pitchFamily="34" charset="-122"/>
                <a:cs typeface="Arial" pitchFamily="34" charset="-120"/>
              </a:rPr>
              <a:t>Acknowledge, don’t approve</a:t>
            </a:r>
            <a:endParaRPr lang="en-US" sz="1500" dirty="0"/>
          </a:p>
        </p:txBody>
      </p:sp>
      <p:sp>
        <p:nvSpPr>
          <p:cNvPr id="19" name="Text 17"/>
          <p:cNvSpPr txBox="1"/>
          <p:nvPr/>
        </p:nvSpPr>
        <p:spPr>
          <a:xfrm>
            <a:off x="804672" y="5715000"/>
            <a:ext cx="6254496" cy="137160"/>
          </a:xfrm>
          <a:prstGeom prst="rect">
            <a:avLst/>
          </a:prstGeom>
          <a:noFill/>
          <a:ln/>
        </p:spPr>
        <p:txBody>
          <a:bodyPr wrap="square" lIns="0" tIns="0" rIns="0" bIns="0" rtlCol="0" anchor="ctr"/>
          <a:lstStyle/>
          <a:p>
            <a:pPr indent="0" marL="0">
              <a:lnSpc>
                <a:spcPts val="1700"/>
              </a:lnSpc>
              <a:buNone/>
            </a:pPr>
            <a:r>
              <a:rPr lang="en-US" sz="1300" dirty="0">
                <a:solidFill>
                  <a:srgbClr val="94A8C4"/>
                </a:solidFill>
                <a:latin typeface="Calibri" pitchFamily="34" charset="0"/>
                <a:ea typeface="Calibri" pitchFamily="34" charset="-122"/>
                <a:cs typeface="Calibri" pitchFamily="34" charset="-120"/>
              </a:rPr>
              <a:t>Press 1 to acknowledge, 2 to repeat. Approving stays in Freshservice or SentinelOps, where the approver is logged in — anyone can pick up a phone.</a:t>
            </a:r>
            <a:endParaRPr lang="en-US" sz="1300" dirty="0"/>
          </a:p>
        </p:txBody>
      </p:sp>
      <p:sp>
        <p:nvSpPr>
          <p:cNvPr id="20" name="Shape 18"/>
          <p:cNvSpPr/>
          <p:nvPr/>
        </p:nvSpPr>
        <p:spPr>
          <a:xfrm>
            <a:off x="7635240" y="1545336"/>
            <a:ext cx="4023360" cy="4617720"/>
          </a:xfrm>
          <a:prstGeom prst="roundRect">
            <a:avLst>
              <a:gd name="adj" fmla="val 909"/>
            </a:avLst>
          </a:prstGeom>
          <a:solidFill>
            <a:srgbClr val="16213A"/>
          </a:solidFill>
          <a:ln w="12700">
            <a:solidFill>
              <a:srgbClr val="1E2A47"/>
            </a:solidFill>
            <a:prstDash val="solid"/>
          </a:ln>
        </p:spPr>
      </p:sp>
      <p:sp>
        <p:nvSpPr>
          <p:cNvPr id="21" name="Text 19"/>
          <p:cNvSpPr txBox="1"/>
          <p:nvPr/>
        </p:nvSpPr>
        <p:spPr>
          <a:xfrm>
            <a:off x="7909560" y="1773936"/>
            <a:ext cx="3474720" cy="256032"/>
          </a:xfrm>
          <a:prstGeom prst="rect">
            <a:avLst/>
          </a:prstGeom>
          <a:noFill/>
          <a:ln/>
        </p:spPr>
        <p:txBody>
          <a:bodyPr wrap="square" lIns="0" tIns="0" rIns="0" bIns="0" rtlCol="0" anchor="ctr"/>
          <a:lstStyle/>
          <a:p>
            <a:pPr indent="0" marL="0">
              <a:buNone/>
            </a:pPr>
            <a:r>
              <a:rPr lang="en-US" sz="1000" b="1" spc="150" kern="0" dirty="0">
                <a:solidFill>
                  <a:srgbClr val="22D3EE"/>
                </a:solidFill>
                <a:latin typeface="Calibri" pitchFamily="34" charset="0"/>
                <a:ea typeface="Calibri" pitchFamily="34" charset="-122"/>
                <a:cs typeface="Calibri" pitchFamily="34" charset="-120"/>
              </a:rPr>
              <a:t>WHY THIS MATTERS HERE</a:t>
            </a:r>
            <a:endParaRPr lang="en-US" sz="1000" dirty="0"/>
          </a:p>
        </p:txBody>
      </p:sp>
      <p:sp>
        <p:nvSpPr>
          <p:cNvPr id="22" name="Text 20"/>
          <p:cNvSpPr txBox="1"/>
          <p:nvPr/>
        </p:nvSpPr>
        <p:spPr>
          <a:xfrm>
            <a:off x="7909560" y="2093976"/>
            <a:ext cx="3474720" cy="594360"/>
          </a:xfrm>
          <a:prstGeom prst="rect">
            <a:avLst/>
          </a:prstGeom>
          <a:noFill/>
          <a:ln/>
        </p:spPr>
        <p:txBody>
          <a:bodyPr wrap="square" lIns="0" tIns="0" rIns="0" bIns="0" rtlCol="0" anchor="ctr"/>
          <a:lstStyle/>
          <a:p>
            <a:pPr indent="0" marL="0">
              <a:lnSpc>
                <a:spcPts val="2100"/>
              </a:lnSpc>
              <a:buNone/>
            </a:pPr>
            <a:r>
              <a:rPr lang="en-US" sz="1700" b="1" dirty="0">
                <a:solidFill>
                  <a:srgbClr val="E9EFFA"/>
                </a:solidFill>
                <a:latin typeface="Arial" pitchFamily="34" charset="0"/>
                <a:ea typeface="Arial" pitchFamily="34" charset="-122"/>
                <a:cs typeface="Arial" pitchFamily="34" charset="-120"/>
              </a:rPr>
              <a:t>The whole task, end to end</a:t>
            </a:r>
            <a:endParaRPr lang="en-US" sz="1700" dirty="0"/>
          </a:p>
        </p:txBody>
      </p:sp>
      <p:sp>
        <p:nvSpPr>
          <p:cNvPr id="23" name="Text 21"/>
          <p:cNvSpPr txBox="1"/>
          <p:nvPr/>
        </p:nvSpPr>
        <p:spPr>
          <a:xfrm>
            <a:off x="7909560" y="2779776"/>
            <a:ext cx="3474720" cy="3200400"/>
          </a:xfrm>
          <a:prstGeom prst="rect">
            <a:avLst/>
          </a:prstGeom>
          <a:noFill/>
          <a:ln/>
        </p:spPr>
        <p:txBody>
          <a:bodyPr wrap="square" lIns="0" tIns="0" rIns="0" bIns="0" rtlCol="0" anchor="ctr"/>
          <a:lstStyle/>
          <a:p>
            <a:pPr indent="0" marL="0">
              <a:lnSpc>
                <a:spcPts val="1900"/>
              </a:lnSpc>
              <a:buNone/>
            </a:pPr>
            <a:r>
              <a:rPr lang="en-US" sz="1300" dirty="0">
                <a:solidFill>
                  <a:srgbClr val="94A8C4"/>
                </a:solidFill>
                <a:latin typeface="Calibri" pitchFamily="34" charset="0"/>
                <a:ea typeface="Calibri" pitchFamily="34" charset="-122"/>
                <a:cs typeface="Calibri" pitchFamily="34" charset="-120"/>
              </a:rPr>
              <a:t>An AI-native product should complete the job, not hand back a half-finished one.</a:t>
            </a:r>
            <a:endParaRPr lang="en-US" sz="1300" dirty="0"/>
          </a:p>
          <a:p>
            <a:pPr indent="0" marL="0">
              <a:lnSpc>
                <a:spcPts val="1900"/>
              </a:lnSpc>
              <a:buNone/>
            </a:pPr>
            <a:endParaRPr lang="en-US" sz="1300" dirty="0"/>
          </a:p>
          <a:p>
            <a:pPr indent="0" marL="0">
              <a:lnSpc>
                <a:spcPts val="1900"/>
              </a:lnSpc>
              <a:buNone/>
            </a:pPr>
            <a:r>
              <a:rPr lang="en-US" sz="1300" dirty="0">
                <a:solidFill>
                  <a:srgbClr val="94A8C4"/>
                </a:solidFill>
                <a:latin typeface="Calibri" pitchFamily="34" charset="0"/>
                <a:ea typeface="Calibri" pitchFamily="34" charset="-122"/>
                <a:cs typeface="Calibri" pitchFamily="34" charset="-120"/>
              </a:rPr>
              <a:t>SentinelOps notices the problem, works out the cause, writes the change, wakes the one person who must say yes, applies the fix, checks it worked, undoes it if it didn’t, and files the paperwork.</a:t>
            </a:r>
            <a:endParaRPr lang="en-US" sz="1300" dirty="0"/>
          </a:p>
          <a:p>
            <a:pPr indent="0" marL="0">
              <a:lnSpc>
                <a:spcPts val="1900"/>
              </a:lnSpc>
              <a:buNone/>
            </a:pPr>
            <a:endParaRPr lang="en-US" sz="1300" dirty="0"/>
          </a:p>
          <a:p>
            <a:pPr indent="0" marL="0">
              <a:lnSpc>
                <a:spcPts val="1900"/>
              </a:lnSpc>
              <a:buNone/>
            </a:pPr>
            <a:r>
              <a:rPr lang="en-US" sz="1300" dirty="0">
                <a:solidFill>
                  <a:srgbClr val="94A8C4"/>
                </a:solidFill>
                <a:latin typeface="Calibri" pitchFamily="34" charset="0"/>
                <a:ea typeface="Calibri" pitchFamily="34" charset="-122"/>
                <a:cs typeface="Calibri" pitchFamily="34" charset="-120"/>
              </a:rPr>
              <a:t>The only human act left is a decision — which is the one that should stay human.</a:t>
            </a:r>
            <a:endParaRPr lang="en-US" sz="1300" dirty="0"/>
          </a:p>
        </p:txBody>
      </p:sp>
      <p:sp>
        <p:nvSpPr>
          <p:cNvPr id="24" name="Text 22"/>
          <p:cNvSpPr txBox="1"/>
          <p:nvPr/>
        </p:nvSpPr>
        <p:spPr>
          <a:xfrm>
            <a:off x="548640" y="6400800"/>
            <a:ext cx="3657600" cy="256032"/>
          </a:xfrm>
          <a:prstGeom prst="rect">
            <a:avLst/>
          </a:prstGeom>
          <a:noFill/>
          <a:ln/>
        </p:spPr>
        <p:txBody>
          <a:bodyPr wrap="square" lIns="0" tIns="0" rIns="0" bIns="0" rtlCol="0" anchor="ctr"/>
          <a:lstStyle/>
          <a:p>
            <a:pPr indent="0" marL="0">
              <a:buNone/>
            </a:pPr>
            <a:r>
              <a:rPr lang="en-US" sz="1000" dirty="0">
                <a:solidFill>
                  <a:srgbClr val="5A6E8C"/>
                </a:solidFill>
                <a:latin typeface="Calibri" pitchFamily="34" charset="0"/>
                <a:ea typeface="Calibri" pitchFamily="34" charset="-122"/>
                <a:cs typeface="Calibri" pitchFamily="34" charset="-120"/>
              </a:rPr>
              <a:t>SentinelOps AI</a:t>
            </a:r>
            <a:endParaRPr lang="en-US" sz="1000" dirty="0"/>
          </a:p>
        </p:txBody>
      </p:sp>
      <p:sp>
        <p:nvSpPr>
          <p:cNvPr id="25" name="Text 23"/>
          <p:cNvSpPr txBox="1"/>
          <p:nvPr/>
        </p:nvSpPr>
        <p:spPr>
          <a:xfrm>
            <a:off x="10725912" y="6400800"/>
            <a:ext cx="914400" cy="256032"/>
          </a:xfrm>
          <a:prstGeom prst="rect">
            <a:avLst/>
          </a:prstGeom>
          <a:noFill/>
          <a:ln/>
        </p:spPr>
        <p:txBody>
          <a:bodyPr wrap="square" lIns="0" tIns="0" rIns="0" bIns="0" rtlCol="0" anchor="ctr"/>
          <a:lstStyle/>
          <a:p>
            <a:pPr algn="r" indent="0" marL="0">
              <a:buNone/>
            </a:pPr>
            <a:r>
              <a:rPr lang="en-US" sz="1000" dirty="0">
                <a:solidFill>
                  <a:srgbClr val="5A6E8C"/>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411480"/>
            <a:ext cx="10058400" cy="256032"/>
          </a:xfrm>
          <a:prstGeom prst="rect">
            <a:avLst/>
          </a:prstGeom>
          <a:noFill/>
          <a:ln/>
        </p:spPr>
        <p:txBody>
          <a:bodyPr wrap="square" lIns="0" tIns="0" rIns="0" bIns="0" rtlCol="0" anchor="ctr"/>
          <a:lstStyle/>
          <a:p>
            <a:pPr indent="0" marL="0">
              <a:buNone/>
            </a:pPr>
            <a:r>
              <a:rPr lang="en-US" sz="1200" b="1" spc="200" kern="0" dirty="0">
                <a:solidFill>
                  <a:srgbClr val="22D3EE"/>
                </a:solidFill>
                <a:latin typeface="Calibri" pitchFamily="34" charset="0"/>
                <a:ea typeface="Calibri" pitchFamily="34" charset="-122"/>
                <a:cs typeface="Calibri" pitchFamily="34" charset="-120"/>
              </a:rPr>
              <a:t>TARGET CUSTOMERS AND VALUE PROPOSITION</a:t>
            </a:r>
            <a:endParaRPr lang="en-US" sz="1200" dirty="0"/>
          </a:p>
        </p:txBody>
      </p:sp>
      <p:sp>
        <p:nvSpPr>
          <p:cNvPr id="3" name="Text 1"/>
          <p:cNvSpPr txBox="1"/>
          <p:nvPr/>
        </p:nvSpPr>
        <p:spPr>
          <a:xfrm>
            <a:off x="548640" y="722376"/>
            <a:ext cx="11064240" cy="475488"/>
          </a:xfrm>
          <a:prstGeom prst="rect">
            <a:avLst/>
          </a:prstGeom>
          <a:noFill/>
          <a:ln/>
        </p:spPr>
        <p:txBody>
          <a:bodyPr wrap="square" lIns="0" tIns="0" rIns="0" bIns="0" rtlCol="0" anchor="ctr"/>
          <a:lstStyle/>
          <a:p>
            <a:pPr indent="0" marL="0">
              <a:buNone/>
            </a:pPr>
            <a:r>
              <a:rPr lang="en-US" sz="3000" b="1" dirty="0">
                <a:solidFill>
                  <a:srgbClr val="E9EFFA"/>
                </a:solidFill>
                <a:latin typeface="Arial" pitchFamily="34" charset="0"/>
                <a:ea typeface="Arial" pitchFamily="34" charset="-122"/>
                <a:cs typeface="Arial" pitchFamily="34" charset="-120"/>
              </a:rPr>
              <a:t>Who it is for, and why they would choose it</a:t>
            </a:r>
            <a:endParaRPr lang="en-US" sz="3000" dirty="0"/>
          </a:p>
        </p:txBody>
      </p:sp>
      <p:sp>
        <p:nvSpPr>
          <p:cNvPr id="4" name="Shape 2"/>
          <p:cNvSpPr/>
          <p:nvPr/>
        </p:nvSpPr>
        <p:spPr>
          <a:xfrm>
            <a:off x="548640" y="1591056"/>
            <a:ext cx="5394960" cy="2286000"/>
          </a:xfrm>
          <a:prstGeom prst="roundRect">
            <a:avLst>
              <a:gd name="adj" fmla="val 1600"/>
            </a:avLst>
          </a:prstGeom>
          <a:solidFill>
            <a:srgbClr val="16213A"/>
          </a:solidFill>
          <a:ln w="12700">
            <a:solidFill>
              <a:srgbClr val="1E2A47"/>
            </a:solidFill>
            <a:prstDash val="solid"/>
          </a:ln>
        </p:spPr>
      </p:sp>
      <p:sp>
        <p:nvSpPr>
          <p:cNvPr id="5" name="Text 3"/>
          <p:cNvSpPr txBox="1"/>
          <p:nvPr/>
        </p:nvSpPr>
        <p:spPr>
          <a:xfrm>
            <a:off x="822960" y="1810512"/>
            <a:ext cx="4846320" cy="237744"/>
          </a:xfrm>
          <a:prstGeom prst="rect">
            <a:avLst/>
          </a:prstGeom>
          <a:noFill/>
          <a:ln/>
        </p:spPr>
        <p:txBody>
          <a:bodyPr wrap="square" lIns="0" tIns="0" rIns="0" bIns="0" rtlCol="0" anchor="ctr"/>
          <a:lstStyle/>
          <a:p>
            <a:pPr indent="0" marL="0">
              <a:buNone/>
            </a:pPr>
            <a:r>
              <a:rPr lang="en-US" sz="1000" b="1" spc="150" kern="0" dirty="0">
                <a:solidFill>
                  <a:srgbClr val="22D3EE"/>
                </a:solidFill>
                <a:latin typeface="Calibri" pitchFamily="34" charset="0"/>
                <a:ea typeface="Calibri" pitchFamily="34" charset="-122"/>
                <a:cs typeface="Calibri" pitchFamily="34" charset="-120"/>
              </a:rPr>
              <a:t>PRIMARY</a:t>
            </a:r>
            <a:endParaRPr lang="en-US" sz="1000" dirty="0"/>
          </a:p>
        </p:txBody>
      </p:sp>
      <p:sp>
        <p:nvSpPr>
          <p:cNvPr id="6" name="Text 4"/>
          <p:cNvSpPr txBox="1"/>
          <p:nvPr/>
        </p:nvSpPr>
        <p:spPr>
          <a:xfrm>
            <a:off x="822960" y="2103120"/>
            <a:ext cx="4846320" cy="548640"/>
          </a:xfrm>
          <a:prstGeom prst="rect">
            <a:avLst/>
          </a:prstGeom>
          <a:noFill/>
          <a:ln/>
        </p:spPr>
        <p:txBody>
          <a:bodyPr wrap="square" lIns="0" tIns="0" rIns="0" bIns="0" rtlCol="0" anchor="ctr"/>
          <a:lstStyle/>
          <a:p>
            <a:pPr indent="0" marL="0">
              <a:lnSpc>
                <a:spcPts val="2000"/>
              </a:lnSpc>
              <a:buNone/>
            </a:pPr>
            <a:r>
              <a:rPr lang="en-US" sz="1600" b="1" dirty="0">
                <a:solidFill>
                  <a:srgbClr val="E9EFFA"/>
                </a:solidFill>
                <a:latin typeface="Arial" pitchFamily="34" charset="0"/>
                <a:ea typeface="Arial" pitchFamily="34" charset="-122"/>
                <a:cs typeface="Arial" pitchFamily="34" charset="-120"/>
              </a:rPr>
              <a:t>Mid-size engineering teams already on Freshservice</a:t>
            </a:r>
            <a:endParaRPr lang="en-US" sz="1600" dirty="0"/>
          </a:p>
        </p:txBody>
      </p:sp>
      <p:sp>
        <p:nvSpPr>
          <p:cNvPr id="7" name="Text 5"/>
          <p:cNvSpPr txBox="1"/>
          <p:nvPr/>
        </p:nvSpPr>
        <p:spPr>
          <a:xfrm>
            <a:off x="822960" y="2734056"/>
            <a:ext cx="4846320" cy="914400"/>
          </a:xfrm>
          <a:prstGeom prst="rect">
            <a:avLst/>
          </a:prstGeom>
          <a:noFill/>
          <a:ln/>
        </p:spPr>
        <p:txBody>
          <a:bodyPr wrap="square" lIns="0" tIns="0" rIns="0" bIns="0" rtlCol="0" anchor="ctr"/>
          <a:lstStyle/>
          <a:p>
            <a:pPr indent="0" marL="0">
              <a:lnSpc>
                <a:spcPts val="1800"/>
              </a:lnSpc>
              <a:buNone/>
            </a:pPr>
            <a:r>
              <a:rPr lang="en-US" sz="1300" dirty="0">
                <a:solidFill>
                  <a:srgbClr val="94A8C4"/>
                </a:solidFill>
                <a:latin typeface="Calibri" pitchFamily="34" charset="0"/>
                <a:ea typeface="Calibri" pitchFamily="34" charset="-122"/>
                <a:cs typeface="Calibri" pitchFamily="34" charset="-120"/>
              </a:rPr>
              <a:t>50–500 engineers running their own Kubernetes, with an on-call rota and a change process they must follow for audit reasons. They feel every 2 a.m. page, and they cannot skip approvals.</a:t>
            </a:r>
            <a:endParaRPr lang="en-US" sz="1300" dirty="0"/>
          </a:p>
        </p:txBody>
      </p:sp>
      <p:sp>
        <p:nvSpPr>
          <p:cNvPr id="8" name="Shape 6"/>
          <p:cNvSpPr/>
          <p:nvPr/>
        </p:nvSpPr>
        <p:spPr>
          <a:xfrm>
            <a:off x="6245352" y="1591056"/>
            <a:ext cx="5394960" cy="2286000"/>
          </a:xfrm>
          <a:prstGeom prst="roundRect">
            <a:avLst>
              <a:gd name="adj" fmla="val 1600"/>
            </a:avLst>
          </a:prstGeom>
          <a:solidFill>
            <a:srgbClr val="16213A"/>
          </a:solidFill>
          <a:ln w="12700">
            <a:solidFill>
              <a:srgbClr val="1E2A47"/>
            </a:solidFill>
            <a:prstDash val="solid"/>
          </a:ln>
        </p:spPr>
      </p:sp>
      <p:sp>
        <p:nvSpPr>
          <p:cNvPr id="9" name="Text 7"/>
          <p:cNvSpPr txBox="1"/>
          <p:nvPr/>
        </p:nvSpPr>
        <p:spPr>
          <a:xfrm>
            <a:off x="6519672" y="1810512"/>
            <a:ext cx="4846320" cy="237744"/>
          </a:xfrm>
          <a:prstGeom prst="rect">
            <a:avLst/>
          </a:prstGeom>
          <a:noFill/>
          <a:ln/>
        </p:spPr>
        <p:txBody>
          <a:bodyPr wrap="square" lIns="0" tIns="0" rIns="0" bIns="0" rtlCol="0" anchor="ctr"/>
          <a:lstStyle/>
          <a:p>
            <a:pPr indent="0" marL="0">
              <a:buNone/>
            </a:pPr>
            <a:r>
              <a:rPr lang="en-US" sz="1000" b="1" spc="150" kern="0" dirty="0">
                <a:solidFill>
                  <a:srgbClr val="FBBF24"/>
                </a:solidFill>
                <a:latin typeface="Calibri" pitchFamily="34" charset="0"/>
                <a:ea typeface="Calibri" pitchFamily="34" charset="-122"/>
                <a:cs typeface="Calibri" pitchFamily="34" charset="-120"/>
              </a:rPr>
              <a:t>SECONDARY</a:t>
            </a:r>
            <a:endParaRPr lang="en-US" sz="1000" dirty="0"/>
          </a:p>
        </p:txBody>
      </p:sp>
      <p:sp>
        <p:nvSpPr>
          <p:cNvPr id="10" name="Text 8"/>
          <p:cNvSpPr txBox="1"/>
          <p:nvPr/>
        </p:nvSpPr>
        <p:spPr>
          <a:xfrm>
            <a:off x="6519672" y="2103120"/>
            <a:ext cx="4846320" cy="548640"/>
          </a:xfrm>
          <a:prstGeom prst="rect">
            <a:avLst/>
          </a:prstGeom>
          <a:noFill/>
          <a:ln/>
        </p:spPr>
        <p:txBody>
          <a:bodyPr wrap="square" lIns="0" tIns="0" rIns="0" bIns="0" rtlCol="0" anchor="ctr"/>
          <a:lstStyle/>
          <a:p>
            <a:pPr indent="0" marL="0">
              <a:lnSpc>
                <a:spcPts val="2000"/>
              </a:lnSpc>
              <a:buNone/>
            </a:pPr>
            <a:r>
              <a:rPr lang="en-US" sz="1600" b="1" dirty="0">
                <a:solidFill>
                  <a:srgbClr val="E9EFFA"/>
                </a:solidFill>
                <a:latin typeface="Arial" pitchFamily="34" charset="0"/>
                <a:ea typeface="Arial" pitchFamily="34" charset="-122"/>
                <a:cs typeface="Arial" pitchFamily="34" charset="-120"/>
              </a:rPr>
              <a:t>Regulated teams who cannot let an AI act at all today</a:t>
            </a:r>
            <a:endParaRPr lang="en-US" sz="1600" dirty="0"/>
          </a:p>
        </p:txBody>
      </p:sp>
      <p:sp>
        <p:nvSpPr>
          <p:cNvPr id="11" name="Text 9"/>
          <p:cNvSpPr txBox="1"/>
          <p:nvPr/>
        </p:nvSpPr>
        <p:spPr>
          <a:xfrm>
            <a:off x="6519672" y="2734056"/>
            <a:ext cx="4846320" cy="914400"/>
          </a:xfrm>
          <a:prstGeom prst="rect">
            <a:avLst/>
          </a:prstGeom>
          <a:noFill/>
          <a:ln/>
        </p:spPr>
        <p:txBody>
          <a:bodyPr wrap="square" lIns="0" tIns="0" rIns="0" bIns="0" rtlCol="0" anchor="ctr"/>
          <a:lstStyle/>
          <a:p>
            <a:pPr indent="0" marL="0">
              <a:lnSpc>
                <a:spcPts val="1800"/>
              </a:lnSpc>
              <a:buNone/>
            </a:pPr>
            <a:r>
              <a:rPr lang="en-US" sz="1300" dirty="0">
                <a:solidFill>
                  <a:srgbClr val="94A8C4"/>
                </a:solidFill>
                <a:latin typeface="Calibri" pitchFamily="34" charset="0"/>
                <a:ea typeface="Calibri" pitchFamily="34" charset="-122"/>
                <a:cs typeface="Calibri" pitchFamily="34" charset="-120"/>
              </a:rPr>
              <a:t>Finance, healthcare and public sector, where every production change needs a named approver and a defensible record. The audit chain and the change-management gate are written for them.</a:t>
            </a:r>
            <a:endParaRPr lang="en-US" sz="1300" dirty="0"/>
          </a:p>
        </p:txBody>
      </p:sp>
      <p:sp>
        <p:nvSpPr>
          <p:cNvPr id="12" name="Shape 10"/>
          <p:cNvSpPr/>
          <p:nvPr/>
        </p:nvSpPr>
        <p:spPr>
          <a:xfrm>
            <a:off x="548640" y="4105656"/>
            <a:ext cx="11091672" cy="1691640"/>
          </a:xfrm>
          <a:prstGeom prst="roundRect">
            <a:avLst>
              <a:gd name="adj" fmla="val 2162"/>
            </a:avLst>
          </a:prstGeom>
          <a:solidFill>
            <a:srgbClr val="1E2A47"/>
          </a:solidFill>
          <a:ln w="12700">
            <a:solidFill>
              <a:srgbClr val="1E2A47"/>
            </a:solidFill>
            <a:prstDash val="solid"/>
          </a:ln>
        </p:spPr>
      </p:sp>
      <p:sp>
        <p:nvSpPr>
          <p:cNvPr id="13" name="Text 11"/>
          <p:cNvSpPr txBox="1"/>
          <p:nvPr/>
        </p:nvSpPr>
        <p:spPr>
          <a:xfrm>
            <a:off x="868680" y="4288536"/>
            <a:ext cx="10424160" cy="292608"/>
          </a:xfrm>
          <a:prstGeom prst="rect">
            <a:avLst/>
          </a:prstGeom>
          <a:noFill/>
          <a:ln/>
        </p:spPr>
        <p:txBody>
          <a:bodyPr wrap="square" lIns="0" tIns="0" rIns="0" bIns="0" rtlCol="0" anchor="ctr"/>
          <a:lstStyle/>
          <a:p>
            <a:pPr indent="0" marL="0">
              <a:buNone/>
            </a:pPr>
            <a:r>
              <a:rPr lang="en-US" sz="1100" b="1" spc="120" kern="0" dirty="0">
                <a:solidFill>
                  <a:srgbClr val="22D3EE"/>
                </a:solidFill>
                <a:latin typeface="Calibri" pitchFamily="34" charset="0"/>
                <a:ea typeface="Calibri" pitchFamily="34" charset="-122"/>
                <a:cs typeface="Calibri" pitchFamily="34" charset="-120"/>
              </a:rPr>
              <a:t>The value proposition, in one sentence</a:t>
            </a:r>
            <a:endParaRPr lang="en-US" sz="1100" dirty="0"/>
          </a:p>
        </p:txBody>
      </p:sp>
      <p:sp>
        <p:nvSpPr>
          <p:cNvPr id="14" name="Text 12"/>
          <p:cNvSpPr txBox="1"/>
          <p:nvPr/>
        </p:nvSpPr>
        <p:spPr>
          <a:xfrm>
            <a:off x="868680" y="4626864"/>
            <a:ext cx="10424160" cy="914400"/>
          </a:xfrm>
          <a:prstGeom prst="rect">
            <a:avLst/>
          </a:prstGeom>
          <a:noFill/>
          <a:ln/>
        </p:spPr>
        <p:txBody>
          <a:bodyPr wrap="square" lIns="0" tIns="0" rIns="0" bIns="0" rtlCol="0" anchor="ctr"/>
          <a:lstStyle/>
          <a:p>
            <a:pPr indent="0" marL="0">
              <a:lnSpc>
                <a:spcPts val="2600"/>
              </a:lnSpc>
              <a:buNone/>
            </a:pPr>
            <a:r>
              <a:rPr lang="en-US" sz="1800" b="1" i="1" dirty="0">
                <a:solidFill>
                  <a:srgbClr val="E9EFFA"/>
                </a:solidFill>
                <a:latin typeface="Arial" pitchFamily="34" charset="0"/>
                <a:ea typeface="Arial" pitchFamily="34" charset="-122"/>
                <a:cs typeface="Arial" pitchFamily="34" charset="-120"/>
              </a:rPr>
              <a:t>“Your known failures get fixed in minutes instead of hours — without giving an AI free rein, and without stepping outside the change process your auditors already accept.”</a:t>
            </a:r>
            <a:endParaRPr lang="en-US" sz="1800" dirty="0"/>
          </a:p>
        </p:txBody>
      </p:sp>
      <p:sp>
        <p:nvSpPr>
          <p:cNvPr id="15" name="Text 13"/>
          <p:cNvSpPr txBox="1"/>
          <p:nvPr/>
        </p:nvSpPr>
        <p:spPr>
          <a:xfrm>
            <a:off x="548640" y="6400800"/>
            <a:ext cx="3657600" cy="256032"/>
          </a:xfrm>
          <a:prstGeom prst="rect">
            <a:avLst/>
          </a:prstGeom>
          <a:noFill/>
          <a:ln/>
        </p:spPr>
        <p:txBody>
          <a:bodyPr wrap="square" lIns="0" tIns="0" rIns="0" bIns="0" rtlCol="0" anchor="ctr"/>
          <a:lstStyle/>
          <a:p>
            <a:pPr indent="0" marL="0">
              <a:buNone/>
            </a:pPr>
            <a:r>
              <a:rPr lang="en-US" sz="1000" dirty="0">
                <a:solidFill>
                  <a:srgbClr val="5A6E8C"/>
                </a:solidFill>
                <a:latin typeface="Calibri" pitchFamily="34" charset="0"/>
                <a:ea typeface="Calibri" pitchFamily="34" charset="-122"/>
                <a:cs typeface="Calibri" pitchFamily="34" charset="-120"/>
              </a:rPr>
              <a:t>SentinelOps AI</a:t>
            </a:r>
            <a:endParaRPr lang="en-US" sz="1000" dirty="0"/>
          </a:p>
        </p:txBody>
      </p:sp>
      <p:sp>
        <p:nvSpPr>
          <p:cNvPr id="16" name="Text 14"/>
          <p:cNvSpPr txBox="1"/>
          <p:nvPr/>
        </p:nvSpPr>
        <p:spPr>
          <a:xfrm>
            <a:off x="10725912" y="6400800"/>
            <a:ext cx="914400" cy="256032"/>
          </a:xfrm>
          <a:prstGeom prst="rect">
            <a:avLst/>
          </a:prstGeom>
          <a:noFill/>
          <a:ln/>
        </p:spPr>
        <p:txBody>
          <a:bodyPr wrap="square" lIns="0" tIns="0" rIns="0" bIns="0" rtlCol="0" anchor="ctr"/>
          <a:lstStyle/>
          <a:p>
            <a:pPr algn="r" indent="0" marL="0">
              <a:buNone/>
            </a:pPr>
            <a:r>
              <a:rPr lang="en-US" sz="1000" dirty="0">
                <a:solidFill>
                  <a:srgbClr val="5A6E8C"/>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411480"/>
            <a:ext cx="10058400" cy="256032"/>
          </a:xfrm>
          <a:prstGeom prst="rect">
            <a:avLst/>
          </a:prstGeom>
          <a:noFill/>
          <a:ln/>
        </p:spPr>
        <p:txBody>
          <a:bodyPr wrap="square" lIns="0" tIns="0" rIns="0" bIns="0" rtlCol="0" anchor="ctr"/>
          <a:lstStyle/>
          <a:p>
            <a:pPr indent="0" marL="0">
              <a:buNone/>
            </a:pPr>
            <a:r>
              <a:rPr lang="en-US" sz="1200" b="1" spc="200" kern="0" dirty="0">
                <a:solidFill>
                  <a:srgbClr val="22D3EE"/>
                </a:solidFill>
                <a:latin typeface="Calibri" pitchFamily="34" charset="0"/>
                <a:ea typeface="Calibri" pitchFamily="34" charset="-122"/>
                <a:cs typeface="Calibri" pitchFamily="34" charset="-120"/>
              </a:rPr>
              <a:t>CUSTOMER BUSINESS IMPACT AND SUCCESS METRICS</a:t>
            </a:r>
            <a:endParaRPr lang="en-US" sz="1200" dirty="0"/>
          </a:p>
        </p:txBody>
      </p:sp>
      <p:sp>
        <p:nvSpPr>
          <p:cNvPr id="3" name="Text 1"/>
          <p:cNvSpPr txBox="1"/>
          <p:nvPr/>
        </p:nvSpPr>
        <p:spPr>
          <a:xfrm>
            <a:off x="548640" y="722376"/>
            <a:ext cx="11064240" cy="475488"/>
          </a:xfrm>
          <a:prstGeom prst="rect">
            <a:avLst/>
          </a:prstGeom>
          <a:noFill/>
          <a:ln/>
        </p:spPr>
        <p:txBody>
          <a:bodyPr wrap="square" lIns="0" tIns="0" rIns="0" bIns="0" rtlCol="0" anchor="ctr"/>
          <a:lstStyle/>
          <a:p>
            <a:pPr indent="0" marL="0">
              <a:buNone/>
            </a:pPr>
            <a:r>
              <a:rPr lang="en-US" sz="3000" b="1" dirty="0">
                <a:solidFill>
                  <a:srgbClr val="E9EFFA"/>
                </a:solidFill>
                <a:latin typeface="Arial" pitchFamily="34" charset="0"/>
                <a:ea typeface="Arial" pitchFamily="34" charset="-122"/>
                <a:cs typeface="Arial" pitchFamily="34" charset="-120"/>
              </a:rPr>
              <a:t>What it is worth, and how we would know</a:t>
            </a:r>
            <a:endParaRPr lang="en-US" sz="3000" dirty="0"/>
          </a:p>
        </p:txBody>
      </p:sp>
      <p:sp>
        <p:nvSpPr>
          <p:cNvPr id="4" name="Shape 2"/>
          <p:cNvSpPr/>
          <p:nvPr/>
        </p:nvSpPr>
        <p:spPr>
          <a:xfrm>
            <a:off x="548640" y="1591056"/>
            <a:ext cx="2624328" cy="1508760"/>
          </a:xfrm>
          <a:prstGeom prst="roundRect">
            <a:avLst>
              <a:gd name="adj" fmla="val 2424"/>
            </a:avLst>
          </a:prstGeom>
          <a:solidFill>
            <a:srgbClr val="16213A"/>
          </a:solidFill>
          <a:ln w="12700">
            <a:solidFill>
              <a:srgbClr val="1E2A47"/>
            </a:solidFill>
            <a:prstDash val="solid"/>
          </a:ln>
        </p:spPr>
      </p:sp>
      <p:sp>
        <p:nvSpPr>
          <p:cNvPr id="5" name="Text 3"/>
          <p:cNvSpPr txBox="1"/>
          <p:nvPr/>
        </p:nvSpPr>
        <p:spPr>
          <a:xfrm>
            <a:off x="777240" y="1792224"/>
            <a:ext cx="2194560" cy="548640"/>
          </a:xfrm>
          <a:prstGeom prst="rect">
            <a:avLst/>
          </a:prstGeom>
          <a:noFill/>
          <a:ln/>
        </p:spPr>
        <p:txBody>
          <a:bodyPr wrap="square" lIns="0" tIns="0" rIns="0" bIns="0" rtlCol="0" anchor="ctr"/>
          <a:lstStyle/>
          <a:p>
            <a:pPr indent="0" marL="0">
              <a:buNone/>
            </a:pPr>
            <a:r>
              <a:rPr lang="en-US" sz="2500" b="1" dirty="0">
                <a:solidFill>
                  <a:srgbClr val="34D399"/>
                </a:solidFill>
                <a:latin typeface="Arial" pitchFamily="34" charset="0"/>
                <a:ea typeface="Arial" pitchFamily="34" charset="-122"/>
                <a:cs typeface="Arial" pitchFamily="34" charset="-120"/>
              </a:rPr>
              <a:t>Hours → minutes</a:t>
            </a:r>
            <a:endParaRPr lang="en-US" sz="2500" dirty="0"/>
          </a:p>
        </p:txBody>
      </p:sp>
      <p:sp>
        <p:nvSpPr>
          <p:cNvPr id="6" name="Text 4"/>
          <p:cNvSpPr txBox="1"/>
          <p:nvPr/>
        </p:nvSpPr>
        <p:spPr>
          <a:xfrm>
            <a:off x="777240" y="2368296"/>
            <a:ext cx="2194560" cy="594360"/>
          </a:xfrm>
          <a:prstGeom prst="rect">
            <a:avLst/>
          </a:prstGeom>
          <a:noFill/>
          <a:ln/>
        </p:spPr>
        <p:txBody>
          <a:bodyPr wrap="square" lIns="0" tIns="0" rIns="0" bIns="0" rtlCol="0" anchor="ctr"/>
          <a:lstStyle/>
          <a:p>
            <a:pPr indent="0" marL="0">
              <a:lnSpc>
                <a:spcPts val="1500"/>
              </a:lnSpc>
              <a:buNone/>
            </a:pPr>
            <a:r>
              <a:rPr lang="en-US" sz="1200" dirty="0">
                <a:solidFill>
                  <a:srgbClr val="94A8C4"/>
                </a:solidFill>
                <a:latin typeface="Calibri" pitchFamily="34" charset="0"/>
                <a:ea typeface="Calibri" pitchFamily="34" charset="-122"/>
                <a:cs typeface="Calibri" pitchFamily="34" charset="-120"/>
              </a:rPr>
              <a:t>Time to fix a known failure, once approved</a:t>
            </a:r>
            <a:endParaRPr lang="en-US" sz="1200" dirty="0"/>
          </a:p>
        </p:txBody>
      </p:sp>
      <p:sp>
        <p:nvSpPr>
          <p:cNvPr id="7" name="Shape 5"/>
          <p:cNvSpPr/>
          <p:nvPr/>
        </p:nvSpPr>
        <p:spPr>
          <a:xfrm>
            <a:off x="3355848" y="1591056"/>
            <a:ext cx="2624328" cy="1508760"/>
          </a:xfrm>
          <a:prstGeom prst="roundRect">
            <a:avLst>
              <a:gd name="adj" fmla="val 2424"/>
            </a:avLst>
          </a:prstGeom>
          <a:solidFill>
            <a:srgbClr val="16213A"/>
          </a:solidFill>
          <a:ln w="12700">
            <a:solidFill>
              <a:srgbClr val="1E2A47"/>
            </a:solidFill>
            <a:prstDash val="solid"/>
          </a:ln>
        </p:spPr>
      </p:sp>
      <p:sp>
        <p:nvSpPr>
          <p:cNvPr id="8" name="Text 6"/>
          <p:cNvSpPr txBox="1"/>
          <p:nvPr/>
        </p:nvSpPr>
        <p:spPr>
          <a:xfrm>
            <a:off x="3584448" y="1792224"/>
            <a:ext cx="2194560" cy="548640"/>
          </a:xfrm>
          <a:prstGeom prst="rect">
            <a:avLst/>
          </a:prstGeom>
          <a:noFill/>
          <a:ln/>
        </p:spPr>
        <p:txBody>
          <a:bodyPr wrap="square" lIns="0" tIns="0" rIns="0" bIns="0" rtlCol="0" anchor="ctr"/>
          <a:lstStyle/>
          <a:p>
            <a:pPr indent="0" marL="0">
              <a:buNone/>
            </a:pPr>
            <a:r>
              <a:rPr lang="en-US" sz="2500" b="1" dirty="0">
                <a:solidFill>
                  <a:srgbClr val="22D3EE"/>
                </a:solidFill>
                <a:latin typeface="Arial" pitchFamily="34" charset="0"/>
                <a:ea typeface="Arial" pitchFamily="34" charset="-122"/>
                <a:cs typeface="Arial" pitchFamily="34" charset="-120"/>
              </a:rPr>
              <a:t>~$0.05</a:t>
            </a:r>
            <a:endParaRPr lang="en-US" sz="2500" dirty="0"/>
          </a:p>
        </p:txBody>
      </p:sp>
      <p:sp>
        <p:nvSpPr>
          <p:cNvPr id="9" name="Text 7"/>
          <p:cNvSpPr txBox="1"/>
          <p:nvPr/>
        </p:nvSpPr>
        <p:spPr>
          <a:xfrm>
            <a:off x="3584448" y="2368296"/>
            <a:ext cx="2194560" cy="594360"/>
          </a:xfrm>
          <a:prstGeom prst="rect">
            <a:avLst/>
          </a:prstGeom>
          <a:noFill/>
          <a:ln/>
        </p:spPr>
        <p:txBody>
          <a:bodyPr wrap="square" lIns="0" tIns="0" rIns="0" bIns="0" rtlCol="0" anchor="ctr"/>
          <a:lstStyle/>
          <a:p>
            <a:pPr indent="0" marL="0">
              <a:lnSpc>
                <a:spcPts val="1500"/>
              </a:lnSpc>
              <a:buNone/>
            </a:pPr>
            <a:r>
              <a:rPr lang="en-US" sz="1200" dirty="0">
                <a:solidFill>
                  <a:srgbClr val="94A8C4"/>
                </a:solidFill>
                <a:latin typeface="Calibri" pitchFamily="34" charset="0"/>
                <a:ea typeface="Calibri" pitchFamily="34" charset="-122"/>
                <a:cs typeface="Calibri" pitchFamily="34" charset="-120"/>
              </a:rPr>
              <a:t>Token cost per full investigation</a:t>
            </a:r>
            <a:endParaRPr lang="en-US" sz="1200" dirty="0"/>
          </a:p>
        </p:txBody>
      </p:sp>
      <p:sp>
        <p:nvSpPr>
          <p:cNvPr id="10" name="Shape 8"/>
          <p:cNvSpPr/>
          <p:nvPr/>
        </p:nvSpPr>
        <p:spPr>
          <a:xfrm>
            <a:off x="6163056" y="1591056"/>
            <a:ext cx="2624328" cy="1508760"/>
          </a:xfrm>
          <a:prstGeom prst="roundRect">
            <a:avLst>
              <a:gd name="adj" fmla="val 2424"/>
            </a:avLst>
          </a:prstGeom>
          <a:solidFill>
            <a:srgbClr val="16213A"/>
          </a:solidFill>
          <a:ln w="12700">
            <a:solidFill>
              <a:srgbClr val="1E2A47"/>
            </a:solidFill>
            <a:prstDash val="solid"/>
          </a:ln>
        </p:spPr>
      </p:sp>
      <p:sp>
        <p:nvSpPr>
          <p:cNvPr id="11" name="Text 9"/>
          <p:cNvSpPr txBox="1"/>
          <p:nvPr/>
        </p:nvSpPr>
        <p:spPr>
          <a:xfrm>
            <a:off x="6391656" y="1792224"/>
            <a:ext cx="2194560" cy="548640"/>
          </a:xfrm>
          <a:prstGeom prst="rect">
            <a:avLst/>
          </a:prstGeom>
          <a:noFill/>
          <a:ln/>
        </p:spPr>
        <p:txBody>
          <a:bodyPr wrap="square" lIns="0" tIns="0" rIns="0" bIns="0" rtlCol="0" anchor="ctr"/>
          <a:lstStyle/>
          <a:p>
            <a:pPr indent="0" marL="0">
              <a:buNone/>
            </a:pPr>
            <a:r>
              <a:rPr lang="en-US" sz="2500" b="1" dirty="0">
                <a:solidFill>
                  <a:srgbClr val="22D3EE"/>
                </a:solidFill>
                <a:latin typeface="Arial" pitchFamily="34" charset="0"/>
                <a:ea typeface="Arial" pitchFamily="34" charset="-122"/>
                <a:cs typeface="Arial" pitchFamily="34" charset="-120"/>
              </a:rPr>
              <a:t>100%</a:t>
            </a:r>
            <a:endParaRPr lang="en-US" sz="2500" dirty="0"/>
          </a:p>
        </p:txBody>
      </p:sp>
      <p:sp>
        <p:nvSpPr>
          <p:cNvPr id="12" name="Text 10"/>
          <p:cNvSpPr txBox="1"/>
          <p:nvPr/>
        </p:nvSpPr>
        <p:spPr>
          <a:xfrm>
            <a:off x="6391656" y="2368296"/>
            <a:ext cx="2194560" cy="594360"/>
          </a:xfrm>
          <a:prstGeom prst="rect">
            <a:avLst/>
          </a:prstGeom>
          <a:noFill/>
          <a:ln/>
        </p:spPr>
        <p:txBody>
          <a:bodyPr wrap="square" lIns="0" tIns="0" rIns="0" bIns="0" rtlCol="0" anchor="ctr"/>
          <a:lstStyle/>
          <a:p>
            <a:pPr indent="0" marL="0">
              <a:lnSpc>
                <a:spcPts val="1500"/>
              </a:lnSpc>
              <a:buNone/>
            </a:pPr>
            <a:r>
              <a:rPr lang="en-US" sz="1200" dirty="0">
                <a:solidFill>
                  <a:srgbClr val="94A8C4"/>
                </a:solidFill>
                <a:latin typeface="Calibri" pitchFamily="34" charset="0"/>
                <a:ea typeface="Calibri" pitchFamily="34" charset="-122"/>
                <a:cs typeface="Calibri" pitchFamily="34" charset="-120"/>
              </a:rPr>
              <a:t>Of actions recorded in a verifiable chain</a:t>
            </a:r>
            <a:endParaRPr lang="en-US" sz="1200" dirty="0"/>
          </a:p>
        </p:txBody>
      </p:sp>
      <p:sp>
        <p:nvSpPr>
          <p:cNvPr id="13" name="Shape 11"/>
          <p:cNvSpPr/>
          <p:nvPr/>
        </p:nvSpPr>
        <p:spPr>
          <a:xfrm>
            <a:off x="8970264" y="1591056"/>
            <a:ext cx="2624328" cy="1508760"/>
          </a:xfrm>
          <a:prstGeom prst="roundRect">
            <a:avLst>
              <a:gd name="adj" fmla="val 2424"/>
            </a:avLst>
          </a:prstGeom>
          <a:solidFill>
            <a:srgbClr val="16213A"/>
          </a:solidFill>
          <a:ln w="12700">
            <a:solidFill>
              <a:srgbClr val="1E2A47"/>
            </a:solidFill>
            <a:prstDash val="solid"/>
          </a:ln>
        </p:spPr>
      </p:sp>
      <p:sp>
        <p:nvSpPr>
          <p:cNvPr id="14" name="Text 12"/>
          <p:cNvSpPr txBox="1"/>
          <p:nvPr/>
        </p:nvSpPr>
        <p:spPr>
          <a:xfrm>
            <a:off x="9198864" y="1792224"/>
            <a:ext cx="2194560" cy="548640"/>
          </a:xfrm>
          <a:prstGeom prst="rect">
            <a:avLst/>
          </a:prstGeom>
          <a:noFill/>
          <a:ln/>
        </p:spPr>
        <p:txBody>
          <a:bodyPr wrap="square" lIns="0" tIns="0" rIns="0" bIns="0" rtlCol="0" anchor="ctr"/>
          <a:lstStyle/>
          <a:p>
            <a:pPr indent="0" marL="0">
              <a:buNone/>
            </a:pPr>
            <a:r>
              <a:rPr lang="en-US" sz="2500" b="1" dirty="0">
                <a:solidFill>
                  <a:srgbClr val="FBBF24"/>
                </a:solidFill>
                <a:latin typeface="Arial" pitchFamily="34" charset="0"/>
                <a:ea typeface="Arial" pitchFamily="34" charset="-122"/>
                <a:cs typeface="Arial" pitchFamily="34" charset="-120"/>
              </a:rPr>
              <a:t>0</a:t>
            </a:r>
            <a:endParaRPr lang="en-US" sz="2500" dirty="0"/>
          </a:p>
        </p:txBody>
      </p:sp>
      <p:sp>
        <p:nvSpPr>
          <p:cNvPr id="15" name="Text 13"/>
          <p:cNvSpPr txBox="1"/>
          <p:nvPr/>
        </p:nvSpPr>
        <p:spPr>
          <a:xfrm>
            <a:off x="9198864" y="2368296"/>
            <a:ext cx="2194560" cy="594360"/>
          </a:xfrm>
          <a:prstGeom prst="rect">
            <a:avLst/>
          </a:prstGeom>
          <a:noFill/>
          <a:ln/>
        </p:spPr>
        <p:txBody>
          <a:bodyPr wrap="square" lIns="0" tIns="0" rIns="0" bIns="0" rtlCol="0" anchor="ctr"/>
          <a:lstStyle/>
          <a:p>
            <a:pPr indent="0" marL="0">
              <a:lnSpc>
                <a:spcPts val="1500"/>
              </a:lnSpc>
              <a:buNone/>
            </a:pPr>
            <a:r>
              <a:rPr lang="en-US" sz="1200" dirty="0">
                <a:solidFill>
                  <a:srgbClr val="94A8C4"/>
                </a:solidFill>
                <a:latin typeface="Calibri" pitchFamily="34" charset="0"/>
                <a:ea typeface="Calibri" pitchFamily="34" charset="-122"/>
                <a:cs typeface="Calibri" pitchFamily="34" charset="-120"/>
              </a:rPr>
              <a:t>Commands the AI is able to write</a:t>
            </a:r>
            <a:endParaRPr lang="en-US" sz="1200" dirty="0"/>
          </a:p>
        </p:txBody>
      </p:sp>
      <p:sp>
        <p:nvSpPr>
          <p:cNvPr id="16" name="Text 14"/>
          <p:cNvSpPr txBox="1"/>
          <p:nvPr/>
        </p:nvSpPr>
        <p:spPr>
          <a:xfrm>
            <a:off x="548640" y="3374136"/>
            <a:ext cx="5394960" cy="347472"/>
          </a:xfrm>
          <a:prstGeom prst="rect">
            <a:avLst/>
          </a:prstGeom>
          <a:noFill/>
          <a:ln/>
        </p:spPr>
        <p:txBody>
          <a:bodyPr wrap="square" lIns="0" tIns="0" rIns="0" bIns="0" rtlCol="0" anchor="ctr"/>
          <a:lstStyle/>
          <a:p>
            <a:pPr indent="0" marL="0">
              <a:buNone/>
            </a:pPr>
            <a:r>
              <a:rPr lang="en-US" sz="1800" b="1" dirty="0">
                <a:solidFill>
                  <a:srgbClr val="E9EFFA"/>
                </a:solidFill>
                <a:latin typeface="Arial" pitchFamily="34" charset="0"/>
                <a:ea typeface="Arial" pitchFamily="34" charset="-122"/>
                <a:cs typeface="Arial" pitchFamily="34" charset="-120"/>
              </a:rPr>
              <a:t>Where the money actually is</a:t>
            </a:r>
            <a:endParaRPr lang="en-US" sz="1800" dirty="0"/>
          </a:p>
        </p:txBody>
      </p:sp>
      <p:sp>
        <p:nvSpPr>
          <p:cNvPr id="17" name="Text 15"/>
          <p:cNvSpPr txBox="1"/>
          <p:nvPr/>
        </p:nvSpPr>
        <p:spPr>
          <a:xfrm>
            <a:off x="548640" y="3803904"/>
            <a:ext cx="5394960" cy="2011680"/>
          </a:xfrm>
          <a:prstGeom prst="rect">
            <a:avLst/>
          </a:prstGeom>
          <a:noFill/>
          <a:ln/>
        </p:spPr>
        <p:txBody>
          <a:bodyPr wrap="square" lIns="0" tIns="0" rIns="0" bIns="0" rtlCol="0" anchor="ctr"/>
          <a:lstStyle/>
          <a:p>
            <a:pPr marL="342900" indent="-342900">
              <a:lnSpc>
                <a:spcPts val="1700"/>
              </a:lnSpc>
              <a:spcAft>
                <a:spcPts val="700"/>
              </a:spcAft>
              <a:buSzPct val="100000"/>
              <a:buChar char="•"/>
            </a:pPr>
            <a:r>
              <a:rPr lang="en-US" sz="1300" dirty="0">
                <a:solidFill>
                  <a:srgbClr val="94A8C4"/>
                </a:solidFill>
                <a:latin typeface="Calibri" pitchFamily="34" charset="0"/>
                <a:ea typeface="Calibri" pitchFamily="34" charset="-122"/>
                <a:cs typeface="Calibri" pitchFamily="34" charset="-120"/>
              </a:rPr>
              <a:t>Downtime avoided — the outage ends at the approval, not after a human works out the fix</a:t>
            </a:r>
            <a:endParaRPr lang="en-US" sz="1300" dirty="0"/>
          </a:p>
          <a:p>
            <a:pPr marL="342900" indent="-342900">
              <a:lnSpc>
                <a:spcPts val="1700"/>
              </a:lnSpc>
              <a:spcAft>
                <a:spcPts val="700"/>
              </a:spcAft>
              <a:buSzPct val="100000"/>
              <a:buChar char="•"/>
            </a:pPr>
            <a:r>
              <a:rPr lang="en-US" sz="1300" dirty="0">
                <a:solidFill>
                  <a:srgbClr val="94A8C4"/>
                </a:solidFill>
                <a:latin typeface="Calibri" pitchFamily="34" charset="0"/>
                <a:ea typeface="Calibri" pitchFamily="34" charset="-122"/>
                <a:cs typeface="Calibri" pitchFamily="34" charset="-120"/>
              </a:rPr>
              <a:t>Engineer hours returned — investigation and paperwork both happen without anyone typing</a:t>
            </a:r>
            <a:endParaRPr lang="en-US" sz="1300" dirty="0"/>
          </a:p>
          <a:p>
            <a:pPr marL="342900" indent="-342900">
              <a:lnSpc>
                <a:spcPts val="1700"/>
              </a:lnSpc>
              <a:spcAft>
                <a:spcPts val="700"/>
              </a:spcAft>
              <a:buSzPct val="100000"/>
              <a:buChar char="•"/>
            </a:pPr>
            <a:r>
              <a:rPr lang="en-US" sz="1300" dirty="0">
                <a:solidFill>
                  <a:srgbClr val="94A8C4"/>
                </a:solidFill>
                <a:latin typeface="Calibri" pitchFamily="34" charset="0"/>
                <a:ea typeface="Calibri" pitchFamily="34" charset="-122"/>
                <a:cs typeface="Calibri" pitchFamily="34" charset="-120"/>
              </a:rPr>
              <a:t>Audit cost removed — the change record writes itself, and is provably unedited</a:t>
            </a:r>
            <a:endParaRPr lang="en-US" sz="1300" dirty="0"/>
          </a:p>
          <a:p>
            <a:pPr marL="342900" indent="-342900">
              <a:lnSpc>
                <a:spcPts val="1700"/>
              </a:lnSpc>
              <a:spcAft>
                <a:spcPts val="700"/>
              </a:spcAft>
              <a:buSzPct val="100000"/>
              <a:buChar char="•"/>
            </a:pPr>
            <a:r>
              <a:rPr lang="en-US" sz="1300" dirty="0">
                <a:solidFill>
                  <a:srgbClr val="94A8C4"/>
                </a:solidFill>
                <a:latin typeface="Calibri" pitchFamily="34" charset="0"/>
                <a:ea typeface="Calibri" pitchFamily="34" charset="-122"/>
                <a:cs typeface="Calibri" pitchFamily="34" charset="-120"/>
              </a:rPr>
              <a:t>Fewer 2 a.m. pages — which is a retention argument as much as a cost one</a:t>
            </a:r>
            <a:endParaRPr lang="en-US" sz="1300" dirty="0"/>
          </a:p>
        </p:txBody>
      </p:sp>
      <p:sp>
        <p:nvSpPr>
          <p:cNvPr id="18" name="Text 16"/>
          <p:cNvSpPr txBox="1"/>
          <p:nvPr/>
        </p:nvSpPr>
        <p:spPr>
          <a:xfrm>
            <a:off x="6245352" y="3374136"/>
            <a:ext cx="5394960" cy="347472"/>
          </a:xfrm>
          <a:prstGeom prst="rect">
            <a:avLst/>
          </a:prstGeom>
          <a:noFill/>
          <a:ln/>
        </p:spPr>
        <p:txBody>
          <a:bodyPr wrap="square" lIns="0" tIns="0" rIns="0" bIns="0" rtlCol="0" anchor="ctr"/>
          <a:lstStyle/>
          <a:p>
            <a:pPr indent="0" marL="0">
              <a:buNone/>
            </a:pPr>
            <a:r>
              <a:rPr lang="en-US" sz="1800" b="1" dirty="0">
                <a:solidFill>
                  <a:srgbClr val="E9EFFA"/>
                </a:solidFill>
                <a:latin typeface="Arial" pitchFamily="34" charset="0"/>
                <a:ea typeface="Arial" pitchFamily="34" charset="-122"/>
                <a:cs typeface="Arial" pitchFamily="34" charset="-120"/>
              </a:rPr>
              <a:t>Metrics we would track after launch</a:t>
            </a:r>
            <a:endParaRPr lang="en-US" sz="1800" dirty="0"/>
          </a:p>
        </p:txBody>
      </p:sp>
      <p:sp>
        <p:nvSpPr>
          <p:cNvPr id="19" name="Text 17"/>
          <p:cNvSpPr txBox="1"/>
          <p:nvPr/>
        </p:nvSpPr>
        <p:spPr>
          <a:xfrm>
            <a:off x="6245352" y="3831336"/>
            <a:ext cx="1463040" cy="457200"/>
          </a:xfrm>
          <a:prstGeom prst="rect">
            <a:avLst/>
          </a:prstGeom>
          <a:noFill/>
          <a:ln/>
        </p:spPr>
        <p:txBody>
          <a:bodyPr wrap="square" lIns="0" tIns="0" rIns="0" bIns="0" rtlCol="0" anchor="ctr"/>
          <a:lstStyle/>
          <a:p>
            <a:pPr indent="0" marL="0">
              <a:buNone/>
            </a:pPr>
            <a:r>
              <a:rPr lang="en-US" sz="1200" b="1" dirty="0">
                <a:solidFill>
                  <a:srgbClr val="34D399"/>
                </a:solidFill>
                <a:latin typeface="Arial" pitchFamily="34" charset="0"/>
                <a:ea typeface="Arial" pitchFamily="34" charset="-122"/>
                <a:cs typeface="Arial" pitchFamily="34" charset="-120"/>
              </a:rPr>
              <a:t>MTTR</a:t>
            </a:r>
            <a:endParaRPr lang="en-US" sz="1200" dirty="0"/>
          </a:p>
        </p:txBody>
      </p:sp>
      <p:sp>
        <p:nvSpPr>
          <p:cNvPr id="20" name="Text 18"/>
          <p:cNvSpPr txBox="1"/>
          <p:nvPr/>
        </p:nvSpPr>
        <p:spPr>
          <a:xfrm>
            <a:off x="7772400" y="3831336"/>
            <a:ext cx="3867912" cy="457200"/>
          </a:xfrm>
          <a:prstGeom prst="rect">
            <a:avLst/>
          </a:prstGeom>
          <a:noFill/>
          <a:ln/>
        </p:spPr>
        <p:txBody>
          <a:bodyPr wrap="square" lIns="0" tIns="0" rIns="0" bIns="0" rtlCol="0" anchor="ctr"/>
          <a:lstStyle/>
          <a:p>
            <a:pPr indent="0" marL="0">
              <a:lnSpc>
                <a:spcPts val="1400"/>
              </a:lnSpc>
              <a:buNone/>
            </a:pPr>
            <a:r>
              <a:rPr lang="en-US" sz="1150" dirty="0">
                <a:solidFill>
                  <a:srgbClr val="94A8C4"/>
                </a:solidFill>
                <a:latin typeface="Calibri" pitchFamily="34" charset="0"/>
                <a:ea typeface="Calibri" pitchFamily="34" charset="-122"/>
                <a:cs typeface="Calibri" pitchFamily="34" charset="-120"/>
              </a:rPr>
              <a:t>40% reduction on incidents the catalog covers, within 2 quarters</a:t>
            </a:r>
            <a:endParaRPr lang="en-US" sz="1150" dirty="0"/>
          </a:p>
        </p:txBody>
      </p:sp>
      <p:sp>
        <p:nvSpPr>
          <p:cNvPr id="21" name="Text 19"/>
          <p:cNvSpPr txBox="1"/>
          <p:nvPr/>
        </p:nvSpPr>
        <p:spPr>
          <a:xfrm>
            <a:off x="6245352" y="4361688"/>
            <a:ext cx="1463040" cy="457200"/>
          </a:xfrm>
          <a:prstGeom prst="rect">
            <a:avLst/>
          </a:prstGeom>
          <a:noFill/>
          <a:ln/>
        </p:spPr>
        <p:txBody>
          <a:bodyPr wrap="square" lIns="0" tIns="0" rIns="0" bIns="0" rtlCol="0" anchor="ctr"/>
          <a:lstStyle/>
          <a:p>
            <a:pPr indent="0" marL="0">
              <a:buNone/>
            </a:pPr>
            <a:r>
              <a:rPr lang="en-US" sz="1200" b="1" dirty="0">
                <a:solidFill>
                  <a:srgbClr val="22D3EE"/>
                </a:solidFill>
                <a:latin typeface="Arial" pitchFamily="34" charset="0"/>
                <a:ea typeface="Arial" pitchFamily="34" charset="-122"/>
                <a:cs typeface="Arial" pitchFamily="34" charset="-120"/>
              </a:rPr>
              <a:t>Approval rate</a:t>
            </a:r>
            <a:endParaRPr lang="en-US" sz="1200" dirty="0"/>
          </a:p>
        </p:txBody>
      </p:sp>
      <p:sp>
        <p:nvSpPr>
          <p:cNvPr id="22" name="Text 20"/>
          <p:cNvSpPr txBox="1"/>
          <p:nvPr/>
        </p:nvSpPr>
        <p:spPr>
          <a:xfrm>
            <a:off x="7772400" y="4361688"/>
            <a:ext cx="3867912" cy="457200"/>
          </a:xfrm>
          <a:prstGeom prst="rect">
            <a:avLst/>
          </a:prstGeom>
          <a:noFill/>
          <a:ln/>
        </p:spPr>
        <p:txBody>
          <a:bodyPr wrap="square" lIns="0" tIns="0" rIns="0" bIns="0" rtlCol="0" anchor="ctr"/>
          <a:lstStyle/>
          <a:p>
            <a:pPr indent="0" marL="0">
              <a:lnSpc>
                <a:spcPts val="1400"/>
              </a:lnSpc>
              <a:buNone/>
            </a:pPr>
            <a:r>
              <a:rPr lang="en-US" sz="1150" dirty="0">
                <a:solidFill>
                  <a:srgbClr val="94A8C4"/>
                </a:solidFill>
                <a:latin typeface="Calibri" pitchFamily="34" charset="0"/>
                <a:ea typeface="Calibri" pitchFamily="34" charset="-122"/>
                <a:cs typeface="Calibri" pitchFamily="34" charset="-120"/>
              </a:rPr>
              <a:t>&gt;80% of proposals approved — below that, the diagnoses are not trusted</a:t>
            </a:r>
            <a:endParaRPr lang="en-US" sz="1150" dirty="0"/>
          </a:p>
        </p:txBody>
      </p:sp>
      <p:sp>
        <p:nvSpPr>
          <p:cNvPr id="23" name="Text 21"/>
          <p:cNvSpPr txBox="1"/>
          <p:nvPr/>
        </p:nvSpPr>
        <p:spPr>
          <a:xfrm>
            <a:off x="6245352" y="4892040"/>
            <a:ext cx="1463040" cy="457200"/>
          </a:xfrm>
          <a:prstGeom prst="rect">
            <a:avLst/>
          </a:prstGeom>
          <a:noFill/>
          <a:ln/>
        </p:spPr>
        <p:txBody>
          <a:bodyPr wrap="square" lIns="0" tIns="0" rIns="0" bIns="0" rtlCol="0" anchor="ctr"/>
          <a:lstStyle/>
          <a:p>
            <a:pPr indent="0" marL="0">
              <a:buNone/>
            </a:pPr>
            <a:r>
              <a:rPr lang="en-US" sz="1200" b="1" dirty="0">
                <a:solidFill>
                  <a:srgbClr val="22D3EE"/>
                </a:solidFill>
                <a:latin typeface="Arial" pitchFamily="34" charset="0"/>
                <a:ea typeface="Arial" pitchFamily="34" charset="-122"/>
                <a:cs typeface="Arial" pitchFamily="34" charset="-120"/>
              </a:rPr>
              <a:t>Rollback rate</a:t>
            </a:r>
            <a:endParaRPr lang="en-US" sz="1200" dirty="0"/>
          </a:p>
        </p:txBody>
      </p:sp>
      <p:sp>
        <p:nvSpPr>
          <p:cNvPr id="24" name="Text 22"/>
          <p:cNvSpPr txBox="1"/>
          <p:nvPr/>
        </p:nvSpPr>
        <p:spPr>
          <a:xfrm>
            <a:off x="7772400" y="4892040"/>
            <a:ext cx="3867912" cy="457200"/>
          </a:xfrm>
          <a:prstGeom prst="rect">
            <a:avLst/>
          </a:prstGeom>
          <a:noFill/>
          <a:ln/>
        </p:spPr>
        <p:txBody>
          <a:bodyPr wrap="square" lIns="0" tIns="0" rIns="0" bIns="0" rtlCol="0" anchor="ctr"/>
          <a:lstStyle/>
          <a:p>
            <a:pPr indent="0" marL="0">
              <a:lnSpc>
                <a:spcPts val="1400"/>
              </a:lnSpc>
              <a:buNone/>
            </a:pPr>
            <a:r>
              <a:rPr lang="en-US" sz="1150" dirty="0">
                <a:solidFill>
                  <a:srgbClr val="94A8C4"/>
                </a:solidFill>
                <a:latin typeface="Calibri" pitchFamily="34" charset="0"/>
                <a:ea typeface="Calibri" pitchFamily="34" charset="-122"/>
                <a:cs typeface="Calibri" pitchFamily="34" charset="-120"/>
              </a:rPr>
              <a:t>&lt;5% of executed fixes rolled back</a:t>
            </a:r>
            <a:endParaRPr lang="en-US" sz="1150" dirty="0"/>
          </a:p>
        </p:txBody>
      </p:sp>
      <p:sp>
        <p:nvSpPr>
          <p:cNvPr id="25" name="Text 23"/>
          <p:cNvSpPr txBox="1"/>
          <p:nvPr/>
        </p:nvSpPr>
        <p:spPr>
          <a:xfrm>
            <a:off x="6245352" y="5422392"/>
            <a:ext cx="1463040" cy="457200"/>
          </a:xfrm>
          <a:prstGeom prst="rect">
            <a:avLst/>
          </a:prstGeom>
          <a:noFill/>
          <a:ln/>
        </p:spPr>
        <p:txBody>
          <a:bodyPr wrap="square" lIns="0" tIns="0" rIns="0" bIns="0" rtlCol="0" anchor="ctr"/>
          <a:lstStyle/>
          <a:p>
            <a:pPr indent="0" marL="0">
              <a:buNone/>
            </a:pPr>
            <a:r>
              <a:rPr lang="en-US" sz="1200" b="1" dirty="0">
                <a:solidFill>
                  <a:srgbClr val="FBBF24"/>
                </a:solidFill>
                <a:latin typeface="Arial" pitchFamily="34" charset="0"/>
                <a:ea typeface="Arial" pitchFamily="34" charset="-122"/>
                <a:cs typeface="Arial" pitchFamily="34" charset="-120"/>
              </a:rPr>
              <a:t>Coverage</a:t>
            </a:r>
            <a:endParaRPr lang="en-US" sz="1200" dirty="0"/>
          </a:p>
        </p:txBody>
      </p:sp>
      <p:sp>
        <p:nvSpPr>
          <p:cNvPr id="26" name="Text 24"/>
          <p:cNvSpPr txBox="1"/>
          <p:nvPr/>
        </p:nvSpPr>
        <p:spPr>
          <a:xfrm>
            <a:off x="7772400" y="5422392"/>
            <a:ext cx="3867912" cy="457200"/>
          </a:xfrm>
          <a:prstGeom prst="rect">
            <a:avLst/>
          </a:prstGeom>
          <a:noFill/>
          <a:ln/>
        </p:spPr>
        <p:txBody>
          <a:bodyPr wrap="square" lIns="0" tIns="0" rIns="0" bIns="0" rtlCol="0" anchor="ctr"/>
          <a:lstStyle/>
          <a:p>
            <a:pPr indent="0" marL="0">
              <a:lnSpc>
                <a:spcPts val="1400"/>
              </a:lnSpc>
              <a:buNone/>
            </a:pPr>
            <a:r>
              <a:rPr lang="en-US" sz="1150" dirty="0">
                <a:solidFill>
                  <a:srgbClr val="94A8C4"/>
                </a:solidFill>
                <a:latin typeface="Calibri" pitchFamily="34" charset="0"/>
                <a:ea typeface="Calibri" pitchFamily="34" charset="-122"/>
                <a:cs typeface="Calibri" pitchFamily="34" charset="-120"/>
              </a:rPr>
              <a:t>60% of pages matched by a catalog action within a year</a:t>
            </a:r>
            <a:endParaRPr lang="en-US" sz="1150" dirty="0"/>
          </a:p>
        </p:txBody>
      </p:sp>
      <p:sp>
        <p:nvSpPr>
          <p:cNvPr id="27" name="Text 25"/>
          <p:cNvSpPr txBox="1"/>
          <p:nvPr/>
        </p:nvSpPr>
        <p:spPr>
          <a:xfrm>
            <a:off x="548640" y="6400800"/>
            <a:ext cx="3657600" cy="256032"/>
          </a:xfrm>
          <a:prstGeom prst="rect">
            <a:avLst/>
          </a:prstGeom>
          <a:noFill/>
          <a:ln/>
        </p:spPr>
        <p:txBody>
          <a:bodyPr wrap="square" lIns="0" tIns="0" rIns="0" bIns="0" rtlCol="0" anchor="ctr"/>
          <a:lstStyle/>
          <a:p>
            <a:pPr indent="0" marL="0">
              <a:buNone/>
            </a:pPr>
            <a:r>
              <a:rPr lang="en-US" sz="1000" dirty="0">
                <a:solidFill>
                  <a:srgbClr val="5A6E8C"/>
                </a:solidFill>
                <a:latin typeface="Calibri" pitchFamily="34" charset="0"/>
                <a:ea typeface="Calibri" pitchFamily="34" charset="-122"/>
                <a:cs typeface="Calibri" pitchFamily="34" charset="-120"/>
              </a:rPr>
              <a:t>SentinelOps AI</a:t>
            </a:r>
            <a:endParaRPr lang="en-US" sz="1000" dirty="0"/>
          </a:p>
        </p:txBody>
      </p:sp>
      <p:sp>
        <p:nvSpPr>
          <p:cNvPr id="28" name="Text 26"/>
          <p:cNvSpPr txBox="1"/>
          <p:nvPr/>
        </p:nvSpPr>
        <p:spPr>
          <a:xfrm>
            <a:off x="10725912" y="6400800"/>
            <a:ext cx="914400" cy="256032"/>
          </a:xfrm>
          <a:prstGeom prst="rect">
            <a:avLst/>
          </a:prstGeom>
          <a:noFill/>
          <a:ln/>
        </p:spPr>
        <p:txBody>
          <a:bodyPr wrap="square" lIns="0" tIns="0" rIns="0" bIns="0" rtlCol="0" anchor="ctr"/>
          <a:lstStyle/>
          <a:p>
            <a:pPr algn="r" indent="0" marL="0">
              <a:buNone/>
            </a:pPr>
            <a:r>
              <a:rPr lang="en-US" sz="1000" dirty="0">
                <a:solidFill>
                  <a:srgbClr val="5A6E8C"/>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411480"/>
            <a:ext cx="10058400" cy="256032"/>
          </a:xfrm>
          <a:prstGeom prst="rect">
            <a:avLst/>
          </a:prstGeom>
          <a:noFill/>
          <a:ln/>
        </p:spPr>
        <p:txBody>
          <a:bodyPr wrap="square" lIns="0" tIns="0" rIns="0" bIns="0" rtlCol="0" anchor="ctr"/>
          <a:lstStyle/>
          <a:p>
            <a:pPr indent="0" marL="0">
              <a:buNone/>
            </a:pPr>
            <a:r>
              <a:rPr lang="en-US" sz="1200" b="1" spc="200" kern="0" dirty="0">
                <a:solidFill>
                  <a:srgbClr val="22D3EE"/>
                </a:solidFill>
                <a:latin typeface="Calibri" pitchFamily="34" charset="0"/>
                <a:ea typeface="Calibri" pitchFamily="34" charset="-122"/>
                <a:cs typeface="Calibri" pitchFamily="34" charset="-120"/>
              </a:rPr>
              <a:t>COMPETITIVE LANDSCAPE</a:t>
            </a:r>
            <a:endParaRPr lang="en-US" sz="1200" dirty="0"/>
          </a:p>
        </p:txBody>
      </p:sp>
      <p:sp>
        <p:nvSpPr>
          <p:cNvPr id="3" name="Text 1"/>
          <p:cNvSpPr txBox="1"/>
          <p:nvPr/>
        </p:nvSpPr>
        <p:spPr>
          <a:xfrm>
            <a:off x="548640" y="722376"/>
            <a:ext cx="11064240" cy="475488"/>
          </a:xfrm>
          <a:prstGeom prst="rect">
            <a:avLst/>
          </a:prstGeom>
          <a:noFill/>
          <a:ln/>
        </p:spPr>
        <p:txBody>
          <a:bodyPr wrap="square" lIns="0" tIns="0" rIns="0" bIns="0" rtlCol="0" anchor="ctr"/>
          <a:lstStyle/>
          <a:p>
            <a:pPr indent="0" marL="0">
              <a:buNone/>
            </a:pPr>
            <a:r>
              <a:rPr lang="en-US" sz="3000" b="1" dirty="0">
                <a:solidFill>
                  <a:srgbClr val="E9EFFA"/>
                </a:solidFill>
                <a:latin typeface="Arial" pitchFamily="34" charset="0"/>
                <a:ea typeface="Arial" pitchFamily="34" charset="-122"/>
                <a:cs typeface="Arial" pitchFamily="34" charset="-120"/>
              </a:rPr>
              <a:t>A crowded category, a specific position</a:t>
            </a:r>
            <a:endParaRPr lang="en-US" sz="3000" dirty="0"/>
          </a:p>
        </p:txBody>
      </p:sp>
      <p:sp>
        <p:nvSpPr>
          <p:cNvPr id="4" name="Shape 2"/>
          <p:cNvSpPr/>
          <p:nvPr/>
        </p:nvSpPr>
        <p:spPr>
          <a:xfrm>
            <a:off x="548640" y="1591056"/>
            <a:ext cx="5394960" cy="1554480"/>
          </a:xfrm>
          <a:prstGeom prst="roundRect">
            <a:avLst>
              <a:gd name="adj" fmla="val 2353"/>
            </a:avLst>
          </a:prstGeom>
          <a:solidFill>
            <a:srgbClr val="16213A"/>
          </a:solidFill>
          <a:ln w="12700">
            <a:solidFill>
              <a:srgbClr val="1E2A47"/>
            </a:solidFill>
            <a:prstDash val="solid"/>
          </a:ln>
        </p:spPr>
      </p:sp>
      <p:sp>
        <p:nvSpPr>
          <p:cNvPr id="5" name="Text 3"/>
          <p:cNvSpPr txBox="1"/>
          <p:nvPr/>
        </p:nvSpPr>
        <p:spPr>
          <a:xfrm>
            <a:off x="804672" y="1755648"/>
            <a:ext cx="4846320" cy="274320"/>
          </a:xfrm>
          <a:prstGeom prst="rect">
            <a:avLst/>
          </a:prstGeom>
          <a:noFill/>
          <a:ln/>
        </p:spPr>
        <p:txBody>
          <a:bodyPr wrap="square" lIns="0" tIns="0" rIns="0" bIns="0" rtlCol="0" anchor="ctr"/>
          <a:lstStyle/>
          <a:p>
            <a:pPr indent="0" marL="0">
              <a:buNone/>
            </a:pPr>
            <a:r>
              <a:rPr lang="en-US" sz="1400" b="1" dirty="0">
                <a:solidFill>
                  <a:srgbClr val="F87171"/>
                </a:solidFill>
                <a:latin typeface="Arial" pitchFamily="34" charset="0"/>
                <a:ea typeface="Arial" pitchFamily="34" charset="-122"/>
                <a:cs typeface="Arial" pitchFamily="34" charset="-120"/>
              </a:rPr>
              <a:t>Resolve AI, NeuBird</a:t>
            </a:r>
            <a:endParaRPr lang="en-US" sz="1400" dirty="0"/>
          </a:p>
        </p:txBody>
      </p:sp>
      <p:sp>
        <p:nvSpPr>
          <p:cNvPr id="6" name="Text 4"/>
          <p:cNvSpPr txBox="1"/>
          <p:nvPr/>
        </p:nvSpPr>
        <p:spPr>
          <a:xfrm>
            <a:off x="804672" y="2048256"/>
            <a:ext cx="4846320" cy="292608"/>
          </a:xfrm>
          <a:prstGeom prst="rect">
            <a:avLst/>
          </a:prstGeom>
          <a:noFill/>
          <a:ln/>
        </p:spPr>
        <p:txBody>
          <a:bodyPr wrap="square" lIns="0" tIns="0" rIns="0" bIns="0" rtlCol="0" anchor="ctr"/>
          <a:lstStyle/>
          <a:p>
            <a:pPr indent="0" marL="0">
              <a:buNone/>
            </a:pPr>
            <a:r>
              <a:rPr lang="en-US" sz="1150" dirty="0">
                <a:solidFill>
                  <a:srgbClr val="94A8C4"/>
                </a:solidFill>
                <a:latin typeface="Calibri" pitchFamily="34" charset="0"/>
                <a:ea typeface="Calibri" pitchFamily="34" charset="-122"/>
                <a:cs typeface="Calibri" pitchFamily="34" charset="-120"/>
              </a:rPr>
              <a:t>$125M Series A at $1B (Feb 2026). Graduated-trust autonomous remediation.</a:t>
            </a:r>
            <a:endParaRPr lang="en-US" sz="1150" dirty="0"/>
          </a:p>
        </p:txBody>
      </p:sp>
      <p:sp>
        <p:nvSpPr>
          <p:cNvPr id="7" name="Text 5"/>
          <p:cNvSpPr txBox="1"/>
          <p:nvPr/>
        </p:nvSpPr>
        <p:spPr>
          <a:xfrm>
            <a:off x="804672" y="2377440"/>
            <a:ext cx="4846320" cy="256032"/>
          </a:xfrm>
          <a:prstGeom prst="rect">
            <a:avLst/>
          </a:prstGeom>
          <a:noFill/>
          <a:ln/>
        </p:spPr>
        <p:txBody>
          <a:bodyPr wrap="square" lIns="0" tIns="0" rIns="0" bIns="0" rtlCol="0" anchor="ctr"/>
          <a:lstStyle/>
          <a:p>
            <a:pPr indent="0" marL="0">
              <a:buNone/>
            </a:pPr>
            <a:r>
              <a:rPr lang="en-US" sz="1150" dirty="0">
                <a:solidFill>
                  <a:srgbClr val="34D399"/>
                </a:solidFill>
                <a:latin typeface="Calibri" pitchFamily="34" charset="0"/>
                <a:ea typeface="Calibri" pitchFamily="34" charset="-122"/>
                <a:cs typeface="Calibri" pitchFamily="34" charset="-120"/>
              </a:rPr>
              <a:t>Strength: funded, mature, real customers.</a:t>
            </a:r>
            <a:endParaRPr lang="en-US" sz="1150" dirty="0"/>
          </a:p>
        </p:txBody>
      </p:sp>
      <p:sp>
        <p:nvSpPr>
          <p:cNvPr id="8" name="Text 6"/>
          <p:cNvSpPr txBox="1"/>
          <p:nvPr/>
        </p:nvSpPr>
        <p:spPr>
          <a:xfrm>
            <a:off x="804672" y="2633472"/>
            <a:ext cx="4846320" cy="402336"/>
          </a:xfrm>
          <a:prstGeom prst="rect">
            <a:avLst/>
          </a:prstGeom>
          <a:noFill/>
          <a:ln/>
        </p:spPr>
        <p:txBody>
          <a:bodyPr wrap="square" lIns="0" tIns="0" rIns="0" bIns="0" rtlCol="0" anchor="ctr"/>
          <a:lstStyle/>
          <a:p>
            <a:pPr indent="0" marL="0">
              <a:lnSpc>
                <a:spcPts val="1400"/>
              </a:lnSpc>
              <a:buNone/>
            </a:pPr>
            <a:r>
              <a:rPr lang="en-US" sz="1150" dirty="0">
                <a:solidFill>
                  <a:srgbClr val="F87171"/>
                </a:solidFill>
                <a:latin typeface="Calibri" pitchFamily="34" charset="0"/>
                <a:ea typeface="Calibri" pitchFamily="34" charset="-122"/>
                <a:cs typeface="Calibri" pitchFamily="34" charset="-120"/>
              </a:rPr>
              <a:t>Gap: trust is their own model, not the customer’s existing approval process.</a:t>
            </a:r>
            <a:endParaRPr lang="en-US" sz="1150" dirty="0"/>
          </a:p>
        </p:txBody>
      </p:sp>
      <p:sp>
        <p:nvSpPr>
          <p:cNvPr id="9" name="Shape 7"/>
          <p:cNvSpPr/>
          <p:nvPr/>
        </p:nvSpPr>
        <p:spPr>
          <a:xfrm>
            <a:off x="6245352" y="1591056"/>
            <a:ext cx="5394960" cy="1554480"/>
          </a:xfrm>
          <a:prstGeom prst="roundRect">
            <a:avLst>
              <a:gd name="adj" fmla="val 2353"/>
            </a:avLst>
          </a:prstGeom>
          <a:solidFill>
            <a:srgbClr val="16213A"/>
          </a:solidFill>
          <a:ln w="12700">
            <a:solidFill>
              <a:srgbClr val="1E2A47"/>
            </a:solidFill>
            <a:prstDash val="solid"/>
          </a:ln>
        </p:spPr>
      </p:sp>
      <p:sp>
        <p:nvSpPr>
          <p:cNvPr id="10" name="Text 8"/>
          <p:cNvSpPr txBox="1"/>
          <p:nvPr/>
        </p:nvSpPr>
        <p:spPr>
          <a:xfrm>
            <a:off x="6501384" y="1755648"/>
            <a:ext cx="4846320" cy="274320"/>
          </a:xfrm>
          <a:prstGeom prst="rect">
            <a:avLst/>
          </a:prstGeom>
          <a:noFill/>
          <a:ln/>
        </p:spPr>
        <p:txBody>
          <a:bodyPr wrap="square" lIns="0" tIns="0" rIns="0" bIns="0" rtlCol="0" anchor="ctr"/>
          <a:lstStyle/>
          <a:p>
            <a:pPr indent="0" marL="0">
              <a:buNone/>
            </a:pPr>
            <a:r>
              <a:rPr lang="en-US" sz="1400" b="1" dirty="0">
                <a:solidFill>
                  <a:srgbClr val="FBBF24"/>
                </a:solidFill>
                <a:latin typeface="Arial" pitchFamily="34" charset="0"/>
                <a:ea typeface="Arial" pitchFamily="34" charset="-122"/>
                <a:cs typeface="Arial" pitchFamily="34" charset="-120"/>
              </a:rPr>
              <a:t>Datadog, Dynatrace, PagerDuty</a:t>
            </a:r>
            <a:endParaRPr lang="en-US" sz="1400" dirty="0"/>
          </a:p>
        </p:txBody>
      </p:sp>
      <p:sp>
        <p:nvSpPr>
          <p:cNvPr id="11" name="Text 9"/>
          <p:cNvSpPr txBox="1"/>
          <p:nvPr/>
        </p:nvSpPr>
        <p:spPr>
          <a:xfrm>
            <a:off x="6501384" y="2048256"/>
            <a:ext cx="4846320" cy="292608"/>
          </a:xfrm>
          <a:prstGeom prst="rect">
            <a:avLst/>
          </a:prstGeom>
          <a:noFill/>
          <a:ln/>
        </p:spPr>
        <p:txBody>
          <a:bodyPr wrap="square" lIns="0" tIns="0" rIns="0" bIns="0" rtlCol="0" anchor="ctr"/>
          <a:lstStyle/>
          <a:p>
            <a:pPr indent="0" marL="0">
              <a:buNone/>
            </a:pPr>
            <a:r>
              <a:rPr lang="en-US" sz="1150" dirty="0">
                <a:solidFill>
                  <a:srgbClr val="94A8C4"/>
                </a:solidFill>
                <a:latin typeface="Calibri" pitchFamily="34" charset="0"/>
                <a:ea typeface="Calibri" pitchFamily="34" charset="-122"/>
                <a:cs typeface="Calibri" pitchFamily="34" charset="-120"/>
              </a:rPr>
              <a:t>Incumbents shipping AI agents beside existing observability suites.</a:t>
            </a:r>
            <a:endParaRPr lang="en-US" sz="1150" dirty="0"/>
          </a:p>
        </p:txBody>
      </p:sp>
      <p:sp>
        <p:nvSpPr>
          <p:cNvPr id="12" name="Text 10"/>
          <p:cNvSpPr txBox="1"/>
          <p:nvPr/>
        </p:nvSpPr>
        <p:spPr>
          <a:xfrm>
            <a:off x="6501384" y="2377440"/>
            <a:ext cx="4846320" cy="256032"/>
          </a:xfrm>
          <a:prstGeom prst="rect">
            <a:avLst/>
          </a:prstGeom>
          <a:noFill/>
          <a:ln/>
        </p:spPr>
        <p:txBody>
          <a:bodyPr wrap="square" lIns="0" tIns="0" rIns="0" bIns="0" rtlCol="0" anchor="ctr"/>
          <a:lstStyle/>
          <a:p>
            <a:pPr indent="0" marL="0">
              <a:buNone/>
            </a:pPr>
            <a:r>
              <a:rPr lang="en-US" sz="1150" dirty="0">
                <a:solidFill>
                  <a:srgbClr val="34D399"/>
                </a:solidFill>
                <a:latin typeface="Calibri" pitchFamily="34" charset="0"/>
                <a:ea typeface="Calibri" pitchFamily="34" charset="-122"/>
                <a:cs typeface="Calibri" pitchFamily="34" charset="-120"/>
              </a:rPr>
              <a:t>Strength: already installed everywhere.</a:t>
            </a:r>
            <a:endParaRPr lang="en-US" sz="1150" dirty="0"/>
          </a:p>
        </p:txBody>
      </p:sp>
      <p:sp>
        <p:nvSpPr>
          <p:cNvPr id="13" name="Text 11"/>
          <p:cNvSpPr txBox="1"/>
          <p:nvPr/>
        </p:nvSpPr>
        <p:spPr>
          <a:xfrm>
            <a:off x="6501384" y="2633472"/>
            <a:ext cx="4846320" cy="402336"/>
          </a:xfrm>
          <a:prstGeom prst="rect">
            <a:avLst/>
          </a:prstGeom>
          <a:noFill/>
          <a:ln/>
        </p:spPr>
        <p:txBody>
          <a:bodyPr wrap="square" lIns="0" tIns="0" rIns="0" bIns="0" rtlCol="0" anchor="ctr"/>
          <a:lstStyle/>
          <a:p>
            <a:pPr indent="0" marL="0">
              <a:lnSpc>
                <a:spcPts val="1400"/>
              </a:lnSpc>
              <a:buNone/>
            </a:pPr>
            <a:r>
              <a:rPr lang="en-US" sz="1150" dirty="0">
                <a:solidFill>
                  <a:srgbClr val="F87171"/>
                </a:solidFill>
                <a:latin typeface="Calibri" pitchFamily="34" charset="0"/>
                <a:ea typeface="Calibri" pitchFamily="34" charset="-122"/>
                <a:cs typeface="Calibri" pitchFamily="34" charset="-120"/>
              </a:rPr>
              <a:t>Gap: remediation is pre-written human runbooks — the AI does not choose the action.</a:t>
            </a:r>
            <a:endParaRPr lang="en-US" sz="1150" dirty="0"/>
          </a:p>
        </p:txBody>
      </p:sp>
      <p:sp>
        <p:nvSpPr>
          <p:cNvPr id="14" name="Shape 12"/>
          <p:cNvSpPr/>
          <p:nvPr/>
        </p:nvSpPr>
        <p:spPr>
          <a:xfrm>
            <a:off x="548640" y="3282696"/>
            <a:ext cx="5394960" cy="1554480"/>
          </a:xfrm>
          <a:prstGeom prst="roundRect">
            <a:avLst>
              <a:gd name="adj" fmla="val 2353"/>
            </a:avLst>
          </a:prstGeom>
          <a:solidFill>
            <a:srgbClr val="16213A"/>
          </a:solidFill>
          <a:ln w="12700">
            <a:solidFill>
              <a:srgbClr val="1E2A47"/>
            </a:solidFill>
            <a:prstDash val="solid"/>
          </a:ln>
        </p:spPr>
      </p:sp>
      <p:sp>
        <p:nvSpPr>
          <p:cNvPr id="15" name="Text 13"/>
          <p:cNvSpPr txBox="1"/>
          <p:nvPr/>
        </p:nvSpPr>
        <p:spPr>
          <a:xfrm>
            <a:off x="804672" y="3447288"/>
            <a:ext cx="4846320" cy="274320"/>
          </a:xfrm>
          <a:prstGeom prst="rect">
            <a:avLst/>
          </a:prstGeom>
          <a:noFill/>
          <a:ln/>
        </p:spPr>
        <p:txBody>
          <a:bodyPr wrap="square" lIns="0" tIns="0" rIns="0" bIns="0" rtlCol="0" anchor="ctr"/>
          <a:lstStyle/>
          <a:p>
            <a:pPr indent="0" marL="0">
              <a:buNone/>
            </a:pPr>
            <a:r>
              <a:rPr lang="en-US" sz="1400" b="1" dirty="0">
                <a:solidFill>
                  <a:srgbClr val="22D3EE"/>
                </a:solidFill>
                <a:latin typeface="Arial" pitchFamily="34" charset="0"/>
                <a:ea typeface="Arial" pitchFamily="34" charset="-122"/>
                <a:cs typeface="Arial" pitchFamily="34" charset="-120"/>
              </a:rPr>
              <a:t>k8sgpt, HolmesGPT, Cleric</a:t>
            </a:r>
            <a:endParaRPr lang="en-US" sz="1400" dirty="0"/>
          </a:p>
        </p:txBody>
      </p:sp>
      <p:sp>
        <p:nvSpPr>
          <p:cNvPr id="16" name="Text 14"/>
          <p:cNvSpPr txBox="1"/>
          <p:nvPr/>
        </p:nvSpPr>
        <p:spPr>
          <a:xfrm>
            <a:off x="804672" y="3739896"/>
            <a:ext cx="4846320" cy="292608"/>
          </a:xfrm>
          <a:prstGeom prst="rect">
            <a:avLst/>
          </a:prstGeom>
          <a:noFill/>
          <a:ln/>
        </p:spPr>
        <p:txBody>
          <a:bodyPr wrap="square" lIns="0" tIns="0" rIns="0" bIns="0" rtlCol="0" anchor="ctr"/>
          <a:lstStyle/>
          <a:p>
            <a:pPr indent="0" marL="0">
              <a:buNone/>
            </a:pPr>
            <a:r>
              <a:rPr lang="en-US" sz="1150" dirty="0">
                <a:solidFill>
                  <a:srgbClr val="94A8C4"/>
                </a:solidFill>
                <a:latin typeface="Calibri" pitchFamily="34" charset="0"/>
                <a:ea typeface="Calibri" pitchFamily="34" charset="-122"/>
                <a:cs typeface="Calibri" pitchFamily="34" charset="-120"/>
              </a:rPr>
              <a:t>Open-source and startup AI diagnosis for Kubernetes.</a:t>
            </a:r>
            <a:endParaRPr lang="en-US" sz="1150" dirty="0"/>
          </a:p>
        </p:txBody>
      </p:sp>
      <p:sp>
        <p:nvSpPr>
          <p:cNvPr id="17" name="Text 15"/>
          <p:cNvSpPr txBox="1"/>
          <p:nvPr/>
        </p:nvSpPr>
        <p:spPr>
          <a:xfrm>
            <a:off x="804672" y="4069080"/>
            <a:ext cx="4846320" cy="256032"/>
          </a:xfrm>
          <a:prstGeom prst="rect">
            <a:avLst/>
          </a:prstGeom>
          <a:noFill/>
          <a:ln/>
        </p:spPr>
        <p:txBody>
          <a:bodyPr wrap="square" lIns="0" tIns="0" rIns="0" bIns="0" rtlCol="0" anchor="ctr"/>
          <a:lstStyle/>
          <a:p>
            <a:pPr indent="0" marL="0">
              <a:buNone/>
            </a:pPr>
            <a:r>
              <a:rPr lang="en-US" sz="1150" dirty="0">
                <a:solidFill>
                  <a:srgbClr val="34D399"/>
                </a:solidFill>
                <a:latin typeface="Calibri" pitchFamily="34" charset="0"/>
                <a:ea typeface="Calibri" pitchFamily="34" charset="-122"/>
                <a:cs typeface="Calibri" pitchFamily="34" charset="-120"/>
              </a:rPr>
              <a:t>Strength: free, fast to try, good diagnoses.</a:t>
            </a:r>
            <a:endParaRPr lang="en-US" sz="1150" dirty="0"/>
          </a:p>
        </p:txBody>
      </p:sp>
      <p:sp>
        <p:nvSpPr>
          <p:cNvPr id="18" name="Text 16"/>
          <p:cNvSpPr txBox="1"/>
          <p:nvPr/>
        </p:nvSpPr>
        <p:spPr>
          <a:xfrm>
            <a:off x="804672" y="4325112"/>
            <a:ext cx="4846320" cy="402336"/>
          </a:xfrm>
          <a:prstGeom prst="rect">
            <a:avLst/>
          </a:prstGeom>
          <a:noFill/>
          <a:ln/>
        </p:spPr>
        <p:txBody>
          <a:bodyPr wrap="square" lIns="0" tIns="0" rIns="0" bIns="0" rtlCol="0" anchor="ctr"/>
          <a:lstStyle/>
          <a:p>
            <a:pPr indent="0" marL="0">
              <a:lnSpc>
                <a:spcPts val="1400"/>
              </a:lnSpc>
              <a:buNone/>
            </a:pPr>
            <a:r>
              <a:rPr lang="en-US" sz="1150" dirty="0">
                <a:solidFill>
                  <a:srgbClr val="F87171"/>
                </a:solidFill>
                <a:latin typeface="Calibri" pitchFamily="34" charset="0"/>
                <a:ea typeface="Calibri" pitchFamily="34" charset="-122"/>
                <a:cs typeface="Calibri" pitchFamily="34" charset="-120"/>
              </a:rPr>
              <a:t>Gap: they stop at diagnosis. No action, no approval, no audit.</a:t>
            </a:r>
            <a:endParaRPr lang="en-US" sz="1150" dirty="0"/>
          </a:p>
        </p:txBody>
      </p:sp>
      <p:sp>
        <p:nvSpPr>
          <p:cNvPr id="19" name="Shape 17"/>
          <p:cNvSpPr/>
          <p:nvPr/>
        </p:nvSpPr>
        <p:spPr>
          <a:xfrm>
            <a:off x="6245352" y="3282696"/>
            <a:ext cx="5394960" cy="1554480"/>
          </a:xfrm>
          <a:prstGeom prst="roundRect">
            <a:avLst>
              <a:gd name="adj" fmla="val 2353"/>
            </a:avLst>
          </a:prstGeom>
          <a:solidFill>
            <a:srgbClr val="16213A"/>
          </a:solidFill>
          <a:ln w="12700">
            <a:solidFill>
              <a:srgbClr val="1E2A47"/>
            </a:solidFill>
            <a:prstDash val="solid"/>
          </a:ln>
        </p:spPr>
      </p:sp>
      <p:sp>
        <p:nvSpPr>
          <p:cNvPr id="20" name="Text 18"/>
          <p:cNvSpPr txBox="1"/>
          <p:nvPr/>
        </p:nvSpPr>
        <p:spPr>
          <a:xfrm>
            <a:off x="6501384" y="3447288"/>
            <a:ext cx="4846320" cy="274320"/>
          </a:xfrm>
          <a:prstGeom prst="rect">
            <a:avLst/>
          </a:prstGeom>
          <a:noFill/>
          <a:ln/>
        </p:spPr>
        <p:txBody>
          <a:bodyPr wrap="square" lIns="0" tIns="0" rIns="0" bIns="0" rtlCol="0" anchor="ctr"/>
          <a:lstStyle/>
          <a:p>
            <a:pPr indent="0" marL="0">
              <a:buNone/>
            </a:pPr>
            <a:r>
              <a:rPr lang="en-US" sz="1400" b="1" dirty="0">
                <a:solidFill>
                  <a:srgbClr val="94A8C4"/>
                </a:solidFill>
                <a:latin typeface="Arial" pitchFamily="34" charset="0"/>
                <a:ea typeface="Arial" pitchFamily="34" charset="-122"/>
                <a:cs typeface="Arial" pitchFamily="34" charset="-120"/>
              </a:rPr>
              <a:t>Do nothing</a:t>
            </a:r>
            <a:endParaRPr lang="en-US" sz="1400" dirty="0"/>
          </a:p>
        </p:txBody>
      </p:sp>
      <p:sp>
        <p:nvSpPr>
          <p:cNvPr id="21" name="Text 19"/>
          <p:cNvSpPr txBox="1"/>
          <p:nvPr/>
        </p:nvSpPr>
        <p:spPr>
          <a:xfrm>
            <a:off x="6501384" y="3739896"/>
            <a:ext cx="4846320" cy="292608"/>
          </a:xfrm>
          <a:prstGeom prst="rect">
            <a:avLst/>
          </a:prstGeom>
          <a:noFill/>
          <a:ln/>
        </p:spPr>
        <p:txBody>
          <a:bodyPr wrap="square" lIns="0" tIns="0" rIns="0" bIns="0" rtlCol="0" anchor="ctr"/>
          <a:lstStyle/>
          <a:p>
            <a:pPr indent="0" marL="0">
              <a:buNone/>
            </a:pPr>
            <a:r>
              <a:rPr lang="en-US" sz="1150" dirty="0">
                <a:solidFill>
                  <a:srgbClr val="94A8C4"/>
                </a:solidFill>
                <a:latin typeface="Calibri" pitchFamily="34" charset="0"/>
                <a:ea typeface="Calibri" pitchFamily="34" charset="-122"/>
                <a:cs typeface="Calibri" pitchFamily="34" charset="-120"/>
              </a:rPr>
              <a:t>A human reads the alert and fixes it by hand.</a:t>
            </a:r>
            <a:endParaRPr lang="en-US" sz="1150" dirty="0"/>
          </a:p>
        </p:txBody>
      </p:sp>
      <p:sp>
        <p:nvSpPr>
          <p:cNvPr id="22" name="Text 20"/>
          <p:cNvSpPr txBox="1"/>
          <p:nvPr/>
        </p:nvSpPr>
        <p:spPr>
          <a:xfrm>
            <a:off x="6501384" y="4069080"/>
            <a:ext cx="4846320" cy="256032"/>
          </a:xfrm>
          <a:prstGeom prst="rect">
            <a:avLst/>
          </a:prstGeom>
          <a:noFill/>
          <a:ln/>
        </p:spPr>
        <p:txBody>
          <a:bodyPr wrap="square" lIns="0" tIns="0" rIns="0" bIns="0" rtlCol="0" anchor="ctr"/>
          <a:lstStyle/>
          <a:p>
            <a:pPr indent="0" marL="0">
              <a:buNone/>
            </a:pPr>
            <a:r>
              <a:rPr lang="en-US" sz="1150" dirty="0">
                <a:solidFill>
                  <a:srgbClr val="34D399"/>
                </a:solidFill>
                <a:latin typeface="Calibri" pitchFamily="34" charset="0"/>
                <a:ea typeface="Calibri" pitchFamily="34" charset="-122"/>
                <a:cs typeface="Calibri" pitchFamily="34" charset="-120"/>
              </a:rPr>
              <a:t>Strength: free, and fully trusted.</a:t>
            </a:r>
            <a:endParaRPr lang="en-US" sz="1150" dirty="0"/>
          </a:p>
        </p:txBody>
      </p:sp>
      <p:sp>
        <p:nvSpPr>
          <p:cNvPr id="23" name="Text 21"/>
          <p:cNvSpPr txBox="1"/>
          <p:nvPr/>
        </p:nvSpPr>
        <p:spPr>
          <a:xfrm>
            <a:off x="6501384" y="4325112"/>
            <a:ext cx="4846320" cy="402336"/>
          </a:xfrm>
          <a:prstGeom prst="rect">
            <a:avLst/>
          </a:prstGeom>
          <a:noFill/>
          <a:ln/>
        </p:spPr>
        <p:txBody>
          <a:bodyPr wrap="square" lIns="0" tIns="0" rIns="0" bIns="0" rtlCol="0" anchor="ctr"/>
          <a:lstStyle/>
          <a:p>
            <a:pPr indent="0" marL="0">
              <a:lnSpc>
                <a:spcPts val="1400"/>
              </a:lnSpc>
              <a:buNone/>
            </a:pPr>
            <a:r>
              <a:rPr lang="en-US" sz="1150" dirty="0">
                <a:solidFill>
                  <a:srgbClr val="F87171"/>
                </a:solidFill>
                <a:latin typeface="Calibri" pitchFamily="34" charset="0"/>
                <a:ea typeface="Calibri" pitchFamily="34" charset="-122"/>
                <a:cs typeface="Calibri" pitchFamily="34" charset="-120"/>
              </a:rPr>
              <a:t>Gap: it is the 2 a.m. problem we started with.</a:t>
            </a:r>
            <a:endParaRPr lang="en-US" sz="1150" dirty="0"/>
          </a:p>
        </p:txBody>
      </p:sp>
      <p:sp>
        <p:nvSpPr>
          <p:cNvPr id="24" name="Shape 22"/>
          <p:cNvSpPr/>
          <p:nvPr/>
        </p:nvSpPr>
        <p:spPr>
          <a:xfrm>
            <a:off x="548640" y="5020056"/>
            <a:ext cx="11091672" cy="868680"/>
          </a:xfrm>
          <a:prstGeom prst="roundRect">
            <a:avLst>
              <a:gd name="adj" fmla="val 4211"/>
            </a:avLst>
          </a:prstGeom>
          <a:solidFill>
            <a:srgbClr val="1E2A47"/>
          </a:solidFill>
          <a:ln w="12700">
            <a:solidFill>
              <a:srgbClr val="1E2A47"/>
            </a:solidFill>
            <a:prstDash val="solid"/>
          </a:ln>
        </p:spPr>
      </p:sp>
      <p:sp>
        <p:nvSpPr>
          <p:cNvPr id="25" name="Text 23"/>
          <p:cNvSpPr txBox="1"/>
          <p:nvPr/>
        </p:nvSpPr>
        <p:spPr>
          <a:xfrm>
            <a:off x="822960" y="5202936"/>
            <a:ext cx="1097280" cy="457200"/>
          </a:xfrm>
          <a:prstGeom prst="rect">
            <a:avLst/>
          </a:prstGeom>
          <a:noFill/>
          <a:ln/>
        </p:spPr>
        <p:txBody>
          <a:bodyPr wrap="square" lIns="0" tIns="0" rIns="0" bIns="0" rtlCol="0" anchor="ctr"/>
          <a:lstStyle/>
          <a:p>
            <a:pPr indent="0" marL="0">
              <a:buNone/>
            </a:pPr>
            <a:r>
              <a:rPr lang="en-US" sz="1400" b="1" dirty="0">
                <a:solidFill>
                  <a:srgbClr val="22D3EE"/>
                </a:solidFill>
                <a:latin typeface="Arial" pitchFamily="34" charset="0"/>
                <a:ea typeface="Arial" pitchFamily="34" charset="-122"/>
                <a:cs typeface="Arial" pitchFamily="34" charset="-120"/>
              </a:rPr>
              <a:t>Our edge:</a:t>
            </a:r>
            <a:endParaRPr lang="en-US" sz="1400" dirty="0"/>
          </a:p>
        </p:txBody>
      </p:sp>
      <p:sp>
        <p:nvSpPr>
          <p:cNvPr id="26" name="Text 24"/>
          <p:cNvSpPr txBox="1"/>
          <p:nvPr/>
        </p:nvSpPr>
        <p:spPr>
          <a:xfrm>
            <a:off x="1965960" y="5157216"/>
            <a:ext cx="9418320" cy="566928"/>
          </a:xfrm>
          <a:prstGeom prst="rect">
            <a:avLst/>
          </a:prstGeom>
          <a:noFill/>
          <a:ln/>
        </p:spPr>
        <p:txBody>
          <a:bodyPr wrap="square" lIns="0" tIns="0" rIns="0" bIns="0" rtlCol="0" anchor="ctr"/>
          <a:lstStyle/>
          <a:p>
            <a:pPr indent="0" marL="0">
              <a:lnSpc>
                <a:spcPts val="1600"/>
              </a:lnSpc>
              <a:buNone/>
            </a:pPr>
            <a:r>
              <a:rPr lang="en-US" sz="1250" dirty="0">
                <a:solidFill>
                  <a:srgbClr val="E9EFFA"/>
                </a:solidFill>
                <a:latin typeface="Calibri" pitchFamily="34" charset="0"/>
                <a:ea typeface="Calibri" pitchFamily="34" charset="-122"/>
                <a:cs typeface="Calibri" pitchFamily="34" charset="-120"/>
              </a:rPr>
              <a:t>we are not claiming better AI — the model is Claude, same as everyone’s. We built the permission structure: a typed action catalog instead of generated commands, approval inside the customer’s own change process, automatic rollback, and an audit log that can be proved unedited.</a:t>
            </a:r>
            <a:endParaRPr lang="en-US" sz="1250" dirty="0"/>
          </a:p>
        </p:txBody>
      </p:sp>
      <p:sp>
        <p:nvSpPr>
          <p:cNvPr id="27" name="Text 25"/>
          <p:cNvSpPr txBox="1"/>
          <p:nvPr/>
        </p:nvSpPr>
        <p:spPr>
          <a:xfrm>
            <a:off x="548640" y="6400800"/>
            <a:ext cx="3657600" cy="256032"/>
          </a:xfrm>
          <a:prstGeom prst="rect">
            <a:avLst/>
          </a:prstGeom>
          <a:noFill/>
          <a:ln/>
        </p:spPr>
        <p:txBody>
          <a:bodyPr wrap="square" lIns="0" tIns="0" rIns="0" bIns="0" rtlCol="0" anchor="ctr"/>
          <a:lstStyle/>
          <a:p>
            <a:pPr indent="0" marL="0">
              <a:buNone/>
            </a:pPr>
            <a:r>
              <a:rPr lang="en-US" sz="1000" dirty="0">
                <a:solidFill>
                  <a:srgbClr val="5A6E8C"/>
                </a:solidFill>
                <a:latin typeface="Calibri" pitchFamily="34" charset="0"/>
                <a:ea typeface="Calibri" pitchFamily="34" charset="-122"/>
                <a:cs typeface="Calibri" pitchFamily="34" charset="-120"/>
              </a:rPr>
              <a:t>SentinelOps AI</a:t>
            </a:r>
            <a:endParaRPr lang="en-US" sz="1000" dirty="0"/>
          </a:p>
        </p:txBody>
      </p:sp>
      <p:sp>
        <p:nvSpPr>
          <p:cNvPr id="28" name="Text 26"/>
          <p:cNvSpPr txBox="1"/>
          <p:nvPr/>
        </p:nvSpPr>
        <p:spPr>
          <a:xfrm>
            <a:off x="10725912" y="6400800"/>
            <a:ext cx="914400" cy="256032"/>
          </a:xfrm>
          <a:prstGeom prst="rect">
            <a:avLst/>
          </a:prstGeom>
          <a:noFill/>
          <a:ln/>
        </p:spPr>
        <p:txBody>
          <a:bodyPr wrap="square" lIns="0" tIns="0" rIns="0" bIns="0" rtlCol="0" anchor="ctr"/>
          <a:lstStyle/>
          <a:p>
            <a:pPr algn="r" indent="0" marL="0">
              <a:buNone/>
            </a:pPr>
            <a:r>
              <a:rPr lang="en-US" sz="1000" dirty="0">
                <a:solidFill>
                  <a:srgbClr val="5A6E8C"/>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411480"/>
            <a:ext cx="10058400" cy="256032"/>
          </a:xfrm>
          <a:prstGeom prst="rect">
            <a:avLst/>
          </a:prstGeom>
          <a:noFill/>
          <a:ln/>
        </p:spPr>
        <p:txBody>
          <a:bodyPr wrap="square" lIns="0" tIns="0" rIns="0" bIns="0" rtlCol="0" anchor="ctr"/>
          <a:lstStyle/>
          <a:p>
            <a:pPr indent="0" marL="0">
              <a:buNone/>
            </a:pPr>
            <a:r>
              <a:rPr lang="en-US" sz="1200" b="1" spc="200" kern="0" dirty="0">
                <a:solidFill>
                  <a:srgbClr val="22D3EE"/>
                </a:solidFill>
                <a:latin typeface="Calibri" pitchFamily="34" charset="0"/>
                <a:ea typeface="Calibri" pitchFamily="34" charset="-122"/>
                <a:cs typeface="Calibri" pitchFamily="34" charset="-120"/>
              </a:rPr>
              <a:t>PRICING, PACKAGING AND GO-TO-MARKET</a:t>
            </a:r>
            <a:endParaRPr lang="en-US" sz="1200" dirty="0"/>
          </a:p>
        </p:txBody>
      </p:sp>
      <p:sp>
        <p:nvSpPr>
          <p:cNvPr id="3" name="Text 1"/>
          <p:cNvSpPr txBox="1"/>
          <p:nvPr/>
        </p:nvSpPr>
        <p:spPr>
          <a:xfrm>
            <a:off x="548640" y="722376"/>
            <a:ext cx="11064240" cy="475488"/>
          </a:xfrm>
          <a:prstGeom prst="rect">
            <a:avLst/>
          </a:prstGeom>
          <a:noFill/>
          <a:ln/>
        </p:spPr>
        <p:txBody>
          <a:bodyPr wrap="square" lIns="0" tIns="0" rIns="0" bIns="0" rtlCol="0" anchor="ctr"/>
          <a:lstStyle/>
          <a:p>
            <a:pPr indent="0" marL="0">
              <a:buNone/>
            </a:pPr>
            <a:r>
              <a:rPr lang="en-US" sz="3000" b="1" dirty="0">
                <a:solidFill>
                  <a:srgbClr val="E9EFFA"/>
                </a:solidFill>
                <a:latin typeface="Arial" pitchFamily="34" charset="0"/>
                <a:ea typeface="Arial" pitchFamily="34" charset="-122"/>
                <a:cs typeface="Arial" pitchFamily="34" charset="-120"/>
              </a:rPr>
              <a:t>How it is sold, and how customers find it</a:t>
            </a:r>
            <a:endParaRPr lang="en-US" sz="3000" dirty="0"/>
          </a:p>
        </p:txBody>
      </p:sp>
      <p:sp>
        <p:nvSpPr>
          <p:cNvPr id="4" name="Shape 2"/>
          <p:cNvSpPr/>
          <p:nvPr/>
        </p:nvSpPr>
        <p:spPr>
          <a:xfrm>
            <a:off x="548640" y="1591056"/>
            <a:ext cx="5394960" cy="4480560"/>
          </a:xfrm>
          <a:prstGeom prst="roundRect">
            <a:avLst>
              <a:gd name="adj" fmla="val 816"/>
            </a:avLst>
          </a:prstGeom>
          <a:solidFill>
            <a:srgbClr val="16213A"/>
          </a:solidFill>
          <a:ln w="12700">
            <a:solidFill>
              <a:srgbClr val="1E2A47"/>
            </a:solidFill>
            <a:prstDash val="solid"/>
          </a:ln>
        </p:spPr>
      </p:sp>
      <p:sp>
        <p:nvSpPr>
          <p:cNvPr id="5" name="Text 3"/>
          <p:cNvSpPr txBox="1"/>
          <p:nvPr/>
        </p:nvSpPr>
        <p:spPr>
          <a:xfrm>
            <a:off x="822960" y="1819656"/>
            <a:ext cx="4846320" cy="237744"/>
          </a:xfrm>
          <a:prstGeom prst="rect">
            <a:avLst/>
          </a:prstGeom>
          <a:noFill/>
          <a:ln/>
        </p:spPr>
        <p:txBody>
          <a:bodyPr wrap="square" lIns="0" tIns="0" rIns="0" bIns="0" rtlCol="0" anchor="ctr"/>
          <a:lstStyle/>
          <a:p>
            <a:pPr indent="0" marL="0">
              <a:buNone/>
            </a:pPr>
            <a:r>
              <a:rPr lang="en-US" sz="1000" b="1" spc="150" kern="0" dirty="0">
                <a:solidFill>
                  <a:srgbClr val="22D3EE"/>
                </a:solidFill>
                <a:latin typeface="Calibri" pitchFamily="34" charset="0"/>
                <a:ea typeface="Calibri" pitchFamily="34" charset="-122"/>
                <a:cs typeface="Calibri" pitchFamily="34" charset="-120"/>
              </a:rPr>
              <a:t>PRICING &amp; PACKAGING</a:t>
            </a:r>
            <a:endParaRPr lang="en-US" sz="1000" dirty="0"/>
          </a:p>
        </p:txBody>
      </p:sp>
      <p:sp>
        <p:nvSpPr>
          <p:cNvPr id="6" name="Text 4"/>
          <p:cNvSpPr txBox="1"/>
          <p:nvPr/>
        </p:nvSpPr>
        <p:spPr>
          <a:xfrm>
            <a:off x="822960" y="2121408"/>
            <a:ext cx="4846320" cy="365760"/>
          </a:xfrm>
          <a:prstGeom prst="rect">
            <a:avLst/>
          </a:prstGeom>
          <a:noFill/>
          <a:ln/>
        </p:spPr>
        <p:txBody>
          <a:bodyPr wrap="square" lIns="0" tIns="0" rIns="0" bIns="0" rtlCol="0" anchor="ctr"/>
          <a:lstStyle/>
          <a:p>
            <a:pPr indent="0" marL="0">
              <a:buNone/>
            </a:pPr>
            <a:r>
              <a:rPr lang="en-US" sz="1800" b="1" dirty="0">
                <a:solidFill>
                  <a:srgbClr val="E9EFFA"/>
                </a:solidFill>
                <a:latin typeface="Arial" pitchFamily="34" charset="0"/>
                <a:ea typeface="Arial" pitchFamily="34" charset="-122"/>
                <a:cs typeface="Arial" pitchFamily="34" charset="-120"/>
              </a:rPr>
              <a:t>A paid add-on to Freshservice</a:t>
            </a:r>
            <a:endParaRPr lang="en-US" sz="1800" dirty="0"/>
          </a:p>
        </p:txBody>
      </p:sp>
      <p:sp>
        <p:nvSpPr>
          <p:cNvPr id="7" name="Shape 5"/>
          <p:cNvSpPr/>
          <p:nvPr/>
        </p:nvSpPr>
        <p:spPr>
          <a:xfrm>
            <a:off x="822960" y="2551176"/>
            <a:ext cx="4846320" cy="914400"/>
          </a:xfrm>
          <a:prstGeom prst="roundRect">
            <a:avLst>
              <a:gd name="adj" fmla="val 4000"/>
            </a:avLst>
          </a:prstGeom>
          <a:solidFill>
            <a:srgbClr val="1E2A47"/>
          </a:solidFill>
          <a:ln w="12700">
            <a:solidFill>
              <a:srgbClr val="1E2A47"/>
            </a:solidFill>
            <a:prstDash val="solid"/>
          </a:ln>
        </p:spPr>
      </p:sp>
      <p:sp>
        <p:nvSpPr>
          <p:cNvPr id="8" name="Text 6"/>
          <p:cNvSpPr txBox="1"/>
          <p:nvPr/>
        </p:nvSpPr>
        <p:spPr>
          <a:xfrm>
            <a:off x="1005840" y="2642616"/>
            <a:ext cx="1371600" cy="274320"/>
          </a:xfrm>
          <a:prstGeom prst="rect">
            <a:avLst/>
          </a:prstGeom>
          <a:noFill/>
          <a:ln/>
        </p:spPr>
        <p:txBody>
          <a:bodyPr wrap="square" lIns="0" tIns="0" rIns="0" bIns="0" rtlCol="0" anchor="ctr"/>
          <a:lstStyle/>
          <a:p>
            <a:pPr indent="0" marL="0">
              <a:buNone/>
            </a:pPr>
            <a:r>
              <a:rPr lang="en-US" sz="1300" b="1" dirty="0">
                <a:solidFill>
                  <a:srgbClr val="34D399"/>
                </a:solidFill>
                <a:latin typeface="Arial" pitchFamily="34" charset="0"/>
                <a:ea typeface="Arial" pitchFamily="34" charset="-122"/>
                <a:cs typeface="Arial" pitchFamily="34" charset="-120"/>
              </a:rPr>
              <a:t>Observe</a:t>
            </a:r>
            <a:endParaRPr lang="en-US" sz="1300" dirty="0"/>
          </a:p>
        </p:txBody>
      </p:sp>
      <p:sp>
        <p:nvSpPr>
          <p:cNvPr id="9" name="Text 7"/>
          <p:cNvSpPr txBox="1"/>
          <p:nvPr/>
        </p:nvSpPr>
        <p:spPr>
          <a:xfrm>
            <a:off x="2377440" y="2642616"/>
            <a:ext cx="3200400" cy="274320"/>
          </a:xfrm>
          <a:prstGeom prst="rect">
            <a:avLst/>
          </a:prstGeom>
          <a:noFill/>
          <a:ln/>
        </p:spPr>
        <p:txBody>
          <a:bodyPr wrap="square" lIns="0" tIns="0" rIns="0" bIns="0" rtlCol="0" anchor="ctr"/>
          <a:lstStyle/>
          <a:p>
            <a:pPr algn="r" indent="0" marL="0">
              <a:buNone/>
            </a:pPr>
            <a:r>
              <a:rPr lang="en-US" sz="1200" b="1" dirty="0">
                <a:solidFill>
                  <a:srgbClr val="E9EFFA"/>
                </a:solidFill>
                <a:latin typeface="Calibri" pitchFamily="34" charset="0"/>
                <a:ea typeface="Calibri" pitchFamily="34" charset="-122"/>
                <a:cs typeface="Calibri" pitchFamily="34" charset="-120"/>
              </a:rPr>
              <a:t>Free</a:t>
            </a:r>
            <a:endParaRPr lang="en-US" sz="1200" dirty="0"/>
          </a:p>
        </p:txBody>
      </p:sp>
      <p:sp>
        <p:nvSpPr>
          <p:cNvPr id="10" name="Text 8"/>
          <p:cNvSpPr txBox="1"/>
          <p:nvPr/>
        </p:nvSpPr>
        <p:spPr>
          <a:xfrm>
            <a:off x="1005840" y="2935224"/>
            <a:ext cx="4572000" cy="457200"/>
          </a:xfrm>
          <a:prstGeom prst="rect">
            <a:avLst/>
          </a:prstGeom>
          <a:noFill/>
          <a:ln/>
        </p:spPr>
        <p:txBody>
          <a:bodyPr wrap="square" lIns="0" tIns="0" rIns="0" bIns="0" rtlCol="0" anchor="ctr"/>
          <a:lstStyle/>
          <a:p>
            <a:pPr indent="0" marL="0">
              <a:lnSpc>
                <a:spcPts val="1300"/>
              </a:lnSpc>
              <a:buNone/>
            </a:pPr>
            <a:r>
              <a:rPr lang="en-US" sz="1100" dirty="0">
                <a:solidFill>
                  <a:srgbClr val="94A8C4"/>
                </a:solidFill>
                <a:latin typeface="Calibri" pitchFamily="34" charset="0"/>
                <a:ea typeface="Calibri" pitchFamily="34" charset="-122"/>
                <a:cs typeface="Calibri" pitchFamily="34" charset="-120"/>
              </a:rPr>
              <a:t>Detection and AI investigation only. Proposes nothing, touches nothing. This is how trust is earned.</a:t>
            </a:r>
            <a:endParaRPr lang="en-US" sz="1100" dirty="0"/>
          </a:p>
        </p:txBody>
      </p:sp>
      <p:sp>
        <p:nvSpPr>
          <p:cNvPr id="11" name="Shape 9"/>
          <p:cNvSpPr/>
          <p:nvPr/>
        </p:nvSpPr>
        <p:spPr>
          <a:xfrm>
            <a:off x="822960" y="3575304"/>
            <a:ext cx="4846320" cy="914400"/>
          </a:xfrm>
          <a:prstGeom prst="roundRect">
            <a:avLst>
              <a:gd name="adj" fmla="val 4000"/>
            </a:avLst>
          </a:prstGeom>
          <a:solidFill>
            <a:srgbClr val="1E2A47"/>
          </a:solidFill>
          <a:ln w="12700">
            <a:solidFill>
              <a:srgbClr val="1E2A47"/>
            </a:solidFill>
            <a:prstDash val="solid"/>
          </a:ln>
        </p:spPr>
      </p:sp>
      <p:sp>
        <p:nvSpPr>
          <p:cNvPr id="12" name="Text 10"/>
          <p:cNvSpPr txBox="1"/>
          <p:nvPr/>
        </p:nvSpPr>
        <p:spPr>
          <a:xfrm>
            <a:off x="1005840" y="3666744"/>
            <a:ext cx="1371600" cy="274320"/>
          </a:xfrm>
          <a:prstGeom prst="rect">
            <a:avLst/>
          </a:prstGeom>
          <a:noFill/>
          <a:ln/>
        </p:spPr>
        <p:txBody>
          <a:bodyPr wrap="square" lIns="0" tIns="0" rIns="0" bIns="0" rtlCol="0" anchor="ctr"/>
          <a:lstStyle/>
          <a:p>
            <a:pPr indent="0" marL="0">
              <a:buNone/>
            </a:pPr>
            <a:r>
              <a:rPr lang="en-US" sz="1300" b="1" dirty="0">
                <a:solidFill>
                  <a:srgbClr val="22D3EE"/>
                </a:solidFill>
                <a:latin typeface="Arial" pitchFamily="34" charset="0"/>
                <a:ea typeface="Arial" pitchFamily="34" charset="-122"/>
                <a:cs typeface="Arial" pitchFamily="34" charset="-120"/>
              </a:rPr>
              <a:t>Act</a:t>
            </a:r>
            <a:endParaRPr lang="en-US" sz="1300" dirty="0"/>
          </a:p>
        </p:txBody>
      </p:sp>
      <p:sp>
        <p:nvSpPr>
          <p:cNvPr id="13" name="Text 11"/>
          <p:cNvSpPr txBox="1"/>
          <p:nvPr/>
        </p:nvSpPr>
        <p:spPr>
          <a:xfrm>
            <a:off x="2377440" y="3666744"/>
            <a:ext cx="3200400" cy="274320"/>
          </a:xfrm>
          <a:prstGeom prst="rect">
            <a:avLst/>
          </a:prstGeom>
          <a:noFill/>
          <a:ln/>
        </p:spPr>
        <p:txBody>
          <a:bodyPr wrap="square" lIns="0" tIns="0" rIns="0" bIns="0" rtlCol="0" anchor="ctr"/>
          <a:lstStyle/>
          <a:p>
            <a:pPr algn="r" indent="0" marL="0">
              <a:buNone/>
            </a:pPr>
            <a:r>
              <a:rPr lang="en-US" sz="1200" b="1" dirty="0">
                <a:solidFill>
                  <a:srgbClr val="E9EFFA"/>
                </a:solidFill>
                <a:latin typeface="Calibri" pitchFamily="34" charset="0"/>
                <a:ea typeface="Calibri" pitchFamily="34" charset="-122"/>
                <a:cs typeface="Calibri" pitchFamily="34" charset="-120"/>
              </a:rPr>
              <a:t>$60 / monitored service / month</a:t>
            </a:r>
            <a:endParaRPr lang="en-US" sz="1200" dirty="0"/>
          </a:p>
        </p:txBody>
      </p:sp>
      <p:sp>
        <p:nvSpPr>
          <p:cNvPr id="14" name="Text 12"/>
          <p:cNvSpPr txBox="1"/>
          <p:nvPr/>
        </p:nvSpPr>
        <p:spPr>
          <a:xfrm>
            <a:off x="1005840" y="3959352"/>
            <a:ext cx="4572000" cy="457200"/>
          </a:xfrm>
          <a:prstGeom prst="rect">
            <a:avLst/>
          </a:prstGeom>
          <a:noFill/>
          <a:ln/>
        </p:spPr>
        <p:txBody>
          <a:bodyPr wrap="square" lIns="0" tIns="0" rIns="0" bIns="0" rtlCol="0" anchor="ctr"/>
          <a:lstStyle/>
          <a:p>
            <a:pPr indent="0" marL="0">
              <a:lnSpc>
                <a:spcPts val="1300"/>
              </a:lnSpc>
              <a:buNone/>
            </a:pPr>
            <a:r>
              <a:rPr lang="en-US" sz="1100" dirty="0">
                <a:solidFill>
                  <a:srgbClr val="94A8C4"/>
                </a:solidFill>
                <a:latin typeface="Calibri" pitchFamily="34" charset="0"/>
                <a:ea typeface="Calibri" pitchFamily="34" charset="-122"/>
                <a:cs typeface="Calibri" pitchFamily="34" charset="-120"/>
              </a:rPr>
              <a:t>The full loop: proposals, approval through Freshservice change management, execution, verification, rollback, audit.</a:t>
            </a:r>
            <a:endParaRPr lang="en-US" sz="1100" dirty="0"/>
          </a:p>
        </p:txBody>
      </p:sp>
      <p:sp>
        <p:nvSpPr>
          <p:cNvPr id="15" name="Shape 13"/>
          <p:cNvSpPr/>
          <p:nvPr/>
        </p:nvSpPr>
        <p:spPr>
          <a:xfrm>
            <a:off x="822960" y="4599432"/>
            <a:ext cx="4846320" cy="914400"/>
          </a:xfrm>
          <a:prstGeom prst="roundRect">
            <a:avLst>
              <a:gd name="adj" fmla="val 4000"/>
            </a:avLst>
          </a:prstGeom>
          <a:solidFill>
            <a:srgbClr val="1E2A47"/>
          </a:solidFill>
          <a:ln w="12700">
            <a:solidFill>
              <a:srgbClr val="1E2A47"/>
            </a:solidFill>
            <a:prstDash val="solid"/>
          </a:ln>
        </p:spPr>
      </p:sp>
      <p:sp>
        <p:nvSpPr>
          <p:cNvPr id="16" name="Text 14"/>
          <p:cNvSpPr txBox="1"/>
          <p:nvPr/>
        </p:nvSpPr>
        <p:spPr>
          <a:xfrm>
            <a:off x="1005840" y="4690872"/>
            <a:ext cx="1371600" cy="274320"/>
          </a:xfrm>
          <a:prstGeom prst="rect">
            <a:avLst/>
          </a:prstGeom>
          <a:noFill/>
          <a:ln/>
        </p:spPr>
        <p:txBody>
          <a:bodyPr wrap="square" lIns="0" tIns="0" rIns="0" bIns="0" rtlCol="0" anchor="ctr"/>
          <a:lstStyle/>
          <a:p>
            <a:pPr indent="0" marL="0">
              <a:buNone/>
            </a:pPr>
            <a:r>
              <a:rPr lang="en-US" sz="1300" b="1" dirty="0">
                <a:solidFill>
                  <a:srgbClr val="FBBF24"/>
                </a:solidFill>
                <a:latin typeface="Arial" pitchFamily="34" charset="0"/>
                <a:ea typeface="Arial" pitchFamily="34" charset="-122"/>
                <a:cs typeface="Arial" pitchFamily="34" charset="-120"/>
              </a:rPr>
              <a:t>Enterprise</a:t>
            </a:r>
            <a:endParaRPr lang="en-US" sz="1300" dirty="0"/>
          </a:p>
        </p:txBody>
      </p:sp>
      <p:sp>
        <p:nvSpPr>
          <p:cNvPr id="17" name="Text 15"/>
          <p:cNvSpPr txBox="1"/>
          <p:nvPr/>
        </p:nvSpPr>
        <p:spPr>
          <a:xfrm>
            <a:off x="2377440" y="4690872"/>
            <a:ext cx="3200400" cy="274320"/>
          </a:xfrm>
          <a:prstGeom prst="rect">
            <a:avLst/>
          </a:prstGeom>
          <a:noFill/>
          <a:ln/>
        </p:spPr>
        <p:txBody>
          <a:bodyPr wrap="square" lIns="0" tIns="0" rIns="0" bIns="0" rtlCol="0" anchor="ctr"/>
          <a:lstStyle/>
          <a:p>
            <a:pPr algn="r" indent="0" marL="0">
              <a:buNone/>
            </a:pPr>
            <a:r>
              <a:rPr lang="en-US" sz="1200" b="1" dirty="0">
                <a:solidFill>
                  <a:srgbClr val="E9EFFA"/>
                </a:solidFill>
                <a:latin typeface="Calibri" pitchFamily="34" charset="0"/>
                <a:ea typeface="Calibri" pitchFamily="34" charset="-122"/>
                <a:cs typeface="Calibri" pitchFamily="34" charset="-120"/>
              </a:rPr>
              <a:t>Custom</a:t>
            </a:r>
            <a:endParaRPr lang="en-US" sz="1200" dirty="0"/>
          </a:p>
        </p:txBody>
      </p:sp>
      <p:sp>
        <p:nvSpPr>
          <p:cNvPr id="18" name="Text 16"/>
          <p:cNvSpPr txBox="1"/>
          <p:nvPr/>
        </p:nvSpPr>
        <p:spPr>
          <a:xfrm>
            <a:off x="1005840" y="4983480"/>
            <a:ext cx="4572000" cy="457200"/>
          </a:xfrm>
          <a:prstGeom prst="rect">
            <a:avLst/>
          </a:prstGeom>
          <a:noFill/>
          <a:ln/>
        </p:spPr>
        <p:txBody>
          <a:bodyPr wrap="square" lIns="0" tIns="0" rIns="0" bIns="0" rtlCol="0" anchor="ctr"/>
          <a:lstStyle/>
          <a:p>
            <a:pPr indent="0" marL="0">
              <a:lnSpc>
                <a:spcPts val="1300"/>
              </a:lnSpc>
              <a:buNone/>
            </a:pPr>
            <a:r>
              <a:rPr lang="en-US" sz="1100" dirty="0">
                <a:solidFill>
                  <a:srgbClr val="94A8C4"/>
                </a:solidFill>
                <a:latin typeface="Calibri" pitchFamily="34" charset="0"/>
                <a:ea typeface="Calibri" pitchFamily="34" charset="-122"/>
                <a:cs typeface="Calibri" pitchFamily="34" charset="-120"/>
              </a:rPr>
              <a:t>Multi-cluster, SSO, custom action catalog, retention and compliance reporting.</a:t>
            </a:r>
            <a:endParaRPr lang="en-US" sz="1100" dirty="0"/>
          </a:p>
        </p:txBody>
      </p:sp>
      <p:sp>
        <p:nvSpPr>
          <p:cNvPr id="19" name="Text 17"/>
          <p:cNvSpPr txBox="1"/>
          <p:nvPr/>
        </p:nvSpPr>
        <p:spPr>
          <a:xfrm>
            <a:off x="822960" y="5660136"/>
            <a:ext cx="4846320" cy="384048"/>
          </a:xfrm>
          <a:prstGeom prst="rect">
            <a:avLst/>
          </a:prstGeom>
          <a:noFill/>
          <a:ln/>
        </p:spPr>
        <p:txBody>
          <a:bodyPr wrap="square" lIns="0" tIns="0" rIns="0" bIns="0" rtlCol="0" anchor="ctr"/>
          <a:lstStyle/>
          <a:p>
            <a:pPr indent="0" marL="0">
              <a:lnSpc>
                <a:spcPts val="1400"/>
              </a:lnSpc>
              <a:buNone/>
            </a:pPr>
            <a:r>
              <a:rPr lang="en-US" sz="1100" i="1" dirty="0">
                <a:solidFill>
                  <a:srgbClr val="22D3EE"/>
                </a:solidFill>
                <a:latin typeface="Calibri" pitchFamily="34" charset="0"/>
                <a:ea typeface="Calibri" pitchFamily="34" charset="-122"/>
                <a:cs typeface="Calibri" pitchFamily="34" charset="-120"/>
              </a:rPr>
              <a:t>Free tier first is deliberate: nobody buys an AI that touches production before watching it be right for a month.</a:t>
            </a:r>
            <a:endParaRPr lang="en-US" sz="1100" dirty="0"/>
          </a:p>
        </p:txBody>
      </p:sp>
      <p:sp>
        <p:nvSpPr>
          <p:cNvPr id="20" name="Shape 18"/>
          <p:cNvSpPr/>
          <p:nvPr/>
        </p:nvSpPr>
        <p:spPr>
          <a:xfrm>
            <a:off x="6245352" y="1591056"/>
            <a:ext cx="5394960" cy="4480560"/>
          </a:xfrm>
          <a:prstGeom prst="roundRect">
            <a:avLst>
              <a:gd name="adj" fmla="val 816"/>
            </a:avLst>
          </a:prstGeom>
          <a:solidFill>
            <a:srgbClr val="16213A"/>
          </a:solidFill>
          <a:ln w="12700">
            <a:solidFill>
              <a:srgbClr val="1E2A47"/>
            </a:solidFill>
            <a:prstDash val="solid"/>
          </a:ln>
        </p:spPr>
      </p:sp>
      <p:sp>
        <p:nvSpPr>
          <p:cNvPr id="21" name="Text 19"/>
          <p:cNvSpPr txBox="1"/>
          <p:nvPr/>
        </p:nvSpPr>
        <p:spPr>
          <a:xfrm>
            <a:off x="6519672" y="1819656"/>
            <a:ext cx="4846320" cy="237744"/>
          </a:xfrm>
          <a:prstGeom prst="rect">
            <a:avLst/>
          </a:prstGeom>
          <a:noFill/>
          <a:ln/>
        </p:spPr>
        <p:txBody>
          <a:bodyPr wrap="square" lIns="0" tIns="0" rIns="0" bIns="0" rtlCol="0" anchor="ctr"/>
          <a:lstStyle/>
          <a:p>
            <a:pPr indent="0" marL="0">
              <a:buNone/>
            </a:pPr>
            <a:r>
              <a:rPr lang="en-US" sz="1000" b="1" spc="150" kern="0" dirty="0">
                <a:solidFill>
                  <a:srgbClr val="FBBF24"/>
                </a:solidFill>
                <a:latin typeface="Calibri" pitchFamily="34" charset="0"/>
                <a:ea typeface="Calibri" pitchFamily="34" charset="-122"/>
                <a:cs typeface="Calibri" pitchFamily="34" charset="-120"/>
              </a:rPr>
              <a:t>GO-TO-MARKET</a:t>
            </a:r>
            <a:endParaRPr lang="en-US" sz="1000" dirty="0"/>
          </a:p>
        </p:txBody>
      </p:sp>
      <p:sp>
        <p:nvSpPr>
          <p:cNvPr id="22" name="Text 20"/>
          <p:cNvSpPr txBox="1"/>
          <p:nvPr/>
        </p:nvSpPr>
        <p:spPr>
          <a:xfrm>
            <a:off x="6519672" y="2121408"/>
            <a:ext cx="4846320" cy="365760"/>
          </a:xfrm>
          <a:prstGeom prst="rect">
            <a:avLst/>
          </a:prstGeom>
          <a:noFill/>
          <a:ln/>
        </p:spPr>
        <p:txBody>
          <a:bodyPr wrap="square" lIns="0" tIns="0" rIns="0" bIns="0" rtlCol="0" anchor="ctr"/>
          <a:lstStyle/>
          <a:p>
            <a:pPr indent="0" marL="0">
              <a:buNone/>
            </a:pPr>
            <a:r>
              <a:rPr lang="en-US" sz="1800" b="1" dirty="0">
                <a:solidFill>
                  <a:srgbClr val="E9EFFA"/>
                </a:solidFill>
                <a:latin typeface="Arial" pitchFamily="34" charset="0"/>
                <a:ea typeface="Arial" pitchFamily="34" charset="-122"/>
                <a:cs typeface="Arial" pitchFamily="34" charset="-120"/>
              </a:rPr>
              <a:t>Distribution through Freshworks</a:t>
            </a:r>
            <a:endParaRPr lang="en-US" sz="1800" dirty="0"/>
          </a:p>
        </p:txBody>
      </p:sp>
      <p:sp>
        <p:nvSpPr>
          <p:cNvPr id="23" name="Shape 21"/>
          <p:cNvSpPr/>
          <p:nvPr/>
        </p:nvSpPr>
        <p:spPr>
          <a:xfrm>
            <a:off x="6519672" y="2596896"/>
            <a:ext cx="347472" cy="347472"/>
          </a:xfrm>
          <a:prstGeom prst="roundRect">
            <a:avLst>
              <a:gd name="adj" fmla="val 26316"/>
            </a:avLst>
          </a:prstGeom>
          <a:solidFill>
            <a:srgbClr val="1E2A47"/>
          </a:solidFill>
          <a:ln w="12700">
            <a:solidFill>
              <a:srgbClr val="22D3EE"/>
            </a:solidFill>
            <a:prstDash val="solid"/>
          </a:ln>
        </p:spPr>
      </p:sp>
      <p:sp>
        <p:nvSpPr>
          <p:cNvPr id="24" name="Text 22"/>
          <p:cNvSpPr txBox="1"/>
          <p:nvPr/>
        </p:nvSpPr>
        <p:spPr>
          <a:xfrm>
            <a:off x="6519672" y="2596896"/>
            <a:ext cx="347472" cy="347472"/>
          </a:xfrm>
          <a:prstGeom prst="rect">
            <a:avLst/>
          </a:prstGeom>
          <a:noFill/>
          <a:ln/>
        </p:spPr>
        <p:txBody>
          <a:bodyPr wrap="square" lIns="0" tIns="0" rIns="0" bIns="0" rtlCol="0" anchor="ctr"/>
          <a:lstStyle/>
          <a:p>
            <a:pPr algn="ctr" indent="0" marL="0">
              <a:buNone/>
            </a:pPr>
            <a:r>
              <a:rPr lang="en-US" sz="1100" b="1" dirty="0">
                <a:solidFill>
                  <a:srgbClr val="22D3EE"/>
                </a:solidFill>
                <a:latin typeface="Arial" pitchFamily="34" charset="0"/>
                <a:ea typeface="Arial" pitchFamily="34" charset="-122"/>
                <a:cs typeface="Arial" pitchFamily="34" charset="-120"/>
              </a:rPr>
              <a:t>1</a:t>
            </a:r>
            <a:endParaRPr lang="en-US" sz="1100" dirty="0"/>
          </a:p>
        </p:txBody>
      </p:sp>
      <p:sp>
        <p:nvSpPr>
          <p:cNvPr id="25" name="Text 23"/>
          <p:cNvSpPr txBox="1"/>
          <p:nvPr/>
        </p:nvSpPr>
        <p:spPr>
          <a:xfrm>
            <a:off x="7022592" y="2578608"/>
            <a:ext cx="4480560" cy="256032"/>
          </a:xfrm>
          <a:prstGeom prst="rect">
            <a:avLst/>
          </a:prstGeom>
          <a:noFill/>
          <a:ln/>
        </p:spPr>
        <p:txBody>
          <a:bodyPr wrap="square" lIns="0" tIns="0" rIns="0" bIns="0" rtlCol="0" anchor="ctr"/>
          <a:lstStyle/>
          <a:p>
            <a:pPr indent="0" marL="0">
              <a:buNone/>
            </a:pPr>
            <a:r>
              <a:rPr lang="en-US" sz="1250" b="1" dirty="0">
                <a:solidFill>
                  <a:srgbClr val="E9EFFA"/>
                </a:solidFill>
                <a:latin typeface="Arial" pitchFamily="34" charset="0"/>
                <a:ea typeface="Arial" pitchFamily="34" charset="-122"/>
                <a:cs typeface="Arial" pitchFamily="34" charset="-120"/>
              </a:rPr>
              <a:t>Freshworks Marketplace app</a:t>
            </a:r>
            <a:endParaRPr lang="en-US" sz="1250" dirty="0"/>
          </a:p>
        </p:txBody>
      </p:sp>
      <p:sp>
        <p:nvSpPr>
          <p:cNvPr id="26" name="Text 24"/>
          <p:cNvSpPr txBox="1"/>
          <p:nvPr/>
        </p:nvSpPr>
        <p:spPr>
          <a:xfrm>
            <a:off x="7022592" y="2834640"/>
            <a:ext cx="4480560" cy="457200"/>
          </a:xfrm>
          <a:prstGeom prst="rect">
            <a:avLst/>
          </a:prstGeom>
          <a:noFill/>
          <a:ln/>
        </p:spPr>
        <p:txBody>
          <a:bodyPr wrap="square" lIns="0" tIns="0" rIns="0" bIns="0" rtlCol="0" anchor="ctr"/>
          <a:lstStyle/>
          <a:p>
            <a:pPr indent="0" marL="0">
              <a:lnSpc>
                <a:spcPts val="1300"/>
              </a:lnSpc>
              <a:buNone/>
            </a:pPr>
            <a:r>
              <a:rPr lang="en-US" sz="1100" dirty="0">
                <a:solidFill>
                  <a:srgbClr val="94A8C4"/>
                </a:solidFill>
                <a:latin typeface="Calibri" pitchFamily="34" charset="0"/>
                <a:ea typeface="Calibri" pitchFamily="34" charset="-122"/>
                <a:cs typeface="Calibri" pitchFamily="34" charset="-120"/>
              </a:rPr>
              <a:t>The natural shelf: every listed customer already has the ITSM half of the product installed.</a:t>
            </a:r>
            <a:endParaRPr lang="en-US" sz="1100" dirty="0"/>
          </a:p>
        </p:txBody>
      </p:sp>
      <p:sp>
        <p:nvSpPr>
          <p:cNvPr id="27" name="Shape 25"/>
          <p:cNvSpPr/>
          <p:nvPr/>
        </p:nvSpPr>
        <p:spPr>
          <a:xfrm>
            <a:off x="6519672" y="3374136"/>
            <a:ext cx="347472" cy="347472"/>
          </a:xfrm>
          <a:prstGeom prst="roundRect">
            <a:avLst>
              <a:gd name="adj" fmla="val 26316"/>
            </a:avLst>
          </a:prstGeom>
          <a:solidFill>
            <a:srgbClr val="1E2A47"/>
          </a:solidFill>
          <a:ln w="12700">
            <a:solidFill>
              <a:srgbClr val="22D3EE"/>
            </a:solidFill>
            <a:prstDash val="solid"/>
          </a:ln>
        </p:spPr>
      </p:sp>
      <p:sp>
        <p:nvSpPr>
          <p:cNvPr id="28" name="Text 26"/>
          <p:cNvSpPr txBox="1"/>
          <p:nvPr/>
        </p:nvSpPr>
        <p:spPr>
          <a:xfrm>
            <a:off x="6519672" y="3374136"/>
            <a:ext cx="347472" cy="347472"/>
          </a:xfrm>
          <a:prstGeom prst="rect">
            <a:avLst/>
          </a:prstGeom>
          <a:noFill/>
          <a:ln/>
        </p:spPr>
        <p:txBody>
          <a:bodyPr wrap="square" lIns="0" tIns="0" rIns="0" bIns="0" rtlCol="0" anchor="ctr"/>
          <a:lstStyle/>
          <a:p>
            <a:pPr algn="ctr" indent="0" marL="0">
              <a:buNone/>
            </a:pPr>
            <a:r>
              <a:rPr lang="en-US" sz="1100" b="1" dirty="0">
                <a:solidFill>
                  <a:srgbClr val="22D3EE"/>
                </a:solidFill>
                <a:latin typeface="Arial" pitchFamily="34" charset="0"/>
                <a:ea typeface="Arial" pitchFamily="34" charset="-122"/>
                <a:cs typeface="Arial" pitchFamily="34" charset="-120"/>
              </a:rPr>
              <a:t>2</a:t>
            </a:r>
            <a:endParaRPr lang="en-US" sz="1100" dirty="0"/>
          </a:p>
        </p:txBody>
      </p:sp>
      <p:sp>
        <p:nvSpPr>
          <p:cNvPr id="29" name="Text 27"/>
          <p:cNvSpPr txBox="1"/>
          <p:nvPr/>
        </p:nvSpPr>
        <p:spPr>
          <a:xfrm>
            <a:off x="7022592" y="3355848"/>
            <a:ext cx="4480560" cy="256032"/>
          </a:xfrm>
          <a:prstGeom prst="rect">
            <a:avLst/>
          </a:prstGeom>
          <a:noFill/>
          <a:ln/>
        </p:spPr>
        <p:txBody>
          <a:bodyPr wrap="square" lIns="0" tIns="0" rIns="0" bIns="0" rtlCol="0" anchor="ctr"/>
          <a:lstStyle/>
          <a:p>
            <a:pPr indent="0" marL="0">
              <a:buNone/>
            </a:pPr>
            <a:r>
              <a:rPr lang="en-US" sz="1250" b="1" dirty="0">
                <a:solidFill>
                  <a:srgbClr val="E9EFFA"/>
                </a:solidFill>
                <a:latin typeface="Arial" pitchFamily="34" charset="0"/>
                <a:ea typeface="Arial" pitchFamily="34" charset="-122"/>
                <a:cs typeface="Arial" pitchFamily="34" charset="-120"/>
              </a:rPr>
              <a:t>In-product prompt in Freshservice</a:t>
            </a:r>
            <a:endParaRPr lang="en-US" sz="1250" dirty="0"/>
          </a:p>
        </p:txBody>
      </p:sp>
      <p:sp>
        <p:nvSpPr>
          <p:cNvPr id="30" name="Text 28"/>
          <p:cNvSpPr txBox="1"/>
          <p:nvPr/>
        </p:nvSpPr>
        <p:spPr>
          <a:xfrm>
            <a:off x="7022592" y="3611880"/>
            <a:ext cx="4480560" cy="457200"/>
          </a:xfrm>
          <a:prstGeom prst="rect">
            <a:avLst/>
          </a:prstGeom>
          <a:noFill/>
          <a:ln/>
        </p:spPr>
        <p:txBody>
          <a:bodyPr wrap="square" lIns="0" tIns="0" rIns="0" bIns="0" rtlCol="0" anchor="ctr"/>
          <a:lstStyle/>
          <a:p>
            <a:pPr indent="0" marL="0">
              <a:lnSpc>
                <a:spcPts val="1300"/>
              </a:lnSpc>
              <a:buNone/>
            </a:pPr>
            <a:r>
              <a:rPr lang="en-US" sz="1100" dirty="0">
                <a:solidFill>
                  <a:srgbClr val="94A8C4"/>
                </a:solidFill>
                <a:latin typeface="Calibri" pitchFamily="34" charset="0"/>
                <a:ea typeface="Calibri" pitchFamily="34" charset="-122"/>
                <a:cs typeface="Calibri" pitchFamily="34" charset="-120"/>
              </a:rPr>
              <a:t>Offer it where repeated incident tickets for the same service are already being filed.</a:t>
            </a:r>
            <a:endParaRPr lang="en-US" sz="1100" dirty="0"/>
          </a:p>
        </p:txBody>
      </p:sp>
      <p:sp>
        <p:nvSpPr>
          <p:cNvPr id="31" name="Shape 29"/>
          <p:cNvSpPr/>
          <p:nvPr/>
        </p:nvSpPr>
        <p:spPr>
          <a:xfrm>
            <a:off x="6519672" y="4151376"/>
            <a:ext cx="347472" cy="347472"/>
          </a:xfrm>
          <a:prstGeom prst="roundRect">
            <a:avLst>
              <a:gd name="adj" fmla="val 26316"/>
            </a:avLst>
          </a:prstGeom>
          <a:solidFill>
            <a:srgbClr val="1E2A47"/>
          </a:solidFill>
          <a:ln w="12700">
            <a:solidFill>
              <a:srgbClr val="22D3EE"/>
            </a:solidFill>
            <a:prstDash val="solid"/>
          </a:ln>
        </p:spPr>
      </p:sp>
      <p:sp>
        <p:nvSpPr>
          <p:cNvPr id="32" name="Text 30"/>
          <p:cNvSpPr txBox="1"/>
          <p:nvPr/>
        </p:nvSpPr>
        <p:spPr>
          <a:xfrm>
            <a:off x="6519672" y="4151376"/>
            <a:ext cx="347472" cy="347472"/>
          </a:xfrm>
          <a:prstGeom prst="rect">
            <a:avLst/>
          </a:prstGeom>
          <a:noFill/>
          <a:ln/>
        </p:spPr>
        <p:txBody>
          <a:bodyPr wrap="square" lIns="0" tIns="0" rIns="0" bIns="0" rtlCol="0" anchor="ctr"/>
          <a:lstStyle/>
          <a:p>
            <a:pPr algn="ctr" indent="0" marL="0">
              <a:buNone/>
            </a:pPr>
            <a:r>
              <a:rPr lang="en-US" sz="1100" b="1" dirty="0">
                <a:solidFill>
                  <a:srgbClr val="22D3EE"/>
                </a:solidFill>
                <a:latin typeface="Arial" pitchFamily="34" charset="0"/>
                <a:ea typeface="Arial" pitchFamily="34" charset="-122"/>
                <a:cs typeface="Arial" pitchFamily="34" charset="-120"/>
              </a:rPr>
              <a:t>3</a:t>
            </a:r>
            <a:endParaRPr lang="en-US" sz="1100" dirty="0"/>
          </a:p>
        </p:txBody>
      </p:sp>
      <p:sp>
        <p:nvSpPr>
          <p:cNvPr id="33" name="Text 31"/>
          <p:cNvSpPr txBox="1"/>
          <p:nvPr/>
        </p:nvSpPr>
        <p:spPr>
          <a:xfrm>
            <a:off x="7022592" y="4133088"/>
            <a:ext cx="4480560" cy="256032"/>
          </a:xfrm>
          <a:prstGeom prst="rect">
            <a:avLst/>
          </a:prstGeom>
          <a:noFill/>
          <a:ln/>
        </p:spPr>
        <p:txBody>
          <a:bodyPr wrap="square" lIns="0" tIns="0" rIns="0" bIns="0" rtlCol="0" anchor="ctr"/>
          <a:lstStyle/>
          <a:p>
            <a:pPr indent="0" marL="0">
              <a:buNone/>
            </a:pPr>
            <a:r>
              <a:rPr lang="en-US" sz="1250" b="1" dirty="0">
                <a:solidFill>
                  <a:srgbClr val="E9EFFA"/>
                </a:solidFill>
                <a:latin typeface="Arial" pitchFamily="34" charset="0"/>
                <a:ea typeface="Arial" pitchFamily="34" charset="-122"/>
                <a:cs typeface="Arial" pitchFamily="34" charset="-120"/>
              </a:rPr>
              <a:t>Land on the free tier</a:t>
            </a:r>
            <a:endParaRPr lang="en-US" sz="1250" dirty="0"/>
          </a:p>
        </p:txBody>
      </p:sp>
      <p:sp>
        <p:nvSpPr>
          <p:cNvPr id="34" name="Text 32"/>
          <p:cNvSpPr txBox="1"/>
          <p:nvPr/>
        </p:nvSpPr>
        <p:spPr>
          <a:xfrm>
            <a:off x="7022592" y="4389120"/>
            <a:ext cx="4480560" cy="457200"/>
          </a:xfrm>
          <a:prstGeom prst="rect">
            <a:avLst/>
          </a:prstGeom>
          <a:noFill/>
          <a:ln/>
        </p:spPr>
        <p:txBody>
          <a:bodyPr wrap="square" lIns="0" tIns="0" rIns="0" bIns="0" rtlCol="0" anchor="ctr"/>
          <a:lstStyle/>
          <a:p>
            <a:pPr indent="0" marL="0">
              <a:lnSpc>
                <a:spcPts val="1300"/>
              </a:lnSpc>
              <a:buNone/>
            </a:pPr>
            <a:r>
              <a:rPr lang="en-US" sz="1100" dirty="0">
                <a:solidFill>
                  <a:srgbClr val="94A8C4"/>
                </a:solidFill>
                <a:latin typeface="Calibri" pitchFamily="34" charset="0"/>
                <a:ea typeface="Calibri" pitchFamily="34" charset="-122"/>
                <a:cs typeface="Calibri" pitchFamily="34" charset="-120"/>
              </a:rPr>
              <a:t>Observe mode needs no approval from anyone. It earns the right to ask for the paid tier.</a:t>
            </a:r>
            <a:endParaRPr lang="en-US" sz="1100" dirty="0"/>
          </a:p>
        </p:txBody>
      </p:sp>
      <p:sp>
        <p:nvSpPr>
          <p:cNvPr id="35" name="Shape 33"/>
          <p:cNvSpPr/>
          <p:nvPr/>
        </p:nvSpPr>
        <p:spPr>
          <a:xfrm>
            <a:off x="6519672" y="4928616"/>
            <a:ext cx="347472" cy="347472"/>
          </a:xfrm>
          <a:prstGeom prst="roundRect">
            <a:avLst>
              <a:gd name="adj" fmla="val 26316"/>
            </a:avLst>
          </a:prstGeom>
          <a:solidFill>
            <a:srgbClr val="1E2A47"/>
          </a:solidFill>
          <a:ln w="12700">
            <a:solidFill>
              <a:srgbClr val="22D3EE"/>
            </a:solidFill>
            <a:prstDash val="solid"/>
          </a:ln>
        </p:spPr>
      </p:sp>
      <p:sp>
        <p:nvSpPr>
          <p:cNvPr id="36" name="Text 34"/>
          <p:cNvSpPr txBox="1"/>
          <p:nvPr/>
        </p:nvSpPr>
        <p:spPr>
          <a:xfrm>
            <a:off x="6519672" y="4928616"/>
            <a:ext cx="347472" cy="347472"/>
          </a:xfrm>
          <a:prstGeom prst="rect">
            <a:avLst/>
          </a:prstGeom>
          <a:noFill/>
          <a:ln/>
        </p:spPr>
        <p:txBody>
          <a:bodyPr wrap="square" lIns="0" tIns="0" rIns="0" bIns="0" rtlCol="0" anchor="ctr"/>
          <a:lstStyle/>
          <a:p>
            <a:pPr algn="ctr" indent="0" marL="0">
              <a:buNone/>
            </a:pPr>
            <a:r>
              <a:rPr lang="en-US" sz="1100" b="1" dirty="0">
                <a:solidFill>
                  <a:srgbClr val="22D3EE"/>
                </a:solidFill>
                <a:latin typeface="Arial" pitchFamily="34" charset="0"/>
                <a:ea typeface="Arial" pitchFamily="34" charset="-122"/>
                <a:cs typeface="Arial" pitchFamily="34" charset="-120"/>
              </a:rPr>
              <a:t>4</a:t>
            </a:r>
            <a:endParaRPr lang="en-US" sz="1100" dirty="0"/>
          </a:p>
        </p:txBody>
      </p:sp>
      <p:sp>
        <p:nvSpPr>
          <p:cNvPr id="37" name="Text 35"/>
          <p:cNvSpPr txBox="1"/>
          <p:nvPr/>
        </p:nvSpPr>
        <p:spPr>
          <a:xfrm>
            <a:off x="7022592" y="4910328"/>
            <a:ext cx="4480560" cy="256032"/>
          </a:xfrm>
          <a:prstGeom prst="rect">
            <a:avLst/>
          </a:prstGeom>
          <a:noFill/>
          <a:ln/>
        </p:spPr>
        <p:txBody>
          <a:bodyPr wrap="square" lIns="0" tIns="0" rIns="0" bIns="0" rtlCol="0" anchor="ctr"/>
          <a:lstStyle/>
          <a:p>
            <a:pPr indent="0" marL="0">
              <a:buNone/>
            </a:pPr>
            <a:r>
              <a:rPr lang="en-US" sz="1250" b="1" dirty="0">
                <a:solidFill>
                  <a:srgbClr val="E9EFFA"/>
                </a:solidFill>
                <a:latin typeface="Arial" pitchFamily="34" charset="0"/>
                <a:ea typeface="Arial" pitchFamily="34" charset="-122"/>
                <a:cs typeface="Arial" pitchFamily="34" charset="-120"/>
              </a:rPr>
              <a:t>Proof-led content</a:t>
            </a:r>
            <a:endParaRPr lang="en-US" sz="1250" dirty="0"/>
          </a:p>
        </p:txBody>
      </p:sp>
      <p:sp>
        <p:nvSpPr>
          <p:cNvPr id="38" name="Text 36"/>
          <p:cNvSpPr txBox="1"/>
          <p:nvPr/>
        </p:nvSpPr>
        <p:spPr>
          <a:xfrm>
            <a:off x="7022592" y="5166360"/>
            <a:ext cx="4480560" cy="457200"/>
          </a:xfrm>
          <a:prstGeom prst="rect">
            <a:avLst/>
          </a:prstGeom>
          <a:noFill/>
          <a:ln/>
        </p:spPr>
        <p:txBody>
          <a:bodyPr wrap="square" lIns="0" tIns="0" rIns="0" bIns="0" rtlCol="0" anchor="ctr"/>
          <a:lstStyle/>
          <a:p>
            <a:pPr indent="0" marL="0">
              <a:lnSpc>
                <a:spcPts val="1300"/>
              </a:lnSpc>
              <a:buNone/>
            </a:pPr>
            <a:r>
              <a:rPr lang="en-US" sz="1100" dirty="0">
                <a:solidFill>
                  <a:srgbClr val="94A8C4"/>
                </a:solidFill>
                <a:latin typeface="Calibri" pitchFamily="34" charset="0"/>
                <a:ea typeface="Calibri" pitchFamily="34" charset="-122"/>
                <a:cs typeface="Calibri" pitchFamily="34" charset="-120"/>
              </a:rPr>
              <a:t>Publish real incident walkthroughs with the audit chain attached — the evidence is the marketing.</a:t>
            </a:r>
            <a:endParaRPr lang="en-US" sz="1100" dirty="0"/>
          </a:p>
        </p:txBody>
      </p:sp>
      <p:sp>
        <p:nvSpPr>
          <p:cNvPr id="39" name="Text 37"/>
          <p:cNvSpPr txBox="1"/>
          <p:nvPr/>
        </p:nvSpPr>
        <p:spPr>
          <a:xfrm>
            <a:off x="548640" y="6400800"/>
            <a:ext cx="3657600" cy="256032"/>
          </a:xfrm>
          <a:prstGeom prst="rect">
            <a:avLst/>
          </a:prstGeom>
          <a:noFill/>
          <a:ln/>
        </p:spPr>
        <p:txBody>
          <a:bodyPr wrap="square" lIns="0" tIns="0" rIns="0" bIns="0" rtlCol="0" anchor="ctr"/>
          <a:lstStyle/>
          <a:p>
            <a:pPr indent="0" marL="0">
              <a:buNone/>
            </a:pPr>
            <a:r>
              <a:rPr lang="en-US" sz="1000" dirty="0">
                <a:solidFill>
                  <a:srgbClr val="5A6E8C"/>
                </a:solidFill>
                <a:latin typeface="Calibri" pitchFamily="34" charset="0"/>
                <a:ea typeface="Calibri" pitchFamily="34" charset="-122"/>
                <a:cs typeface="Calibri" pitchFamily="34" charset="-120"/>
              </a:rPr>
              <a:t>SentinelOps AI</a:t>
            </a:r>
            <a:endParaRPr lang="en-US" sz="1000" dirty="0"/>
          </a:p>
        </p:txBody>
      </p:sp>
      <p:sp>
        <p:nvSpPr>
          <p:cNvPr id="40" name="Text 38"/>
          <p:cNvSpPr txBox="1"/>
          <p:nvPr/>
        </p:nvSpPr>
        <p:spPr>
          <a:xfrm>
            <a:off x="10725912" y="6400800"/>
            <a:ext cx="914400" cy="256032"/>
          </a:xfrm>
          <a:prstGeom prst="rect">
            <a:avLst/>
          </a:prstGeom>
          <a:noFill/>
          <a:ln/>
        </p:spPr>
        <p:txBody>
          <a:bodyPr wrap="square" lIns="0" tIns="0" rIns="0" bIns="0" rtlCol="0" anchor="ctr"/>
          <a:lstStyle/>
          <a:p>
            <a:pPr algn="r" indent="0" marL="0">
              <a:buNone/>
            </a:pPr>
            <a:r>
              <a:rPr lang="en-US" sz="1000" dirty="0">
                <a:solidFill>
                  <a:srgbClr val="5A6E8C"/>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411480"/>
            <a:ext cx="10058400" cy="256032"/>
          </a:xfrm>
          <a:prstGeom prst="rect">
            <a:avLst/>
          </a:prstGeom>
          <a:noFill/>
          <a:ln/>
        </p:spPr>
        <p:txBody>
          <a:bodyPr wrap="square" lIns="0" tIns="0" rIns="0" bIns="0" rtlCol="0" anchor="ctr"/>
          <a:lstStyle/>
          <a:p>
            <a:pPr indent="0" marL="0">
              <a:buNone/>
            </a:pPr>
            <a:r>
              <a:rPr lang="en-US" sz="1200" b="1" spc="200" kern="0" dirty="0">
                <a:solidFill>
                  <a:srgbClr val="22D3EE"/>
                </a:solidFill>
                <a:latin typeface="Calibri" pitchFamily="34" charset="0"/>
                <a:ea typeface="Calibri" pitchFamily="34" charset="-122"/>
                <a:cs typeface="Calibri" pitchFamily="34" charset="-120"/>
              </a:rPr>
              <a:t>COSTS AND RESOURCES NEEDED</a:t>
            </a:r>
            <a:endParaRPr lang="en-US" sz="1200" dirty="0"/>
          </a:p>
        </p:txBody>
      </p:sp>
      <p:sp>
        <p:nvSpPr>
          <p:cNvPr id="3" name="Text 1"/>
          <p:cNvSpPr txBox="1"/>
          <p:nvPr/>
        </p:nvSpPr>
        <p:spPr>
          <a:xfrm>
            <a:off x="548640" y="722376"/>
            <a:ext cx="11064240" cy="475488"/>
          </a:xfrm>
          <a:prstGeom prst="rect">
            <a:avLst/>
          </a:prstGeom>
          <a:noFill/>
          <a:ln/>
        </p:spPr>
        <p:txBody>
          <a:bodyPr wrap="square" lIns="0" tIns="0" rIns="0" bIns="0" rtlCol="0" anchor="ctr"/>
          <a:lstStyle/>
          <a:p>
            <a:pPr indent="0" marL="0">
              <a:buNone/>
            </a:pPr>
            <a:r>
              <a:rPr lang="en-US" sz="3000" b="1" dirty="0">
                <a:solidFill>
                  <a:srgbClr val="E9EFFA"/>
                </a:solidFill>
                <a:latin typeface="Arial" pitchFamily="34" charset="0"/>
                <a:ea typeface="Arial" pitchFamily="34" charset="-122"/>
                <a:cs typeface="Arial" pitchFamily="34" charset="-120"/>
              </a:rPr>
              <a:t>What it takes to build this properly</a:t>
            </a:r>
            <a:endParaRPr lang="en-US" sz="3000" dirty="0"/>
          </a:p>
        </p:txBody>
      </p:sp>
      <p:sp>
        <p:nvSpPr>
          <p:cNvPr id="4" name="Shape 2"/>
          <p:cNvSpPr/>
          <p:nvPr/>
        </p:nvSpPr>
        <p:spPr>
          <a:xfrm>
            <a:off x="548640" y="1591056"/>
            <a:ext cx="6035040" cy="804672"/>
          </a:xfrm>
          <a:prstGeom prst="roundRect">
            <a:avLst>
              <a:gd name="adj" fmla="val 4545"/>
            </a:avLst>
          </a:prstGeom>
          <a:solidFill>
            <a:srgbClr val="16213A"/>
          </a:solidFill>
          <a:ln w="12700">
            <a:solidFill>
              <a:srgbClr val="1E2A47"/>
            </a:solidFill>
            <a:prstDash val="solid"/>
          </a:ln>
        </p:spPr>
      </p:sp>
      <p:sp>
        <p:nvSpPr>
          <p:cNvPr id="5" name="Text 3"/>
          <p:cNvSpPr txBox="1"/>
          <p:nvPr/>
        </p:nvSpPr>
        <p:spPr>
          <a:xfrm>
            <a:off x="804672" y="1700784"/>
            <a:ext cx="1645920" cy="585216"/>
          </a:xfrm>
          <a:prstGeom prst="rect">
            <a:avLst/>
          </a:prstGeom>
          <a:noFill/>
          <a:ln/>
        </p:spPr>
        <p:txBody>
          <a:bodyPr wrap="square" lIns="0" tIns="0" rIns="0" bIns="0" rtlCol="0" anchor="ctr"/>
          <a:lstStyle/>
          <a:p>
            <a:pPr indent="0" marL="0">
              <a:buNone/>
            </a:pPr>
            <a:r>
              <a:rPr lang="en-US" sz="1300" b="1" dirty="0">
                <a:solidFill>
                  <a:srgbClr val="22D3EE"/>
                </a:solidFill>
                <a:latin typeface="Arial" pitchFamily="34" charset="0"/>
                <a:ea typeface="Arial" pitchFamily="34" charset="-122"/>
                <a:cs typeface="Arial" pitchFamily="34" charset="-120"/>
              </a:rPr>
              <a:t>Team</a:t>
            </a:r>
            <a:endParaRPr lang="en-US" sz="1300" dirty="0"/>
          </a:p>
        </p:txBody>
      </p:sp>
      <p:sp>
        <p:nvSpPr>
          <p:cNvPr id="6" name="Text 4"/>
          <p:cNvSpPr txBox="1"/>
          <p:nvPr/>
        </p:nvSpPr>
        <p:spPr>
          <a:xfrm>
            <a:off x="2514600" y="1700784"/>
            <a:ext cx="3886200" cy="585216"/>
          </a:xfrm>
          <a:prstGeom prst="rect">
            <a:avLst/>
          </a:prstGeom>
          <a:noFill/>
          <a:ln/>
        </p:spPr>
        <p:txBody>
          <a:bodyPr wrap="square" lIns="0" tIns="0" rIns="0" bIns="0" rtlCol="0" anchor="ctr"/>
          <a:lstStyle/>
          <a:p>
            <a:pPr indent="0" marL="0">
              <a:lnSpc>
                <a:spcPts val="1500"/>
              </a:lnSpc>
              <a:buNone/>
            </a:pPr>
            <a:r>
              <a:rPr lang="en-US" sz="1200" dirty="0">
                <a:solidFill>
                  <a:srgbClr val="94A8C4"/>
                </a:solidFill>
                <a:latin typeface="Calibri" pitchFamily="34" charset="0"/>
                <a:ea typeface="Calibri" pitchFamily="34" charset="-122"/>
                <a:cs typeface="Calibri" pitchFamily="34" charset="-120"/>
              </a:rPr>
              <a:t>3 engineers, 1 designer part-time, PM support</a:t>
            </a:r>
            <a:endParaRPr lang="en-US" sz="1200" dirty="0"/>
          </a:p>
        </p:txBody>
      </p:sp>
      <p:sp>
        <p:nvSpPr>
          <p:cNvPr id="7" name="Shape 5"/>
          <p:cNvSpPr/>
          <p:nvPr/>
        </p:nvSpPr>
        <p:spPr>
          <a:xfrm>
            <a:off x="548640" y="2505456"/>
            <a:ext cx="6035040" cy="804672"/>
          </a:xfrm>
          <a:prstGeom prst="roundRect">
            <a:avLst>
              <a:gd name="adj" fmla="val 4545"/>
            </a:avLst>
          </a:prstGeom>
          <a:solidFill>
            <a:srgbClr val="16213A"/>
          </a:solidFill>
          <a:ln w="12700">
            <a:solidFill>
              <a:srgbClr val="1E2A47"/>
            </a:solidFill>
            <a:prstDash val="solid"/>
          </a:ln>
        </p:spPr>
      </p:sp>
      <p:sp>
        <p:nvSpPr>
          <p:cNvPr id="8" name="Text 6"/>
          <p:cNvSpPr txBox="1"/>
          <p:nvPr/>
        </p:nvSpPr>
        <p:spPr>
          <a:xfrm>
            <a:off x="804672" y="2615184"/>
            <a:ext cx="1645920" cy="585216"/>
          </a:xfrm>
          <a:prstGeom prst="rect">
            <a:avLst/>
          </a:prstGeom>
          <a:noFill/>
          <a:ln/>
        </p:spPr>
        <p:txBody>
          <a:bodyPr wrap="square" lIns="0" tIns="0" rIns="0" bIns="0" rtlCol="0" anchor="ctr"/>
          <a:lstStyle/>
          <a:p>
            <a:pPr indent="0" marL="0">
              <a:buNone/>
            </a:pPr>
            <a:r>
              <a:rPr lang="en-US" sz="1300" b="1" dirty="0">
                <a:solidFill>
                  <a:srgbClr val="22D3EE"/>
                </a:solidFill>
                <a:latin typeface="Arial" pitchFamily="34" charset="0"/>
                <a:ea typeface="Arial" pitchFamily="34" charset="-122"/>
                <a:cs typeface="Arial" pitchFamily="34" charset="-120"/>
              </a:rPr>
              <a:t>Timeline</a:t>
            </a:r>
            <a:endParaRPr lang="en-US" sz="1300" dirty="0"/>
          </a:p>
        </p:txBody>
      </p:sp>
      <p:sp>
        <p:nvSpPr>
          <p:cNvPr id="9" name="Text 7"/>
          <p:cNvSpPr txBox="1"/>
          <p:nvPr/>
        </p:nvSpPr>
        <p:spPr>
          <a:xfrm>
            <a:off x="2514600" y="2615184"/>
            <a:ext cx="3886200" cy="585216"/>
          </a:xfrm>
          <a:prstGeom prst="rect">
            <a:avLst/>
          </a:prstGeom>
          <a:noFill/>
          <a:ln/>
        </p:spPr>
        <p:txBody>
          <a:bodyPr wrap="square" lIns="0" tIns="0" rIns="0" bIns="0" rtlCol="0" anchor="ctr"/>
          <a:lstStyle/>
          <a:p>
            <a:pPr indent="0" marL="0">
              <a:lnSpc>
                <a:spcPts val="1500"/>
              </a:lnSpc>
              <a:buNone/>
            </a:pPr>
            <a:r>
              <a:rPr lang="en-US" sz="1200" dirty="0">
                <a:solidFill>
                  <a:srgbClr val="94A8C4"/>
                </a:solidFill>
                <a:latin typeface="Calibri" pitchFamily="34" charset="0"/>
                <a:ea typeface="Calibri" pitchFamily="34" charset="-122"/>
                <a:cs typeface="Calibri" pitchFamily="34" charset="-120"/>
              </a:rPr>
              <a:t>4 months to a production-grade v1 from this prototype</a:t>
            </a:r>
            <a:endParaRPr lang="en-US" sz="1200" dirty="0"/>
          </a:p>
        </p:txBody>
      </p:sp>
      <p:sp>
        <p:nvSpPr>
          <p:cNvPr id="10" name="Shape 8"/>
          <p:cNvSpPr/>
          <p:nvPr/>
        </p:nvSpPr>
        <p:spPr>
          <a:xfrm>
            <a:off x="548640" y="3419856"/>
            <a:ext cx="6035040" cy="804672"/>
          </a:xfrm>
          <a:prstGeom prst="roundRect">
            <a:avLst>
              <a:gd name="adj" fmla="val 4545"/>
            </a:avLst>
          </a:prstGeom>
          <a:solidFill>
            <a:srgbClr val="16213A"/>
          </a:solidFill>
          <a:ln w="12700">
            <a:solidFill>
              <a:srgbClr val="1E2A47"/>
            </a:solidFill>
            <a:prstDash val="solid"/>
          </a:ln>
        </p:spPr>
      </p:sp>
      <p:sp>
        <p:nvSpPr>
          <p:cNvPr id="11" name="Text 9"/>
          <p:cNvSpPr txBox="1"/>
          <p:nvPr/>
        </p:nvSpPr>
        <p:spPr>
          <a:xfrm>
            <a:off x="804672" y="3529584"/>
            <a:ext cx="1645920" cy="585216"/>
          </a:xfrm>
          <a:prstGeom prst="rect">
            <a:avLst/>
          </a:prstGeom>
          <a:noFill/>
          <a:ln/>
        </p:spPr>
        <p:txBody>
          <a:bodyPr wrap="square" lIns="0" tIns="0" rIns="0" bIns="0" rtlCol="0" anchor="ctr"/>
          <a:lstStyle/>
          <a:p>
            <a:pPr indent="0" marL="0">
              <a:buNone/>
            </a:pPr>
            <a:r>
              <a:rPr lang="en-US" sz="1300" b="1" dirty="0">
                <a:solidFill>
                  <a:srgbClr val="FBBF24"/>
                </a:solidFill>
                <a:latin typeface="Arial" pitchFamily="34" charset="0"/>
                <a:ea typeface="Arial" pitchFamily="34" charset="-122"/>
                <a:cs typeface="Arial" pitchFamily="34" charset="-120"/>
              </a:rPr>
              <a:t>Build cost</a:t>
            </a:r>
            <a:endParaRPr lang="en-US" sz="1300" dirty="0"/>
          </a:p>
        </p:txBody>
      </p:sp>
      <p:sp>
        <p:nvSpPr>
          <p:cNvPr id="12" name="Text 10"/>
          <p:cNvSpPr txBox="1"/>
          <p:nvPr/>
        </p:nvSpPr>
        <p:spPr>
          <a:xfrm>
            <a:off x="2514600" y="3529584"/>
            <a:ext cx="3886200" cy="585216"/>
          </a:xfrm>
          <a:prstGeom prst="rect">
            <a:avLst/>
          </a:prstGeom>
          <a:noFill/>
          <a:ln/>
        </p:spPr>
        <p:txBody>
          <a:bodyPr wrap="square" lIns="0" tIns="0" rIns="0" bIns="0" rtlCol="0" anchor="ctr"/>
          <a:lstStyle/>
          <a:p>
            <a:pPr indent="0" marL="0">
              <a:lnSpc>
                <a:spcPts val="1500"/>
              </a:lnSpc>
              <a:buNone/>
            </a:pPr>
            <a:r>
              <a:rPr lang="en-US" sz="1200" dirty="0">
                <a:solidFill>
                  <a:srgbClr val="94A8C4"/>
                </a:solidFill>
                <a:latin typeface="Calibri" pitchFamily="34" charset="0"/>
                <a:ea typeface="Calibri" pitchFamily="34" charset="-122"/>
                <a:cs typeface="Calibri" pitchFamily="34" charset="-120"/>
              </a:rPr>
              <a:t>~$180,000 in salaries for that period</a:t>
            </a:r>
            <a:endParaRPr lang="en-US" sz="1200" dirty="0"/>
          </a:p>
        </p:txBody>
      </p:sp>
      <p:sp>
        <p:nvSpPr>
          <p:cNvPr id="13" name="Shape 11"/>
          <p:cNvSpPr/>
          <p:nvPr/>
        </p:nvSpPr>
        <p:spPr>
          <a:xfrm>
            <a:off x="548640" y="4334256"/>
            <a:ext cx="6035040" cy="804672"/>
          </a:xfrm>
          <a:prstGeom prst="roundRect">
            <a:avLst>
              <a:gd name="adj" fmla="val 4545"/>
            </a:avLst>
          </a:prstGeom>
          <a:solidFill>
            <a:srgbClr val="16213A"/>
          </a:solidFill>
          <a:ln w="12700">
            <a:solidFill>
              <a:srgbClr val="1E2A47"/>
            </a:solidFill>
            <a:prstDash val="solid"/>
          </a:ln>
        </p:spPr>
      </p:sp>
      <p:sp>
        <p:nvSpPr>
          <p:cNvPr id="14" name="Text 12"/>
          <p:cNvSpPr txBox="1"/>
          <p:nvPr/>
        </p:nvSpPr>
        <p:spPr>
          <a:xfrm>
            <a:off x="804672" y="4443984"/>
            <a:ext cx="1645920" cy="585216"/>
          </a:xfrm>
          <a:prstGeom prst="rect">
            <a:avLst/>
          </a:prstGeom>
          <a:noFill/>
          <a:ln/>
        </p:spPr>
        <p:txBody>
          <a:bodyPr wrap="square" lIns="0" tIns="0" rIns="0" bIns="0" rtlCol="0" anchor="ctr"/>
          <a:lstStyle/>
          <a:p>
            <a:pPr indent="0" marL="0">
              <a:buNone/>
            </a:pPr>
            <a:r>
              <a:rPr lang="en-US" sz="1300" b="1" dirty="0">
                <a:solidFill>
                  <a:srgbClr val="34D399"/>
                </a:solidFill>
                <a:latin typeface="Arial" pitchFamily="34" charset="0"/>
                <a:ea typeface="Arial" pitchFamily="34" charset="-122"/>
                <a:cs typeface="Arial" pitchFamily="34" charset="-120"/>
              </a:rPr>
              <a:t>Running cost</a:t>
            </a:r>
            <a:endParaRPr lang="en-US" sz="1300" dirty="0"/>
          </a:p>
        </p:txBody>
      </p:sp>
      <p:sp>
        <p:nvSpPr>
          <p:cNvPr id="15" name="Text 13"/>
          <p:cNvSpPr txBox="1"/>
          <p:nvPr/>
        </p:nvSpPr>
        <p:spPr>
          <a:xfrm>
            <a:off x="2514600" y="4443984"/>
            <a:ext cx="3886200" cy="585216"/>
          </a:xfrm>
          <a:prstGeom prst="rect">
            <a:avLst/>
          </a:prstGeom>
          <a:noFill/>
          <a:ln/>
        </p:spPr>
        <p:txBody>
          <a:bodyPr wrap="square" lIns="0" tIns="0" rIns="0" bIns="0" rtlCol="0" anchor="ctr"/>
          <a:lstStyle/>
          <a:p>
            <a:pPr indent="0" marL="0">
              <a:lnSpc>
                <a:spcPts val="1500"/>
              </a:lnSpc>
              <a:buNone/>
            </a:pPr>
            <a:r>
              <a:rPr lang="en-US" sz="1200" dirty="0">
                <a:solidFill>
                  <a:srgbClr val="94A8C4"/>
                </a:solidFill>
                <a:latin typeface="Calibri" pitchFamily="34" charset="0"/>
                <a:ea typeface="Calibri" pitchFamily="34" charset="-122"/>
                <a:cs typeface="Calibri" pitchFamily="34" charset="-120"/>
              </a:rPr>
              <a:t>~$0.05 per investigation in tokens — negligible beside one hour of downtime</a:t>
            </a:r>
            <a:endParaRPr lang="en-US" sz="1200" dirty="0"/>
          </a:p>
        </p:txBody>
      </p:sp>
      <p:sp>
        <p:nvSpPr>
          <p:cNvPr id="16" name="Shape 14"/>
          <p:cNvSpPr/>
          <p:nvPr/>
        </p:nvSpPr>
        <p:spPr>
          <a:xfrm>
            <a:off x="6885432" y="1591056"/>
            <a:ext cx="4754880" cy="3547872"/>
          </a:xfrm>
          <a:prstGeom prst="roundRect">
            <a:avLst>
              <a:gd name="adj" fmla="val 1031"/>
            </a:avLst>
          </a:prstGeom>
          <a:solidFill>
            <a:srgbClr val="16213A"/>
          </a:solidFill>
          <a:ln w="12700">
            <a:solidFill>
              <a:srgbClr val="1E2A47"/>
            </a:solidFill>
            <a:prstDash val="solid"/>
          </a:ln>
        </p:spPr>
      </p:sp>
      <p:sp>
        <p:nvSpPr>
          <p:cNvPr id="17" name="Text 15"/>
          <p:cNvSpPr txBox="1"/>
          <p:nvPr/>
        </p:nvSpPr>
        <p:spPr>
          <a:xfrm>
            <a:off x="7159752" y="1819656"/>
            <a:ext cx="4206240" cy="237744"/>
          </a:xfrm>
          <a:prstGeom prst="rect">
            <a:avLst/>
          </a:prstGeom>
          <a:noFill/>
          <a:ln/>
        </p:spPr>
        <p:txBody>
          <a:bodyPr wrap="square" lIns="0" tIns="0" rIns="0" bIns="0" rtlCol="0" anchor="ctr"/>
          <a:lstStyle/>
          <a:p>
            <a:pPr indent="0" marL="0">
              <a:buNone/>
            </a:pPr>
            <a:r>
              <a:rPr lang="en-US" sz="1000" b="1" spc="150" kern="0" dirty="0">
                <a:solidFill>
                  <a:srgbClr val="22D3EE"/>
                </a:solidFill>
                <a:latin typeface="Calibri" pitchFamily="34" charset="0"/>
                <a:ea typeface="Calibri" pitchFamily="34" charset="-122"/>
                <a:cs typeface="Calibri" pitchFamily="34" charset="-120"/>
              </a:rPr>
              <a:t>WHAT THIS PROTOTYPE COST</a:t>
            </a:r>
            <a:endParaRPr lang="en-US" sz="1000" dirty="0"/>
          </a:p>
        </p:txBody>
      </p:sp>
      <p:sp>
        <p:nvSpPr>
          <p:cNvPr id="18" name="Text 16"/>
          <p:cNvSpPr txBox="1"/>
          <p:nvPr/>
        </p:nvSpPr>
        <p:spPr>
          <a:xfrm>
            <a:off x="7159752" y="2121408"/>
            <a:ext cx="4206240" cy="384048"/>
          </a:xfrm>
          <a:prstGeom prst="rect">
            <a:avLst/>
          </a:prstGeom>
          <a:noFill/>
          <a:ln/>
        </p:spPr>
        <p:txBody>
          <a:bodyPr wrap="square" lIns="0" tIns="0" rIns="0" bIns="0" rtlCol="0" anchor="ctr"/>
          <a:lstStyle/>
          <a:p>
            <a:pPr indent="0" marL="0">
              <a:buNone/>
            </a:pPr>
            <a:r>
              <a:rPr lang="en-US" sz="2000" b="1" dirty="0">
                <a:solidFill>
                  <a:srgbClr val="E9EFFA"/>
                </a:solidFill>
                <a:latin typeface="Arial" pitchFamily="34" charset="0"/>
                <a:ea typeface="Arial" pitchFamily="34" charset="-122"/>
                <a:cs typeface="Arial" pitchFamily="34" charset="-120"/>
              </a:rPr>
              <a:t>One builder, four days</a:t>
            </a:r>
            <a:endParaRPr lang="en-US" sz="2000" dirty="0"/>
          </a:p>
        </p:txBody>
      </p:sp>
      <p:sp>
        <p:nvSpPr>
          <p:cNvPr id="19" name="Text 17"/>
          <p:cNvSpPr txBox="1"/>
          <p:nvPr/>
        </p:nvSpPr>
        <p:spPr>
          <a:xfrm>
            <a:off x="7159752" y="2596896"/>
            <a:ext cx="4206240" cy="2377440"/>
          </a:xfrm>
          <a:prstGeom prst="rect">
            <a:avLst/>
          </a:prstGeom>
          <a:noFill/>
          <a:ln/>
        </p:spPr>
        <p:txBody>
          <a:bodyPr wrap="square" lIns="0" tIns="0" rIns="0" bIns="0" rtlCol="0" anchor="ctr"/>
          <a:lstStyle/>
          <a:p>
            <a:pPr indent="0" marL="0">
              <a:lnSpc>
                <a:spcPts val="1800"/>
              </a:lnSpc>
              <a:buNone/>
            </a:pPr>
            <a:r>
              <a:rPr lang="en-US" sz="1250" dirty="0">
                <a:solidFill>
                  <a:srgbClr val="94A8C4"/>
                </a:solidFill>
                <a:latin typeface="Calibri" pitchFamily="34" charset="0"/>
                <a:ea typeface="Calibri" pitchFamily="34" charset="-122"/>
                <a:cs typeface="Calibri" pitchFamily="34" charset="-120"/>
              </a:rPr>
              <a:t>The whole loop — detection, an agent with nine tools, a safety layer, Freshservice integration with approvals read back, a verifiable audit chain, a blast-radius map and voice escalation — was built by one person, using Claude, in the days around this hackathon.</a:t>
            </a:r>
            <a:endParaRPr lang="en-US" sz="1250" dirty="0"/>
          </a:p>
          <a:p>
            <a:pPr indent="0" marL="0">
              <a:lnSpc>
                <a:spcPts val="1800"/>
              </a:lnSpc>
              <a:buNone/>
            </a:pPr>
            <a:endParaRPr lang="en-US" sz="1250" dirty="0"/>
          </a:p>
          <a:p>
            <a:pPr indent="0" marL="0">
              <a:lnSpc>
                <a:spcPts val="1800"/>
              </a:lnSpc>
              <a:buNone/>
            </a:pPr>
            <a:r>
              <a:rPr lang="en-US" sz="1250" dirty="0">
                <a:solidFill>
                  <a:srgbClr val="94A8C4"/>
                </a:solidFill>
                <a:latin typeface="Calibri" pitchFamily="34" charset="0"/>
                <a:ea typeface="Calibri" pitchFamily="34" charset="-122"/>
                <a:cs typeface="Calibri" pitchFamily="34" charset="-120"/>
              </a:rPr>
              <a:t>That is the feasibility argument. A team of four has no excuse.</a:t>
            </a:r>
            <a:endParaRPr lang="en-US" sz="1250" dirty="0"/>
          </a:p>
        </p:txBody>
      </p:sp>
      <p:sp>
        <p:nvSpPr>
          <p:cNvPr id="20" name="Shape 18"/>
          <p:cNvSpPr/>
          <p:nvPr/>
        </p:nvSpPr>
        <p:spPr>
          <a:xfrm>
            <a:off x="548640" y="5340096"/>
            <a:ext cx="11091672" cy="658368"/>
          </a:xfrm>
          <a:prstGeom prst="roundRect">
            <a:avLst>
              <a:gd name="adj" fmla="val 5556"/>
            </a:avLst>
          </a:prstGeom>
          <a:solidFill>
            <a:srgbClr val="1E2A47"/>
          </a:solidFill>
          <a:ln w="12700">
            <a:solidFill>
              <a:srgbClr val="1E2A47"/>
            </a:solidFill>
            <a:prstDash val="solid"/>
          </a:ln>
        </p:spPr>
      </p:sp>
      <p:sp>
        <p:nvSpPr>
          <p:cNvPr id="21" name="Text 19"/>
          <p:cNvSpPr txBox="1"/>
          <p:nvPr/>
        </p:nvSpPr>
        <p:spPr>
          <a:xfrm>
            <a:off x="822960" y="5449824"/>
            <a:ext cx="2926080" cy="438912"/>
          </a:xfrm>
          <a:prstGeom prst="rect">
            <a:avLst/>
          </a:prstGeom>
          <a:noFill/>
          <a:ln/>
        </p:spPr>
        <p:txBody>
          <a:bodyPr wrap="square" lIns="0" tIns="0" rIns="0" bIns="0" rtlCol="0" anchor="ctr"/>
          <a:lstStyle/>
          <a:p>
            <a:pPr indent="0" marL="0">
              <a:buNone/>
            </a:pPr>
            <a:r>
              <a:rPr lang="en-US" sz="1200" b="1" dirty="0">
                <a:solidFill>
                  <a:srgbClr val="E9EFFA"/>
                </a:solidFill>
                <a:latin typeface="Calibri" pitchFamily="34" charset="0"/>
                <a:ea typeface="Calibri" pitchFamily="34" charset="-122"/>
                <a:cs typeface="Calibri" pitchFamily="34" charset="-120"/>
              </a:rPr>
              <a:t>Revenue sketch (illustrative):</a:t>
            </a:r>
            <a:endParaRPr lang="en-US" sz="1200" dirty="0"/>
          </a:p>
        </p:txBody>
      </p:sp>
      <p:sp>
        <p:nvSpPr>
          <p:cNvPr id="22" name="Text 20"/>
          <p:cNvSpPr txBox="1"/>
          <p:nvPr/>
        </p:nvSpPr>
        <p:spPr>
          <a:xfrm>
            <a:off x="3840480" y="5449824"/>
            <a:ext cx="7589520" cy="438912"/>
          </a:xfrm>
          <a:prstGeom prst="rect">
            <a:avLst/>
          </a:prstGeom>
          <a:noFill/>
          <a:ln/>
        </p:spPr>
        <p:txBody>
          <a:bodyPr wrap="square" lIns="0" tIns="0" rIns="0" bIns="0" rtlCol="0" anchor="ctr"/>
          <a:lstStyle/>
          <a:p>
            <a:pPr indent="0" marL="0">
              <a:buNone/>
            </a:pPr>
            <a:r>
              <a:rPr lang="en-US" sz="1200" dirty="0">
                <a:solidFill>
                  <a:srgbClr val="94A8C4"/>
                </a:solidFill>
                <a:latin typeface="Calibri" pitchFamily="34" charset="0"/>
                <a:ea typeface="Calibri" pitchFamily="34" charset="-122"/>
                <a:cs typeface="Calibri" pitchFamily="34" charset="-120"/>
              </a:rPr>
              <a:t>100 customers × 10 monitored services × $60/month ≈ $720K ARR in year one. A sketch, not a forecast — we have no adoption data yet.</a:t>
            </a:r>
            <a:endParaRPr lang="en-US" sz="1200" dirty="0"/>
          </a:p>
        </p:txBody>
      </p:sp>
      <p:sp>
        <p:nvSpPr>
          <p:cNvPr id="23" name="Text 21"/>
          <p:cNvSpPr txBox="1"/>
          <p:nvPr/>
        </p:nvSpPr>
        <p:spPr>
          <a:xfrm>
            <a:off x="548640" y="6400800"/>
            <a:ext cx="3657600" cy="256032"/>
          </a:xfrm>
          <a:prstGeom prst="rect">
            <a:avLst/>
          </a:prstGeom>
          <a:noFill/>
          <a:ln/>
        </p:spPr>
        <p:txBody>
          <a:bodyPr wrap="square" lIns="0" tIns="0" rIns="0" bIns="0" rtlCol="0" anchor="ctr"/>
          <a:lstStyle/>
          <a:p>
            <a:pPr indent="0" marL="0">
              <a:buNone/>
            </a:pPr>
            <a:r>
              <a:rPr lang="en-US" sz="1000" dirty="0">
                <a:solidFill>
                  <a:srgbClr val="5A6E8C"/>
                </a:solidFill>
                <a:latin typeface="Calibri" pitchFamily="34" charset="0"/>
                <a:ea typeface="Calibri" pitchFamily="34" charset="-122"/>
                <a:cs typeface="Calibri" pitchFamily="34" charset="-120"/>
              </a:rPr>
              <a:t>SentinelOps AI</a:t>
            </a:r>
            <a:endParaRPr lang="en-US" sz="1000" dirty="0"/>
          </a:p>
        </p:txBody>
      </p:sp>
      <p:sp>
        <p:nvSpPr>
          <p:cNvPr id="24" name="Text 22"/>
          <p:cNvSpPr txBox="1"/>
          <p:nvPr/>
        </p:nvSpPr>
        <p:spPr>
          <a:xfrm>
            <a:off x="10725912" y="6400800"/>
            <a:ext cx="914400" cy="256032"/>
          </a:xfrm>
          <a:prstGeom prst="rect">
            <a:avLst/>
          </a:prstGeom>
          <a:noFill/>
          <a:ln/>
        </p:spPr>
        <p:txBody>
          <a:bodyPr wrap="square" lIns="0" tIns="0" rIns="0" bIns="0" rtlCol="0" anchor="ctr"/>
          <a:lstStyle/>
          <a:p>
            <a:pPr algn="r" indent="0" marL="0">
              <a:buNone/>
            </a:pPr>
            <a:r>
              <a:rPr lang="en-US" sz="1000" dirty="0">
                <a:solidFill>
                  <a:srgbClr val="5A6E8C"/>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411480"/>
            <a:ext cx="10058400" cy="256032"/>
          </a:xfrm>
          <a:prstGeom prst="rect">
            <a:avLst/>
          </a:prstGeom>
          <a:noFill/>
          <a:ln/>
        </p:spPr>
        <p:txBody>
          <a:bodyPr wrap="square" lIns="0" tIns="0" rIns="0" bIns="0" rtlCol="0" anchor="ctr"/>
          <a:lstStyle/>
          <a:p>
            <a:pPr indent="0" marL="0">
              <a:buNone/>
            </a:pPr>
            <a:r>
              <a:rPr lang="en-US" sz="1200" b="1" spc="200" kern="0" dirty="0">
                <a:solidFill>
                  <a:srgbClr val="22D3EE"/>
                </a:solidFill>
                <a:latin typeface="Calibri" pitchFamily="34" charset="0"/>
                <a:ea typeface="Calibri" pitchFamily="34" charset="-122"/>
                <a:cs typeface="Calibri" pitchFamily="34" charset="-120"/>
              </a:rPr>
              <a:t>RISKS AND ASSUMPTIONS</a:t>
            </a:r>
            <a:endParaRPr lang="en-US" sz="1200" dirty="0"/>
          </a:p>
        </p:txBody>
      </p:sp>
      <p:sp>
        <p:nvSpPr>
          <p:cNvPr id="3" name="Text 1"/>
          <p:cNvSpPr txBox="1"/>
          <p:nvPr/>
        </p:nvSpPr>
        <p:spPr>
          <a:xfrm>
            <a:off x="548640" y="722376"/>
            <a:ext cx="11064240" cy="475488"/>
          </a:xfrm>
          <a:prstGeom prst="rect">
            <a:avLst/>
          </a:prstGeom>
          <a:noFill/>
          <a:ln/>
        </p:spPr>
        <p:txBody>
          <a:bodyPr wrap="square" lIns="0" tIns="0" rIns="0" bIns="0" rtlCol="0" anchor="ctr"/>
          <a:lstStyle/>
          <a:p>
            <a:pPr indent="0" marL="0">
              <a:buNone/>
            </a:pPr>
            <a:r>
              <a:rPr lang="en-US" sz="3000" b="1" dirty="0">
                <a:solidFill>
                  <a:srgbClr val="E9EFFA"/>
                </a:solidFill>
                <a:latin typeface="Arial" pitchFamily="34" charset="0"/>
                <a:ea typeface="Arial" pitchFamily="34" charset="-122"/>
                <a:cs typeface="Arial" pitchFamily="34" charset="-120"/>
              </a:rPr>
              <a:t>What could go wrong, stated plainly</a:t>
            </a:r>
            <a:endParaRPr lang="en-US" sz="3000" dirty="0"/>
          </a:p>
        </p:txBody>
      </p:sp>
      <p:sp>
        <p:nvSpPr>
          <p:cNvPr id="4" name="Shape 2"/>
          <p:cNvSpPr/>
          <p:nvPr/>
        </p:nvSpPr>
        <p:spPr>
          <a:xfrm>
            <a:off x="548640" y="1591056"/>
            <a:ext cx="5394960" cy="1691640"/>
          </a:xfrm>
          <a:prstGeom prst="roundRect">
            <a:avLst>
              <a:gd name="adj" fmla="val 2162"/>
            </a:avLst>
          </a:prstGeom>
          <a:solidFill>
            <a:srgbClr val="16213A"/>
          </a:solidFill>
          <a:ln w="12700">
            <a:solidFill>
              <a:srgbClr val="1E2A47"/>
            </a:solidFill>
            <a:prstDash val="solid"/>
          </a:ln>
        </p:spPr>
      </p:sp>
      <p:sp>
        <p:nvSpPr>
          <p:cNvPr id="5" name="Shape 3"/>
          <p:cNvSpPr/>
          <p:nvPr/>
        </p:nvSpPr>
        <p:spPr>
          <a:xfrm>
            <a:off x="804672" y="1828800"/>
            <a:ext cx="365760" cy="365760"/>
          </a:xfrm>
          <a:prstGeom prst="roundRect">
            <a:avLst>
              <a:gd name="adj" fmla="val 25000"/>
            </a:avLst>
          </a:prstGeom>
          <a:solidFill>
            <a:srgbClr val="1E2A47"/>
          </a:solidFill>
          <a:ln w="12700">
            <a:solidFill>
              <a:srgbClr val="F87171"/>
            </a:solidFill>
            <a:prstDash val="solid"/>
          </a:ln>
        </p:spPr>
      </p:sp>
      <p:sp>
        <p:nvSpPr>
          <p:cNvPr id="6" name="Text 4"/>
          <p:cNvSpPr txBox="1"/>
          <p:nvPr/>
        </p:nvSpPr>
        <p:spPr>
          <a:xfrm>
            <a:off x="804672" y="1828800"/>
            <a:ext cx="365760" cy="365760"/>
          </a:xfrm>
          <a:prstGeom prst="rect">
            <a:avLst/>
          </a:prstGeom>
          <a:noFill/>
          <a:ln/>
        </p:spPr>
        <p:txBody>
          <a:bodyPr wrap="square" lIns="0" tIns="0" rIns="0" bIns="0" rtlCol="0" anchor="ctr"/>
          <a:lstStyle/>
          <a:p>
            <a:pPr algn="ctr" indent="0" marL="0">
              <a:buNone/>
            </a:pPr>
            <a:r>
              <a:rPr lang="en-US" sz="1100" b="1" dirty="0">
                <a:solidFill>
                  <a:srgbClr val="F87171"/>
                </a:solidFill>
                <a:latin typeface="Arial" pitchFamily="34" charset="0"/>
                <a:ea typeface="Arial" pitchFamily="34" charset="-122"/>
                <a:cs typeface="Arial" pitchFamily="34" charset="-120"/>
              </a:rPr>
              <a:t>!</a:t>
            </a:r>
            <a:endParaRPr lang="en-US" sz="1100" dirty="0"/>
          </a:p>
        </p:txBody>
      </p:sp>
      <p:sp>
        <p:nvSpPr>
          <p:cNvPr id="7" name="Text 5"/>
          <p:cNvSpPr txBox="1"/>
          <p:nvPr/>
        </p:nvSpPr>
        <p:spPr>
          <a:xfrm>
            <a:off x="1298448" y="1810512"/>
            <a:ext cx="4389120" cy="402336"/>
          </a:xfrm>
          <a:prstGeom prst="rect">
            <a:avLst/>
          </a:prstGeom>
          <a:noFill/>
          <a:ln/>
        </p:spPr>
        <p:txBody>
          <a:bodyPr wrap="square" lIns="0" tIns="0" rIns="0" bIns="0" rtlCol="0" anchor="ctr"/>
          <a:lstStyle/>
          <a:p>
            <a:pPr indent="0" marL="0">
              <a:lnSpc>
                <a:spcPts val="1700"/>
              </a:lnSpc>
              <a:buNone/>
            </a:pPr>
            <a:r>
              <a:rPr lang="en-US" sz="1350" b="1" dirty="0">
                <a:solidFill>
                  <a:srgbClr val="E9EFFA"/>
                </a:solidFill>
                <a:latin typeface="Arial" pitchFamily="34" charset="0"/>
                <a:ea typeface="Arial" pitchFamily="34" charset="-122"/>
                <a:cs typeface="Arial" pitchFamily="34" charset="-120"/>
              </a:rPr>
              <a:t>Trust is the adoption barrier, not capability</a:t>
            </a:r>
            <a:endParaRPr lang="en-US" sz="1350" dirty="0"/>
          </a:p>
        </p:txBody>
      </p:sp>
      <p:sp>
        <p:nvSpPr>
          <p:cNvPr id="8" name="Text 6"/>
          <p:cNvSpPr txBox="1"/>
          <p:nvPr/>
        </p:nvSpPr>
        <p:spPr>
          <a:xfrm>
            <a:off x="804672" y="2340864"/>
            <a:ext cx="4846320" cy="822960"/>
          </a:xfrm>
          <a:prstGeom prst="rect">
            <a:avLst/>
          </a:prstGeom>
          <a:noFill/>
          <a:ln/>
        </p:spPr>
        <p:txBody>
          <a:bodyPr wrap="square" lIns="0" tIns="0" rIns="0" bIns="0" rtlCol="0" anchor="ctr"/>
          <a:lstStyle/>
          <a:p>
            <a:pPr indent="0" marL="0">
              <a:lnSpc>
                <a:spcPts val="1600"/>
              </a:lnSpc>
              <a:buNone/>
            </a:pPr>
            <a:r>
              <a:rPr lang="en-US" sz="1200" dirty="0">
                <a:solidFill>
                  <a:srgbClr val="94A8C4"/>
                </a:solidFill>
                <a:latin typeface="Calibri" pitchFamily="34" charset="0"/>
                <a:ea typeface="Calibri" pitchFamily="34" charset="-122"/>
                <a:cs typeface="Calibri" pitchFamily="34" charset="-120"/>
              </a:rPr>
              <a:t>Teams may simply refuse to let an AI touch production, however good the fences are. Mitigation: the free Observe tier proposes nothing — it earns trust before asking for it.</a:t>
            </a:r>
            <a:endParaRPr lang="en-US" sz="1200" dirty="0"/>
          </a:p>
        </p:txBody>
      </p:sp>
      <p:sp>
        <p:nvSpPr>
          <p:cNvPr id="9" name="Shape 7"/>
          <p:cNvSpPr/>
          <p:nvPr/>
        </p:nvSpPr>
        <p:spPr>
          <a:xfrm>
            <a:off x="6245352" y="1591056"/>
            <a:ext cx="5394960" cy="1691640"/>
          </a:xfrm>
          <a:prstGeom prst="roundRect">
            <a:avLst>
              <a:gd name="adj" fmla="val 2162"/>
            </a:avLst>
          </a:prstGeom>
          <a:solidFill>
            <a:srgbClr val="16213A"/>
          </a:solidFill>
          <a:ln w="12700">
            <a:solidFill>
              <a:srgbClr val="1E2A47"/>
            </a:solidFill>
            <a:prstDash val="solid"/>
          </a:ln>
        </p:spPr>
      </p:sp>
      <p:sp>
        <p:nvSpPr>
          <p:cNvPr id="10" name="Shape 8"/>
          <p:cNvSpPr/>
          <p:nvPr/>
        </p:nvSpPr>
        <p:spPr>
          <a:xfrm>
            <a:off x="6501384" y="1828800"/>
            <a:ext cx="365760" cy="365760"/>
          </a:xfrm>
          <a:prstGeom prst="roundRect">
            <a:avLst>
              <a:gd name="adj" fmla="val 25000"/>
            </a:avLst>
          </a:prstGeom>
          <a:solidFill>
            <a:srgbClr val="1E2A47"/>
          </a:solidFill>
          <a:ln w="12700">
            <a:solidFill>
              <a:srgbClr val="FBBF24"/>
            </a:solidFill>
            <a:prstDash val="solid"/>
          </a:ln>
        </p:spPr>
      </p:sp>
      <p:sp>
        <p:nvSpPr>
          <p:cNvPr id="11" name="Text 9"/>
          <p:cNvSpPr txBox="1"/>
          <p:nvPr/>
        </p:nvSpPr>
        <p:spPr>
          <a:xfrm>
            <a:off x="6501384" y="1828800"/>
            <a:ext cx="365760" cy="365760"/>
          </a:xfrm>
          <a:prstGeom prst="rect">
            <a:avLst/>
          </a:prstGeom>
          <a:noFill/>
          <a:ln/>
        </p:spPr>
        <p:txBody>
          <a:bodyPr wrap="square" lIns="0" tIns="0" rIns="0" bIns="0" rtlCol="0" anchor="ctr"/>
          <a:lstStyle/>
          <a:p>
            <a:pPr algn="ctr" indent="0" marL="0">
              <a:buNone/>
            </a:pPr>
            <a:r>
              <a:rPr lang="en-US" sz="1100" b="1" dirty="0">
                <a:solidFill>
                  <a:srgbClr val="FBBF24"/>
                </a:solidFill>
                <a:latin typeface="Arial" pitchFamily="34" charset="0"/>
                <a:ea typeface="Arial" pitchFamily="34" charset="-122"/>
                <a:cs typeface="Arial" pitchFamily="34" charset="-120"/>
              </a:rPr>
              <a:t>!</a:t>
            </a:r>
            <a:endParaRPr lang="en-US" sz="1100" dirty="0"/>
          </a:p>
        </p:txBody>
      </p:sp>
      <p:sp>
        <p:nvSpPr>
          <p:cNvPr id="12" name="Text 10"/>
          <p:cNvSpPr txBox="1"/>
          <p:nvPr/>
        </p:nvSpPr>
        <p:spPr>
          <a:xfrm>
            <a:off x="6995160" y="1810512"/>
            <a:ext cx="4389120" cy="402336"/>
          </a:xfrm>
          <a:prstGeom prst="rect">
            <a:avLst/>
          </a:prstGeom>
          <a:noFill/>
          <a:ln/>
        </p:spPr>
        <p:txBody>
          <a:bodyPr wrap="square" lIns="0" tIns="0" rIns="0" bIns="0" rtlCol="0" anchor="ctr"/>
          <a:lstStyle/>
          <a:p>
            <a:pPr indent="0" marL="0">
              <a:lnSpc>
                <a:spcPts val="1700"/>
              </a:lnSpc>
              <a:buNone/>
            </a:pPr>
            <a:r>
              <a:rPr lang="en-US" sz="1350" b="1" dirty="0">
                <a:solidFill>
                  <a:srgbClr val="E9EFFA"/>
                </a:solidFill>
                <a:latin typeface="Arial" pitchFamily="34" charset="0"/>
                <a:ea typeface="Arial" pitchFamily="34" charset="-122"/>
                <a:cs typeface="Arial" pitchFamily="34" charset="-120"/>
              </a:rPr>
              <a:t>The action catalog is the ceiling</a:t>
            </a:r>
            <a:endParaRPr lang="en-US" sz="1350" dirty="0"/>
          </a:p>
        </p:txBody>
      </p:sp>
      <p:sp>
        <p:nvSpPr>
          <p:cNvPr id="13" name="Text 11"/>
          <p:cNvSpPr txBox="1"/>
          <p:nvPr/>
        </p:nvSpPr>
        <p:spPr>
          <a:xfrm>
            <a:off x="6501384" y="2340864"/>
            <a:ext cx="4846320" cy="822960"/>
          </a:xfrm>
          <a:prstGeom prst="rect">
            <a:avLst/>
          </a:prstGeom>
          <a:noFill/>
          <a:ln/>
        </p:spPr>
        <p:txBody>
          <a:bodyPr wrap="square" lIns="0" tIns="0" rIns="0" bIns="0" rtlCol="0" anchor="ctr"/>
          <a:lstStyle/>
          <a:p>
            <a:pPr indent="0" marL="0">
              <a:lnSpc>
                <a:spcPts val="1600"/>
              </a:lnSpc>
              <a:buNone/>
            </a:pPr>
            <a:r>
              <a:rPr lang="en-US" sz="1200" dirty="0">
                <a:solidFill>
                  <a:srgbClr val="94A8C4"/>
                </a:solidFill>
                <a:latin typeface="Calibri" pitchFamily="34" charset="0"/>
                <a:ea typeface="Calibri" pitchFamily="34" charset="-122"/>
                <a:cs typeface="Calibri" pitchFamily="34" charset="-120"/>
              </a:rPr>
              <a:t>Four actions cover our demo. Real estates need many more, and every new action is a new thing the AI can do — each needs its own validation, risk class and rollback. This grows slowly and deliberately, by design.</a:t>
            </a:r>
            <a:endParaRPr lang="en-US" sz="1200" dirty="0"/>
          </a:p>
        </p:txBody>
      </p:sp>
      <p:sp>
        <p:nvSpPr>
          <p:cNvPr id="14" name="Shape 12"/>
          <p:cNvSpPr/>
          <p:nvPr/>
        </p:nvSpPr>
        <p:spPr>
          <a:xfrm>
            <a:off x="548640" y="3419856"/>
            <a:ext cx="5394960" cy="1691640"/>
          </a:xfrm>
          <a:prstGeom prst="roundRect">
            <a:avLst>
              <a:gd name="adj" fmla="val 2162"/>
            </a:avLst>
          </a:prstGeom>
          <a:solidFill>
            <a:srgbClr val="16213A"/>
          </a:solidFill>
          <a:ln w="12700">
            <a:solidFill>
              <a:srgbClr val="1E2A47"/>
            </a:solidFill>
            <a:prstDash val="solid"/>
          </a:ln>
        </p:spPr>
      </p:sp>
      <p:sp>
        <p:nvSpPr>
          <p:cNvPr id="15" name="Shape 13"/>
          <p:cNvSpPr/>
          <p:nvPr/>
        </p:nvSpPr>
        <p:spPr>
          <a:xfrm>
            <a:off x="804672" y="3657600"/>
            <a:ext cx="365760" cy="365760"/>
          </a:xfrm>
          <a:prstGeom prst="roundRect">
            <a:avLst>
              <a:gd name="adj" fmla="val 25000"/>
            </a:avLst>
          </a:prstGeom>
          <a:solidFill>
            <a:srgbClr val="1E2A47"/>
          </a:solidFill>
          <a:ln w="12700">
            <a:solidFill>
              <a:srgbClr val="FBBF24"/>
            </a:solidFill>
            <a:prstDash val="solid"/>
          </a:ln>
        </p:spPr>
      </p:sp>
      <p:sp>
        <p:nvSpPr>
          <p:cNvPr id="16" name="Text 14"/>
          <p:cNvSpPr txBox="1"/>
          <p:nvPr/>
        </p:nvSpPr>
        <p:spPr>
          <a:xfrm>
            <a:off x="804672" y="3657600"/>
            <a:ext cx="365760" cy="365760"/>
          </a:xfrm>
          <a:prstGeom prst="rect">
            <a:avLst/>
          </a:prstGeom>
          <a:noFill/>
          <a:ln/>
        </p:spPr>
        <p:txBody>
          <a:bodyPr wrap="square" lIns="0" tIns="0" rIns="0" bIns="0" rtlCol="0" anchor="ctr"/>
          <a:lstStyle/>
          <a:p>
            <a:pPr algn="ctr" indent="0" marL="0">
              <a:buNone/>
            </a:pPr>
            <a:r>
              <a:rPr lang="en-US" sz="1100" b="1" dirty="0">
                <a:solidFill>
                  <a:srgbClr val="FBBF24"/>
                </a:solidFill>
                <a:latin typeface="Arial" pitchFamily="34" charset="0"/>
                <a:ea typeface="Arial" pitchFamily="34" charset="-122"/>
                <a:cs typeface="Arial" pitchFamily="34" charset="-120"/>
              </a:rPr>
              <a:t>!</a:t>
            </a:r>
            <a:endParaRPr lang="en-US" sz="1100" dirty="0"/>
          </a:p>
        </p:txBody>
      </p:sp>
      <p:sp>
        <p:nvSpPr>
          <p:cNvPr id="17" name="Text 15"/>
          <p:cNvSpPr txBox="1"/>
          <p:nvPr/>
        </p:nvSpPr>
        <p:spPr>
          <a:xfrm>
            <a:off x="1298448" y="3639312"/>
            <a:ext cx="4389120" cy="402336"/>
          </a:xfrm>
          <a:prstGeom prst="rect">
            <a:avLst/>
          </a:prstGeom>
          <a:noFill/>
          <a:ln/>
        </p:spPr>
        <p:txBody>
          <a:bodyPr wrap="square" lIns="0" tIns="0" rIns="0" bIns="0" rtlCol="0" anchor="ctr"/>
          <a:lstStyle/>
          <a:p>
            <a:pPr indent="0" marL="0">
              <a:lnSpc>
                <a:spcPts val="1700"/>
              </a:lnSpc>
              <a:buNone/>
            </a:pPr>
            <a:r>
              <a:rPr lang="en-US" sz="1350" b="1" dirty="0">
                <a:solidFill>
                  <a:srgbClr val="E9EFFA"/>
                </a:solidFill>
                <a:latin typeface="Arial" pitchFamily="34" charset="0"/>
                <a:ea typeface="Arial" pitchFamily="34" charset="-122"/>
                <a:cs typeface="Arial" pitchFamily="34" charset="-120"/>
              </a:rPr>
              <a:t>Noise at real scale is unsolved</a:t>
            </a:r>
            <a:endParaRPr lang="en-US" sz="1350" dirty="0"/>
          </a:p>
        </p:txBody>
      </p:sp>
      <p:sp>
        <p:nvSpPr>
          <p:cNvPr id="18" name="Text 16"/>
          <p:cNvSpPr txBox="1"/>
          <p:nvPr/>
        </p:nvSpPr>
        <p:spPr>
          <a:xfrm>
            <a:off x="804672" y="4169664"/>
            <a:ext cx="4846320" cy="822960"/>
          </a:xfrm>
          <a:prstGeom prst="rect">
            <a:avLst/>
          </a:prstGeom>
          <a:noFill/>
          <a:ln/>
        </p:spPr>
        <p:txBody>
          <a:bodyPr wrap="square" lIns="0" tIns="0" rIns="0" bIns="0" rtlCol="0" anchor="ctr"/>
          <a:lstStyle/>
          <a:p>
            <a:pPr indent="0" marL="0">
              <a:lnSpc>
                <a:spcPts val="1600"/>
              </a:lnSpc>
              <a:buNone/>
            </a:pPr>
            <a:r>
              <a:rPr lang="en-US" sz="1200" dirty="0">
                <a:solidFill>
                  <a:srgbClr val="94A8C4"/>
                </a:solidFill>
                <a:latin typeface="Calibri" pitchFamily="34" charset="0"/>
                <a:ea typeface="Calibri" pitchFamily="34" charset="-122"/>
                <a:cs typeface="Calibri" pitchFamily="34" charset="-120"/>
              </a:rPr>
              <a:t>Two services and one threshold is easy. Two hundred services means correlated alerts and an incident storm. Alert grouping is Phase 2 and we have not built it.</a:t>
            </a:r>
            <a:endParaRPr lang="en-US" sz="1200" dirty="0"/>
          </a:p>
        </p:txBody>
      </p:sp>
      <p:sp>
        <p:nvSpPr>
          <p:cNvPr id="19" name="Shape 17"/>
          <p:cNvSpPr/>
          <p:nvPr/>
        </p:nvSpPr>
        <p:spPr>
          <a:xfrm>
            <a:off x="6245352" y="3419856"/>
            <a:ext cx="5394960" cy="1691640"/>
          </a:xfrm>
          <a:prstGeom prst="roundRect">
            <a:avLst>
              <a:gd name="adj" fmla="val 2162"/>
            </a:avLst>
          </a:prstGeom>
          <a:solidFill>
            <a:srgbClr val="16213A"/>
          </a:solidFill>
          <a:ln w="12700">
            <a:solidFill>
              <a:srgbClr val="1E2A47"/>
            </a:solidFill>
            <a:prstDash val="solid"/>
          </a:ln>
        </p:spPr>
      </p:sp>
      <p:sp>
        <p:nvSpPr>
          <p:cNvPr id="20" name="Shape 18"/>
          <p:cNvSpPr/>
          <p:nvPr/>
        </p:nvSpPr>
        <p:spPr>
          <a:xfrm>
            <a:off x="6501384" y="3657600"/>
            <a:ext cx="365760" cy="365760"/>
          </a:xfrm>
          <a:prstGeom prst="roundRect">
            <a:avLst>
              <a:gd name="adj" fmla="val 25000"/>
            </a:avLst>
          </a:prstGeom>
          <a:solidFill>
            <a:srgbClr val="1E2A47"/>
          </a:solidFill>
          <a:ln w="12700">
            <a:solidFill>
              <a:srgbClr val="22D3EE"/>
            </a:solidFill>
            <a:prstDash val="solid"/>
          </a:ln>
        </p:spPr>
      </p:sp>
      <p:sp>
        <p:nvSpPr>
          <p:cNvPr id="21" name="Text 19"/>
          <p:cNvSpPr txBox="1"/>
          <p:nvPr/>
        </p:nvSpPr>
        <p:spPr>
          <a:xfrm>
            <a:off x="6501384" y="3657600"/>
            <a:ext cx="365760" cy="365760"/>
          </a:xfrm>
          <a:prstGeom prst="rect">
            <a:avLst/>
          </a:prstGeom>
          <a:noFill/>
          <a:ln/>
        </p:spPr>
        <p:txBody>
          <a:bodyPr wrap="square" lIns="0" tIns="0" rIns="0" bIns="0" rtlCol="0" anchor="ctr"/>
          <a:lstStyle/>
          <a:p>
            <a:pPr algn="ctr" indent="0" marL="0">
              <a:buNone/>
            </a:pPr>
            <a:r>
              <a:rPr lang="en-US" sz="1100" b="1" dirty="0">
                <a:solidFill>
                  <a:srgbClr val="22D3EE"/>
                </a:solidFill>
                <a:latin typeface="Arial" pitchFamily="34" charset="0"/>
                <a:ea typeface="Arial" pitchFamily="34" charset="-122"/>
                <a:cs typeface="Arial" pitchFamily="34" charset="-120"/>
              </a:rPr>
              <a:t>!</a:t>
            </a:r>
            <a:endParaRPr lang="en-US" sz="1100" dirty="0"/>
          </a:p>
        </p:txBody>
      </p:sp>
      <p:sp>
        <p:nvSpPr>
          <p:cNvPr id="22" name="Text 20"/>
          <p:cNvSpPr txBox="1"/>
          <p:nvPr/>
        </p:nvSpPr>
        <p:spPr>
          <a:xfrm>
            <a:off x="6995160" y="3639312"/>
            <a:ext cx="4389120" cy="402336"/>
          </a:xfrm>
          <a:prstGeom prst="rect">
            <a:avLst/>
          </a:prstGeom>
          <a:noFill/>
          <a:ln/>
        </p:spPr>
        <p:txBody>
          <a:bodyPr wrap="square" lIns="0" tIns="0" rIns="0" bIns="0" rtlCol="0" anchor="ctr"/>
          <a:lstStyle/>
          <a:p>
            <a:pPr indent="0" marL="0">
              <a:lnSpc>
                <a:spcPts val="1700"/>
              </a:lnSpc>
              <a:buNone/>
            </a:pPr>
            <a:r>
              <a:rPr lang="en-US" sz="1350" b="1" dirty="0">
                <a:solidFill>
                  <a:srgbClr val="E9EFFA"/>
                </a:solidFill>
                <a:latin typeface="Arial" pitchFamily="34" charset="0"/>
                <a:ea typeface="Arial" pitchFamily="34" charset="-122"/>
                <a:cs typeface="Arial" pitchFamily="34" charset="-120"/>
              </a:rPr>
              <a:t>Assumes Prometheus and Kubernetes</a:t>
            </a:r>
            <a:endParaRPr lang="en-US" sz="1350" dirty="0"/>
          </a:p>
        </p:txBody>
      </p:sp>
      <p:sp>
        <p:nvSpPr>
          <p:cNvPr id="23" name="Text 21"/>
          <p:cNvSpPr txBox="1"/>
          <p:nvPr/>
        </p:nvSpPr>
        <p:spPr>
          <a:xfrm>
            <a:off x="6501384" y="4169664"/>
            <a:ext cx="4846320" cy="822960"/>
          </a:xfrm>
          <a:prstGeom prst="rect">
            <a:avLst/>
          </a:prstGeom>
          <a:noFill/>
          <a:ln/>
        </p:spPr>
        <p:txBody>
          <a:bodyPr wrap="square" lIns="0" tIns="0" rIns="0" bIns="0" rtlCol="0" anchor="ctr"/>
          <a:lstStyle/>
          <a:p>
            <a:pPr indent="0" marL="0">
              <a:lnSpc>
                <a:spcPts val="1600"/>
              </a:lnSpc>
              <a:buNone/>
            </a:pPr>
            <a:r>
              <a:rPr lang="en-US" sz="1200" dirty="0">
                <a:solidFill>
                  <a:srgbClr val="94A8C4"/>
                </a:solidFill>
                <a:latin typeface="Calibri" pitchFamily="34" charset="0"/>
                <a:ea typeface="Calibri" pitchFamily="34" charset="-122"/>
                <a:cs typeface="Calibri" pitchFamily="34" charset="-120"/>
              </a:rPr>
              <a:t>We read PromQL and the Kubernetes API. Teams on other stacks need new adapters before any of this works for them.</a:t>
            </a:r>
            <a:endParaRPr lang="en-US" sz="1200" dirty="0"/>
          </a:p>
        </p:txBody>
      </p:sp>
      <p:sp>
        <p:nvSpPr>
          <p:cNvPr id="24" name="Shape 22"/>
          <p:cNvSpPr/>
          <p:nvPr/>
        </p:nvSpPr>
        <p:spPr>
          <a:xfrm>
            <a:off x="548640" y="5340096"/>
            <a:ext cx="11091672" cy="658368"/>
          </a:xfrm>
          <a:prstGeom prst="roundRect">
            <a:avLst>
              <a:gd name="adj" fmla="val 5556"/>
            </a:avLst>
          </a:prstGeom>
          <a:solidFill>
            <a:srgbClr val="1E2A47"/>
          </a:solidFill>
          <a:ln w="12700">
            <a:solidFill>
              <a:srgbClr val="1E2A47"/>
            </a:solidFill>
            <a:prstDash val="solid"/>
          </a:ln>
        </p:spPr>
      </p:sp>
      <p:sp>
        <p:nvSpPr>
          <p:cNvPr id="25" name="Text 23"/>
          <p:cNvSpPr txBox="1"/>
          <p:nvPr/>
        </p:nvSpPr>
        <p:spPr>
          <a:xfrm>
            <a:off x="822960" y="5449824"/>
            <a:ext cx="3108960" cy="438912"/>
          </a:xfrm>
          <a:prstGeom prst="rect">
            <a:avLst/>
          </a:prstGeom>
          <a:noFill/>
          <a:ln/>
        </p:spPr>
        <p:txBody>
          <a:bodyPr wrap="square" lIns="0" tIns="0" rIns="0" bIns="0" rtlCol="0" anchor="ctr"/>
          <a:lstStyle/>
          <a:p>
            <a:pPr indent="0" marL="0">
              <a:buNone/>
            </a:pPr>
            <a:r>
              <a:rPr lang="en-US" sz="1200" b="1" dirty="0">
                <a:solidFill>
                  <a:srgbClr val="22D3EE"/>
                </a:solidFill>
                <a:latin typeface="Calibri" pitchFamily="34" charset="0"/>
                <a:ea typeface="Calibri" pitchFamily="34" charset="-122"/>
                <a:cs typeface="Calibri" pitchFamily="34" charset="-120"/>
              </a:rPr>
              <a:t>Known limitation we disclose:</a:t>
            </a:r>
            <a:endParaRPr lang="en-US" sz="1200" dirty="0"/>
          </a:p>
        </p:txBody>
      </p:sp>
      <p:sp>
        <p:nvSpPr>
          <p:cNvPr id="26" name="Text 24"/>
          <p:cNvSpPr txBox="1"/>
          <p:nvPr/>
        </p:nvSpPr>
        <p:spPr>
          <a:xfrm>
            <a:off x="4023360" y="5449824"/>
            <a:ext cx="7406640" cy="438912"/>
          </a:xfrm>
          <a:prstGeom prst="rect">
            <a:avLst/>
          </a:prstGeom>
          <a:noFill/>
          <a:ln/>
        </p:spPr>
        <p:txBody>
          <a:bodyPr wrap="square" lIns="0" tIns="0" rIns="0" bIns="0" rtlCol="0" anchor="ctr"/>
          <a:lstStyle/>
          <a:p>
            <a:pPr indent="0" marL="0">
              <a:buNone/>
            </a:pPr>
            <a:r>
              <a:rPr lang="en-US" sz="1200" dirty="0">
                <a:solidFill>
                  <a:srgbClr val="94A8C4"/>
                </a:solidFill>
                <a:latin typeface="Calibri" pitchFamily="34" charset="0"/>
                <a:ea typeface="Calibri" pitchFamily="34" charset="-122"/>
                <a:cs typeface="Calibri" pitchFamily="34" charset="-120"/>
              </a:rPr>
              <a:t>the audit chain had one historical break from a concurrent-insert race. It is fixed, and rather than hide it we surface it — a verifier that lies about the past would be worse than none.</a:t>
            </a:r>
            <a:endParaRPr lang="en-US" sz="1200" dirty="0"/>
          </a:p>
        </p:txBody>
      </p:sp>
      <p:sp>
        <p:nvSpPr>
          <p:cNvPr id="27" name="Text 25"/>
          <p:cNvSpPr txBox="1"/>
          <p:nvPr/>
        </p:nvSpPr>
        <p:spPr>
          <a:xfrm>
            <a:off x="548640" y="6400800"/>
            <a:ext cx="3657600" cy="256032"/>
          </a:xfrm>
          <a:prstGeom prst="rect">
            <a:avLst/>
          </a:prstGeom>
          <a:noFill/>
          <a:ln/>
        </p:spPr>
        <p:txBody>
          <a:bodyPr wrap="square" lIns="0" tIns="0" rIns="0" bIns="0" rtlCol="0" anchor="ctr"/>
          <a:lstStyle/>
          <a:p>
            <a:pPr indent="0" marL="0">
              <a:buNone/>
            </a:pPr>
            <a:r>
              <a:rPr lang="en-US" sz="1000" dirty="0">
                <a:solidFill>
                  <a:srgbClr val="5A6E8C"/>
                </a:solidFill>
                <a:latin typeface="Calibri" pitchFamily="34" charset="0"/>
                <a:ea typeface="Calibri" pitchFamily="34" charset="-122"/>
                <a:cs typeface="Calibri" pitchFamily="34" charset="-120"/>
              </a:rPr>
              <a:t>SentinelOps AI</a:t>
            </a:r>
            <a:endParaRPr lang="en-US" sz="1000" dirty="0"/>
          </a:p>
        </p:txBody>
      </p:sp>
      <p:sp>
        <p:nvSpPr>
          <p:cNvPr id="28" name="Text 26"/>
          <p:cNvSpPr txBox="1"/>
          <p:nvPr/>
        </p:nvSpPr>
        <p:spPr>
          <a:xfrm>
            <a:off x="10725912" y="6400800"/>
            <a:ext cx="914400" cy="256032"/>
          </a:xfrm>
          <a:prstGeom prst="rect">
            <a:avLst/>
          </a:prstGeom>
          <a:noFill/>
          <a:ln/>
        </p:spPr>
        <p:txBody>
          <a:bodyPr wrap="square" lIns="0" tIns="0" rIns="0" bIns="0" rtlCol="0" anchor="ctr"/>
          <a:lstStyle/>
          <a:p>
            <a:pPr algn="r" indent="0" marL="0">
              <a:buNone/>
            </a:pPr>
            <a:r>
              <a:rPr lang="en-US" sz="1000" dirty="0">
                <a:solidFill>
                  <a:srgbClr val="5A6E8C"/>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411480"/>
            <a:ext cx="10058400" cy="256032"/>
          </a:xfrm>
          <a:prstGeom prst="rect">
            <a:avLst/>
          </a:prstGeom>
          <a:noFill/>
          <a:ln/>
        </p:spPr>
        <p:txBody>
          <a:bodyPr wrap="square" lIns="0" tIns="0" rIns="0" bIns="0" rtlCol="0" anchor="ctr"/>
          <a:lstStyle/>
          <a:p>
            <a:pPr indent="0" marL="0">
              <a:buNone/>
            </a:pPr>
            <a:r>
              <a:rPr lang="en-US" sz="1200" b="1" spc="200" kern="0" dirty="0">
                <a:solidFill>
                  <a:srgbClr val="22D3EE"/>
                </a:solidFill>
                <a:latin typeface="Calibri" pitchFamily="34" charset="0"/>
                <a:ea typeface="Calibri" pitchFamily="34" charset="-122"/>
                <a:cs typeface="Calibri" pitchFamily="34" charset="-120"/>
              </a:rPr>
              <a:t>FUTURE IMPROVEMENTS</a:t>
            </a:r>
            <a:endParaRPr lang="en-US" sz="1200" dirty="0"/>
          </a:p>
        </p:txBody>
      </p:sp>
      <p:sp>
        <p:nvSpPr>
          <p:cNvPr id="3" name="Text 1"/>
          <p:cNvSpPr txBox="1"/>
          <p:nvPr/>
        </p:nvSpPr>
        <p:spPr>
          <a:xfrm>
            <a:off x="548640" y="722376"/>
            <a:ext cx="11064240" cy="475488"/>
          </a:xfrm>
          <a:prstGeom prst="rect">
            <a:avLst/>
          </a:prstGeom>
          <a:noFill/>
          <a:ln/>
        </p:spPr>
        <p:txBody>
          <a:bodyPr wrap="square" lIns="0" tIns="0" rIns="0" bIns="0" rtlCol="0" anchor="ctr"/>
          <a:lstStyle/>
          <a:p>
            <a:pPr indent="0" marL="0">
              <a:buNone/>
            </a:pPr>
            <a:r>
              <a:rPr lang="en-US" sz="3000" b="1" dirty="0">
                <a:solidFill>
                  <a:srgbClr val="E9EFFA"/>
                </a:solidFill>
                <a:latin typeface="Arial" pitchFamily="34" charset="0"/>
                <a:ea typeface="Arial" pitchFamily="34" charset="-122"/>
                <a:cs typeface="Arial" pitchFamily="34" charset="-120"/>
              </a:rPr>
              <a:t>Where this goes next</a:t>
            </a:r>
            <a:endParaRPr lang="en-US" sz="3000" dirty="0"/>
          </a:p>
        </p:txBody>
      </p:sp>
      <p:sp>
        <p:nvSpPr>
          <p:cNvPr id="4" name="Shape 2"/>
          <p:cNvSpPr/>
          <p:nvPr/>
        </p:nvSpPr>
        <p:spPr>
          <a:xfrm>
            <a:off x="548640" y="1591056"/>
            <a:ext cx="3529584" cy="3200400"/>
          </a:xfrm>
          <a:prstGeom prst="roundRect">
            <a:avLst>
              <a:gd name="adj" fmla="val 1143"/>
            </a:avLst>
          </a:prstGeom>
          <a:solidFill>
            <a:srgbClr val="16213A"/>
          </a:solidFill>
          <a:ln w="12700">
            <a:solidFill>
              <a:srgbClr val="1E2A47"/>
            </a:solidFill>
            <a:prstDash val="solid"/>
          </a:ln>
        </p:spPr>
      </p:sp>
      <p:sp>
        <p:nvSpPr>
          <p:cNvPr id="5" name="Text 3"/>
          <p:cNvSpPr txBox="1"/>
          <p:nvPr/>
        </p:nvSpPr>
        <p:spPr>
          <a:xfrm>
            <a:off x="822960" y="1819656"/>
            <a:ext cx="3017520" cy="320040"/>
          </a:xfrm>
          <a:prstGeom prst="rect">
            <a:avLst/>
          </a:prstGeom>
          <a:noFill/>
          <a:ln/>
        </p:spPr>
        <p:txBody>
          <a:bodyPr wrap="square" lIns="0" tIns="0" rIns="0" bIns="0" rtlCol="0" anchor="ctr"/>
          <a:lstStyle/>
          <a:p>
            <a:pPr indent="0" marL="0">
              <a:buNone/>
            </a:pPr>
            <a:r>
              <a:rPr lang="en-US" sz="1500" b="1" dirty="0">
                <a:solidFill>
                  <a:srgbClr val="34D399"/>
                </a:solidFill>
                <a:latin typeface="Arial" pitchFamily="34" charset="0"/>
                <a:ea typeface="Arial" pitchFamily="34" charset="-122"/>
                <a:cs typeface="Arial" pitchFamily="34" charset="-120"/>
              </a:rPr>
              <a:t>Next quarter</a:t>
            </a:r>
            <a:endParaRPr lang="en-US" sz="1500" dirty="0"/>
          </a:p>
        </p:txBody>
      </p:sp>
      <p:sp>
        <p:nvSpPr>
          <p:cNvPr id="6" name="Text 4"/>
          <p:cNvSpPr txBox="1"/>
          <p:nvPr/>
        </p:nvSpPr>
        <p:spPr>
          <a:xfrm>
            <a:off x="822960" y="2276856"/>
            <a:ext cx="3017520" cy="2331720"/>
          </a:xfrm>
          <a:prstGeom prst="rect">
            <a:avLst/>
          </a:prstGeom>
          <a:noFill/>
          <a:ln/>
        </p:spPr>
        <p:txBody>
          <a:bodyPr wrap="square" lIns="0" tIns="0" rIns="0" bIns="0" rtlCol="0" anchor="ctr"/>
          <a:lstStyle/>
          <a:p>
            <a:pPr marL="342900" indent="-342900">
              <a:lnSpc>
                <a:spcPts val="1700"/>
              </a:lnSpc>
              <a:spcAft>
                <a:spcPts val="700"/>
              </a:spcAft>
              <a:buSzPct val="100000"/>
              <a:buChar char="•"/>
            </a:pPr>
            <a:r>
              <a:rPr lang="en-US" sz="1200" dirty="0">
                <a:solidFill>
                  <a:srgbClr val="94A8C4"/>
                </a:solidFill>
                <a:latin typeface="Calibri" pitchFamily="34" charset="0"/>
                <a:ea typeface="Calibri" pitchFamily="34" charset="-122"/>
                <a:cs typeface="Calibri" pitchFamily="34" charset="-120"/>
              </a:rPr>
              <a:t>Alert grouping and correlation, so one outage stays one incident at any scale</a:t>
            </a:r>
            <a:endParaRPr lang="en-US" sz="1200" dirty="0"/>
          </a:p>
          <a:p>
            <a:pPr marL="342900" indent="-342900">
              <a:lnSpc>
                <a:spcPts val="1700"/>
              </a:lnSpc>
              <a:spcAft>
                <a:spcPts val="700"/>
              </a:spcAft>
              <a:buSzPct val="100000"/>
              <a:buChar char="•"/>
            </a:pPr>
            <a:r>
              <a:rPr lang="en-US" sz="1200" dirty="0">
                <a:solidFill>
                  <a:srgbClr val="94A8C4"/>
                </a:solidFill>
                <a:latin typeface="Calibri" pitchFamily="34" charset="0"/>
                <a:ea typeface="Calibri" pitchFamily="34" charset="-122"/>
                <a:cs typeface="Calibri" pitchFamily="34" charset="-120"/>
              </a:rPr>
              <a:t>A wider action catalog, each entry with its own risk class, validation and rollback</a:t>
            </a:r>
            <a:endParaRPr lang="en-US" sz="1200" dirty="0"/>
          </a:p>
          <a:p>
            <a:pPr marL="342900" indent="-342900">
              <a:lnSpc>
                <a:spcPts val="1700"/>
              </a:lnSpc>
              <a:spcAft>
                <a:spcPts val="700"/>
              </a:spcAft>
              <a:buSzPct val="100000"/>
              <a:buChar char="•"/>
            </a:pPr>
            <a:r>
              <a:rPr lang="en-US" sz="1200" dirty="0">
                <a:solidFill>
                  <a:srgbClr val="94A8C4"/>
                </a:solidFill>
                <a:latin typeface="Calibri" pitchFamily="34" charset="0"/>
                <a:ea typeface="Calibri" pitchFamily="34" charset="-122"/>
                <a:cs typeface="Calibri" pitchFamily="34" charset="-120"/>
              </a:rPr>
              <a:t>Learning from approvals and rejections — the catalog tunes itself to what this team actually accepts</a:t>
            </a:r>
            <a:endParaRPr lang="en-US" sz="1200" dirty="0"/>
          </a:p>
        </p:txBody>
      </p:sp>
      <p:sp>
        <p:nvSpPr>
          <p:cNvPr id="7" name="Shape 5"/>
          <p:cNvSpPr/>
          <p:nvPr/>
        </p:nvSpPr>
        <p:spPr>
          <a:xfrm>
            <a:off x="4261104" y="1591056"/>
            <a:ext cx="3529584" cy="3200400"/>
          </a:xfrm>
          <a:prstGeom prst="roundRect">
            <a:avLst>
              <a:gd name="adj" fmla="val 1143"/>
            </a:avLst>
          </a:prstGeom>
          <a:solidFill>
            <a:srgbClr val="16213A"/>
          </a:solidFill>
          <a:ln w="12700">
            <a:solidFill>
              <a:srgbClr val="1E2A47"/>
            </a:solidFill>
            <a:prstDash val="solid"/>
          </a:ln>
        </p:spPr>
      </p:sp>
      <p:sp>
        <p:nvSpPr>
          <p:cNvPr id="8" name="Text 6"/>
          <p:cNvSpPr txBox="1"/>
          <p:nvPr/>
        </p:nvSpPr>
        <p:spPr>
          <a:xfrm>
            <a:off x="4535424" y="1819656"/>
            <a:ext cx="3017520" cy="320040"/>
          </a:xfrm>
          <a:prstGeom prst="rect">
            <a:avLst/>
          </a:prstGeom>
          <a:noFill/>
          <a:ln/>
        </p:spPr>
        <p:txBody>
          <a:bodyPr wrap="square" lIns="0" tIns="0" rIns="0" bIns="0" rtlCol="0" anchor="ctr"/>
          <a:lstStyle/>
          <a:p>
            <a:pPr indent="0" marL="0">
              <a:buNone/>
            </a:pPr>
            <a:r>
              <a:rPr lang="en-US" sz="1500" b="1" dirty="0">
                <a:solidFill>
                  <a:srgbClr val="22D3EE"/>
                </a:solidFill>
                <a:latin typeface="Arial" pitchFamily="34" charset="0"/>
                <a:ea typeface="Arial" pitchFamily="34" charset="-122"/>
                <a:cs typeface="Arial" pitchFamily="34" charset="-120"/>
              </a:rPr>
              <a:t>Within a year</a:t>
            </a:r>
            <a:endParaRPr lang="en-US" sz="1500" dirty="0"/>
          </a:p>
        </p:txBody>
      </p:sp>
      <p:sp>
        <p:nvSpPr>
          <p:cNvPr id="9" name="Text 7"/>
          <p:cNvSpPr txBox="1"/>
          <p:nvPr/>
        </p:nvSpPr>
        <p:spPr>
          <a:xfrm>
            <a:off x="4535424" y="2276856"/>
            <a:ext cx="3017520" cy="2331720"/>
          </a:xfrm>
          <a:prstGeom prst="rect">
            <a:avLst/>
          </a:prstGeom>
          <a:noFill/>
          <a:ln/>
        </p:spPr>
        <p:txBody>
          <a:bodyPr wrap="square" lIns="0" tIns="0" rIns="0" bIns="0" rtlCol="0" anchor="ctr"/>
          <a:lstStyle/>
          <a:p>
            <a:pPr marL="342900" indent="-342900">
              <a:lnSpc>
                <a:spcPts val="1700"/>
              </a:lnSpc>
              <a:spcAft>
                <a:spcPts val="700"/>
              </a:spcAft>
              <a:buSzPct val="100000"/>
              <a:buChar char="•"/>
            </a:pPr>
            <a:r>
              <a:rPr lang="en-US" sz="1200" dirty="0">
                <a:solidFill>
                  <a:srgbClr val="94A8C4"/>
                </a:solidFill>
                <a:latin typeface="Calibri" pitchFamily="34" charset="0"/>
                <a:ea typeface="Calibri" pitchFamily="34" charset="-122"/>
                <a:cs typeface="Calibri" pitchFamily="34" charset="-120"/>
              </a:rPr>
              <a:t>Multi-cluster and multi-tenant, with per-team allow-lists moved out of code into configuration</a:t>
            </a:r>
            <a:endParaRPr lang="en-US" sz="1200" dirty="0"/>
          </a:p>
          <a:p>
            <a:pPr marL="342900" indent="-342900">
              <a:lnSpc>
                <a:spcPts val="1700"/>
              </a:lnSpc>
              <a:spcAft>
                <a:spcPts val="700"/>
              </a:spcAft>
              <a:buSzPct val="100000"/>
              <a:buChar char="•"/>
            </a:pPr>
            <a:r>
              <a:rPr lang="en-US" sz="1200" dirty="0">
                <a:solidFill>
                  <a:srgbClr val="94A8C4"/>
                </a:solidFill>
                <a:latin typeface="Calibri" pitchFamily="34" charset="0"/>
                <a:ea typeface="Calibri" pitchFamily="34" charset="-122"/>
                <a:cs typeface="Calibri" pitchFamily="34" charset="-120"/>
              </a:rPr>
              <a:t>Freshservice Marketplace app, installable in minutes rather than configured by hand</a:t>
            </a:r>
            <a:endParaRPr lang="en-US" sz="1200" dirty="0"/>
          </a:p>
          <a:p>
            <a:pPr marL="342900" indent="-342900">
              <a:lnSpc>
                <a:spcPts val="1700"/>
              </a:lnSpc>
              <a:spcAft>
                <a:spcPts val="700"/>
              </a:spcAft>
              <a:buSzPct val="100000"/>
              <a:buChar char="•"/>
            </a:pPr>
            <a:r>
              <a:rPr lang="en-US" sz="1200" dirty="0">
                <a:solidFill>
                  <a:srgbClr val="94A8C4"/>
                </a:solidFill>
                <a:latin typeface="Calibri" pitchFamily="34" charset="0"/>
                <a:ea typeface="Calibri" pitchFamily="34" charset="-122"/>
                <a:cs typeface="Calibri" pitchFamily="34" charset="-120"/>
              </a:rPr>
              <a:t>Postmortems written into Freshservice Problem records automatically</a:t>
            </a:r>
            <a:endParaRPr lang="en-US" sz="1200" dirty="0"/>
          </a:p>
        </p:txBody>
      </p:sp>
      <p:sp>
        <p:nvSpPr>
          <p:cNvPr id="10" name="Shape 8"/>
          <p:cNvSpPr/>
          <p:nvPr/>
        </p:nvSpPr>
        <p:spPr>
          <a:xfrm>
            <a:off x="7973568" y="1591056"/>
            <a:ext cx="3529584" cy="3200400"/>
          </a:xfrm>
          <a:prstGeom prst="roundRect">
            <a:avLst>
              <a:gd name="adj" fmla="val 1143"/>
            </a:avLst>
          </a:prstGeom>
          <a:solidFill>
            <a:srgbClr val="16213A"/>
          </a:solidFill>
          <a:ln w="12700">
            <a:solidFill>
              <a:srgbClr val="1E2A47"/>
            </a:solidFill>
            <a:prstDash val="solid"/>
          </a:ln>
        </p:spPr>
      </p:sp>
      <p:sp>
        <p:nvSpPr>
          <p:cNvPr id="11" name="Text 9"/>
          <p:cNvSpPr txBox="1"/>
          <p:nvPr/>
        </p:nvSpPr>
        <p:spPr>
          <a:xfrm>
            <a:off x="8247888" y="1819656"/>
            <a:ext cx="3017520" cy="320040"/>
          </a:xfrm>
          <a:prstGeom prst="rect">
            <a:avLst/>
          </a:prstGeom>
          <a:noFill/>
          <a:ln/>
        </p:spPr>
        <p:txBody>
          <a:bodyPr wrap="square" lIns="0" tIns="0" rIns="0" bIns="0" rtlCol="0" anchor="ctr"/>
          <a:lstStyle/>
          <a:p>
            <a:pPr indent="0" marL="0">
              <a:buNone/>
            </a:pPr>
            <a:r>
              <a:rPr lang="en-US" sz="1500" b="1" dirty="0">
                <a:solidFill>
                  <a:srgbClr val="FBBF24"/>
                </a:solidFill>
                <a:latin typeface="Arial" pitchFamily="34" charset="0"/>
                <a:ea typeface="Arial" pitchFamily="34" charset="-122"/>
                <a:cs typeface="Arial" pitchFamily="34" charset="-120"/>
              </a:rPr>
              <a:t>The ambition</a:t>
            </a:r>
            <a:endParaRPr lang="en-US" sz="1500" dirty="0"/>
          </a:p>
        </p:txBody>
      </p:sp>
      <p:sp>
        <p:nvSpPr>
          <p:cNvPr id="12" name="Text 10"/>
          <p:cNvSpPr txBox="1"/>
          <p:nvPr/>
        </p:nvSpPr>
        <p:spPr>
          <a:xfrm>
            <a:off x="8247888" y="2276856"/>
            <a:ext cx="3017520" cy="2331720"/>
          </a:xfrm>
          <a:prstGeom prst="rect">
            <a:avLst/>
          </a:prstGeom>
          <a:noFill/>
          <a:ln/>
        </p:spPr>
        <p:txBody>
          <a:bodyPr wrap="square" lIns="0" tIns="0" rIns="0" bIns="0" rtlCol="0" anchor="ctr"/>
          <a:lstStyle/>
          <a:p>
            <a:pPr marL="342900" indent="-342900">
              <a:lnSpc>
                <a:spcPts val="1700"/>
              </a:lnSpc>
              <a:spcAft>
                <a:spcPts val="700"/>
              </a:spcAft>
              <a:buSzPct val="100000"/>
              <a:buChar char="•"/>
            </a:pPr>
            <a:r>
              <a:rPr lang="en-US" sz="1200" dirty="0">
                <a:solidFill>
                  <a:srgbClr val="94A8C4"/>
                </a:solidFill>
                <a:latin typeface="Calibri" pitchFamily="34" charset="0"/>
                <a:ea typeface="Calibri" pitchFamily="34" charset="-122"/>
                <a:cs typeface="Calibri" pitchFamily="34" charset="-120"/>
              </a:rPr>
              <a:t>Predictive action: act on a trend before the threshold is crossed</a:t>
            </a:r>
            <a:endParaRPr lang="en-US" sz="1200" dirty="0"/>
          </a:p>
          <a:p>
            <a:pPr marL="342900" indent="-342900">
              <a:lnSpc>
                <a:spcPts val="1700"/>
              </a:lnSpc>
              <a:spcAft>
                <a:spcPts val="700"/>
              </a:spcAft>
              <a:buSzPct val="100000"/>
              <a:buChar char="•"/>
            </a:pPr>
            <a:r>
              <a:rPr lang="en-US" sz="1200" dirty="0">
                <a:solidFill>
                  <a:srgbClr val="94A8C4"/>
                </a:solidFill>
                <a:latin typeface="Calibri" pitchFamily="34" charset="0"/>
                <a:ea typeface="Calibri" pitchFamily="34" charset="-122"/>
                <a:cs typeface="Calibri" pitchFamily="34" charset="-120"/>
              </a:rPr>
              <a:t>Adapters beyond Prometheus and Kubernetes — the two interfaces are the only coupling points</a:t>
            </a:r>
            <a:endParaRPr lang="en-US" sz="1200" dirty="0"/>
          </a:p>
          <a:p>
            <a:pPr marL="342900" indent="-342900">
              <a:lnSpc>
                <a:spcPts val="1700"/>
              </a:lnSpc>
              <a:spcAft>
                <a:spcPts val="700"/>
              </a:spcAft>
              <a:buSzPct val="100000"/>
              <a:buChar char="•"/>
            </a:pPr>
            <a:r>
              <a:rPr lang="en-US" sz="1200" dirty="0">
                <a:solidFill>
                  <a:srgbClr val="94A8C4"/>
                </a:solidFill>
                <a:latin typeface="Calibri" pitchFamily="34" charset="0"/>
                <a:ea typeface="Calibri" pitchFamily="34" charset="-122"/>
                <a:cs typeface="Calibri" pitchFamily="34" charset="-120"/>
              </a:rPr>
              <a:t>An exportable, independently verifiable audit bundle for compliance teams</a:t>
            </a:r>
            <a:endParaRPr lang="en-US" sz="1200" dirty="0"/>
          </a:p>
        </p:txBody>
      </p:sp>
      <p:sp>
        <p:nvSpPr>
          <p:cNvPr id="13" name="Shape 11"/>
          <p:cNvSpPr/>
          <p:nvPr/>
        </p:nvSpPr>
        <p:spPr>
          <a:xfrm>
            <a:off x="548640" y="5020056"/>
            <a:ext cx="11091672" cy="868680"/>
          </a:xfrm>
          <a:prstGeom prst="roundRect">
            <a:avLst>
              <a:gd name="adj" fmla="val 4211"/>
            </a:avLst>
          </a:prstGeom>
          <a:solidFill>
            <a:srgbClr val="1E2A47"/>
          </a:solidFill>
          <a:ln w="12700">
            <a:solidFill>
              <a:srgbClr val="1E2A47"/>
            </a:solidFill>
            <a:prstDash val="solid"/>
          </a:ln>
        </p:spPr>
      </p:sp>
      <p:sp>
        <p:nvSpPr>
          <p:cNvPr id="14" name="Text 12"/>
          <p:cNvSpPr txBox="1"/>
          <p:nvPr/>
        </p:nvSpPr>
        <p:spPr>
          <a:xfrm>
            <a:off x="822960" y="5202936"/>
            <a:ext cx="1828800" cy="457200"/>
          </a:xfrm>
          <a:prstGeom prst="rect">
            <a:avLst/>
          </a:prstGeom>
          <a:noFill/>
          <a:ln/>
        </p:spPr>
        <p:txBody>
          <a:bodyPr wrap="square" lIns="0" tIns="0" rIns="0" bIns="0" rtlCol="0" anchor="ctr"/>
          <a:lstStyle/>
          <a:p>
            <a:pPr indent="0" marL="0">
              <a:buNone/>
            </a:pPr>
            <a:r>
              <a:rPr lang="en-US" sz="1400" b="1" dirty="0">
                <a:solidFill>
                  <a:srgbClr val="22D3EE"/>
                </a:solidFill>
                <a:latin typeface="Arial" pitchFamily="34" charset="0"/>
                <a:ea typeface="Arial" pitchFamily="34" charset="-122"/>
                <a:cs typeface="Arial" pitchFamily="34" charset="-120"/>
              </a:rPr>
              <a:t>The through-line:</a:t>
            </a:r>
            <a:endParaRPr lang="en-US" sz="1400" dirty="0"/>
          </a:p>
        </p:txBody>
      </p:sp>
      <p:sp>
        <p:nvSpPr>
          <p:cNvPr id="15" name="Text 13"/>
          <p:cNvSpPr txBox="1"/>
          <p:nvPr/>
        </p:nvSpPr>
        <p:spPr>
          <a:xfrm>
            <a:off x="2697480" y="5157216"/>
            <a:ext cx="8686800" cy="566928"/>
          </a:xfrm>
          <a:prstGeom prst="rect">
            <a:avLst/>
          </a:prstGeom>
          <a:noFill/>
          <a:ln/>
        </p:spPr>
        <p:txBody>
          <a:bodyPr wrap="square" lIns="0" tIns="0" rIns="0" bIns="0" rtlCol="0" anchor="ctr"/>
          <a:lstStyle/>
          <a:p>
            <a:pPr indent="0" marL="0">
              <a:lnSpc>
                <a:spcPts val="1700"/>
              </a:lnSpc>
              <a:buNone/>
            </a:pPr>
            <a:r>
              <a:rPr lang="en-US" sz="1300" dirty="0">
                <a:solidFill>
                  <a:srgbClr val="E9EFFA"/>
                </a:solidFill>
                <a:latin typeface="Calibri" pitchFamily="34" charset="0"/>
                <a:ea typeface="Calibri" pitchFamily="34" charset="-122"/>
                <a:cs typeface="Calibri" pitchFamily="34" charset="-120"/>
              </a:rPr>
              <a:t>every improvement widens what the AI may do — so every improvement ships with the fence that contains it. That order is the product.</a:t>
            </a:r>
            <a:endParaRPr lang="en-US" sz="1300" dirty="0"/>
          </a:p>
        </p:txBody>
      </p:sp>
      <p:sp>
        <p:nvSpPr>
          <p:cNvPr id="16" name="Text 14"/>
          <p:cNvSpPr txBox="1"/>
          <p:nvPr/>
        </p:nvSpPr>
        <p:spPr>
          <a:xfrm>
            <a:off x="548640" y="6400800"/>
            <a:ext cx="3657600" cy="256032"/>
          </a:xfrm>
          <a:prstGeom prst="rect">
            <a:avLst/>
          </a:prstGeom>
          <a:noFill/>
          <a:ln/>
        </p:spPr>
        <p:txBody>
          <a:bodyPr wrap="square" lIns="0" tIns="0" rIns="0" bIns="0" rtlCol="0" anchor="ctr"/>
          <a:lstStyle/>
          <a:p>
            <a:pPr indent="0" marL="0">
              <a:buNone/>
            </a:pPr>
            <a:r>
              <a:rPr lang="en-US" sz="1000" dirty="0">
                <a:solidFill>
                  <a:srgbClr val="5A6E8C"/>
                </a:solidFill>
                <a:latin typeface="Calibri" pitchFamily="34" charset="0"/>
                <a:ea typeface="Calibri" pitchFamily="34" charset="-122"/>
                <a:cs typeface="Calibri" pitchFamily="34" charset="-120"/>
              </a:rPr>
              <a:t>SentinelOps AI</a:t>
            </a:r>
            <a:endParaRPr lang="en-US" sz="1000" dirty="0"/>
          </a:p>
        </p:txBody>
      </p:sp>
      <p:sp>
        <p:nvSpPr>
          <p:cNvPr id="17" name="Text 15"/>
          <p:cNvSpPr txBox="1"/>
          <p:nvPr/>
        </p:nvSpPr>
        <p:spPr>
          <a:xfrm>
            <a:off x="10725912" y="6400800"/>
            <a:ext cx="914400" cy="256032"/>
          </a:xfrm>
          <a:prstGeom prst="rect">
            <a:avLst/>
          </a:prstGeom>
          <a:noFill/>
          <a:ln/>
        </p:spPr>
        <p:txBody>
          <a:bodyPr wrap="square" lIns="0" tIns="0" rIns="0" bIns="0" rtlCol="0" anchor="ctr"/>
          <a:lstStyle/>
          <a:p>
            <a:pPr algn="r" indent="0" marL="0">
              <a:buNone/>
            </a:pPr>
            <a:r>
              <a:rPr lang="en-US" sz="1000" dirty="0">
                <a:solidFill>
                  <a:srgbClr val="5A6E8C"/>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411480"/>
            <a:ext cx="10058400" cy="256032"/>
          </a:xfrm>
          <a:prstGeom prst="rect">
            <a:avLst/>
          </a:prstGeom>
          <a:noFill/>
          <a:ln/>
        </p:spPr>
        <p:txBody>
          <a:bodyPr wrap="square" lIns="0" tIns="0" rIns="0" bIns="0" rtlCol="0" anchor="ctr"/>
          <a:lstStyle/>
          <a:p>
            <a:pPr indent="0" marL="0">
              <a:buNone/>
            </a:pPr>
            <a:r>
              <a:rPr lang="en-US" sz="1200" b="1" spc="200" kern="0" dirty="0">
                <a:solidFill>
                  <a:srgbClr val="22D3EE"/>
                </a:solidFill>
                <a:latin typeface="Calibri" pitchFamily="34" charset="0"/>
                <a:ea typeface="Calibri" pitchFamily="34" charset="-122"/>
                <a:cs typeface="Calibri" pitchFamily="34" charset="-120"/>
              </a:rPr>
              <a:t>REFERENCES</a:t>
            </a:r>
            <a:endParaRPr lang="en-US" sz="1200" dirty="0"/>
          </a:p>
        </p:txBody>
      </p:sp>
      <p:sp>
        <p:nvSpPr>
          <p:cNvPr id="3" name="Text 1"/>
          <p:cNvSpPr txBox="1"/>
          <p:nvPr/>
        </p:nvSpPr>
        <p:spPr>
          <a:xfrm>
            <a:off x="548640" y="722376"/>
            <a:ext cx="11064240" cy="475488"/>
          </a:xfrm>
          <a:prstGeom prst="rect">
            <a:avLst/>
          </a:prstGeom>
          <a:noFill/>
          <a:ln/>
        </p:spPr>
        <p:txBody>
          <a:bodyPr wrap="square" lIns="0" tIns="0" rIns="0" bIns="0" rtlCol="0" anchor="ctr"/>
          <a:lstStyle/>
          <a:p>
            <a:pPr indent="0" marL="0">
              <a:buNone/>
            </a:pPr>
            <a:r>
              <a:rPr lang="en-US" sz="3000" b="1" dirty="0">
                <a:solidFill>
                  <a:srgbClr val="E9EFFA"/>
                </a:solidFill>
                <a:latin typeface="Arial" pitchFamily="34" charset="0"/>
                <a:ea typeface="Arial" pitchFamily="34" charset="-122"/>
                <a:cs typeface="Arial" pitchFamily="34" charset="-120"/>
              </a:rPr>
              <a:t>References and sources</a:t>
            </a:r>
            <a:endParaRPr lang="en-US" sz="3000" dirty="0"/>
          </a:p>
        </p:txBody>
      </p:sp>
      <p:sp>
        <p:nvSpPr>
          <p:cNvPr id="4" name="Shape 2"/>
          <p:cNvSpPr/>
          <p:nvPr/>
        </p:nvSpPr>
        <p:spPr>
          <a:xfrm>
            <a:off x="548640" y="1591056"/>
            <a:ext cx="3529584" cy="3017520"/>
          </a:xfrm>
          <a:prstGeom prst="roundRect">
            <a:avLst>
              <a:gd name="adj" fmla="val 1212"/>
            </a:avLst>
          </a:prstGeom>
          <a:solidFill>
            <a:srgbClr val="16213A"/>
          </a:solidFill>
          <a:ln w="12700">
            <a:solidFill>
              <a:srgbClr val="1E2A47"/>
            </a:solidFill>
            <a:prstDash val="solid"/>
          </a:ln>
        </p:spPr>
      </p:sp>
      <p:sp>
        <p:nvSpPr>
          <p:cNvPr id="5" name="Text 3"/>
          <p:cNvSpPr txBox="1"/>
          <p:nvPr/>
        </p:nvSpPr>
        <p:spPr>
          <a:xfrm>
            <a:off x="822960" y="1819656"/>
            <a:ext cx="3017520" cy="320040"/>
          </a:xfrm>
          <a:prstGeom prst="rect">
            <a:avLst/>
          </a:prstGeom>
          <a:noFill/>
          <a:ln/>
        </p:spPr>
        <p:txBody>
          <a:bodyPr wrap="square" lIns="0" tIns="0" rIns="0" bIns="0" rtlCol="0" anchor="ctr"/>
          <a:lstStyle/>
          <a:p>
            <a:pPr indent="0" marL="0">
              <a:buNone/>
            </a:pPr>
            <a:r>
              <a:rPr lang="en-US" sz="1400" b="1" dirty="0">
                <a:solidFill>
                  <a:srgbClr val="22D3EE"/>
                </a:solidFill>
                <a:latin typeface="Arial" pitchFamily="34" charset="0"/>
                <a:ea typeface="Arial" pitchFamily="34" charset="-122"/>
                <a:cs typeface="Arial" pitchFamily="34" charset="-120"/>
              </a:rPr>
              <a:t>Market and category</a:t>
            </a:r>
            <a:endParaRPr lang="en-US" sz="1400" dirty="0"/>
          </a:p>
        </p:txBody>
      </p:sp>
      <p:sp>
        <p:nvSpPr>
          <p:cNvPr id="6" name="Text 4"/>
          <p:cNvSpPr txBox="1"/>
          <p:nvPr/>
        </p:nvSpPr>
        <p:spPr>
          <a:xfrm>
            <a:off x="822960" y="2249424"/>
            <a:ext cx="3017520" cy="2194560"/>
          </a:xfrm>
          <a:prstGeom prst="rect">
            <a:avLst/>
          </a:prstGeom>
          <a:noFill/>
          <a:ln/>
        </p:spPr>
        <p:txBody>
          <a:bodyPr wrap="square" lIns="0" tIns="0" rIns="0" bIns="0" rtlCol="0" anchor="ctr"/>
          <a:lstStyle/>
          <a:p>
            <a:pPr marL="342900" indent="-342900">
              <a:lnSpc>
                <a:spcPts val="1700"/>
              </a:lnSpc>
              <a:spcAft>
                <a:spcPts val="700"/>
              </a:spcAft>
              <a:buSzPct val="100000"/>
              <a:buChar char="•"/>
            </a:pPr>
            <a:r>
              <a:rPr lang="en-US" sz="1100" dirty="0">
                <a:solidFill>
                  <a:srgbClr val="94A8C4"/>
                </a:solidFill>
                <a:latin typeface="Calibri" pitchFamily="34" charset="0"/>
                <a:ea typeface="Calibri" pitchFamily="34" charset="-122"/>
                <a:cs typeface="Calibri" pitchFamily="34" charset="-120"/>
              </a:rPr>
              <a:t>Gartner, first Market Guide for AI SRE — January 2026</a:t>
            </a:r>
            <a:endParaRPr lang="en-US" sz="1100" dirty="0"/>
          </a:p>
          <a:p>
            <a:pPr marL="342900" indent="-342900">
              <a:lnSpc>
                <a:spcPts val="1700"/>
              </a:lnSpc>
              <a:spcAft>
                <a:spcPts val="700"/>
              </a:spcAft>
              <a:buSzPct val="100000"/>
              <a:buChar char="•"/>
            </a:pPr>
            <a:r>
              <a:rPr lang="en-US" sz="1100" dirty="0">
                <a:solidFill>
                  <a:srgbClr val="94A8C4"/>
                </a:solidFill>
                <a:latin typeface="Calibri" pitchFamily="34" charset="0"/>
                <a:ea typeface="Calibri" pitchFamily="34" charset="-122"/>
                <a:cs typeface="Calibri" pitchFamily="34" charset="-120"/>
              </a:rPr>
              <a:t>Resolve AI, $125M Series A at $1B valuation — February 2026</a:t>
            </a:r>
            <a:endParaRPr lang="en-US" sz="1100" dirty="0"/>
          </a:p>
          <a:p>
            <a:pPr marL="342900" indent="-342900">
              <a:lnSpc>
                <a:spcPts val="1700"/>
              </a:lnSpc>
              <a:spcAft>
                <a:spcPts val="700"/>
              </a:spcAft>
              <a:buSzPct val="100000"/>
              <a:buChar char="•"/>
            </a:pPr>
            <a:r>
              <a:rPr lang="en-US" sz="1100" dirty="0">
                <a:solidFill>
                  <a:srgbClr val="94A8C4"/>
                </a:solidFill>
                <a:latin typeface="Calibri" pitchFamily="34" charset="0"/>
                <a:ea typeface="Calibri" pitchFamily="34" charset="-122"/>
                <a:cs typeface="Calibri" pitchFamily="34" charset="-120"/>
              </a:rPr>
              <a:t>NeuBird: 230,000 alerts autonomously resolved in 2025</a:t>
            </a:r>
            <a:endParaRPr lang="en-US" sz="1100" dirty="0"/>
          </a:p>
          <a:p>
            <a:pPr marL="342900" indent="-342900">
              <a:lnSpc>
                <a:spcPts val="1700"/>
              </a:lnSpc>
              <a:spcAft>
                <a:spcPts val="700"/>
              </a:spcAft>
              <a:buSzPct val="100000"/>
              <a:buChar char="•"/>
            </a:pPr>
            <a:r>
              <a:rPr lang="en-US" sz="1100" dirty="0">
                <a:solidFill>
                  <a:srgbClr val="94A8C4"/>
                </a:solidFill>
                <a:latin typeface="Calibri" pitchFamily="34" charset="0"/>
                <a:ea typeface="Calibri" pitchFamily="34" charset="-122"/>
                <a:cs typeface="Calibri" pitchFamily="34" charset="-120"/>
              </a:rPr>
              <a:t>OpenText, “Your AI took action. Who’s accountable? ITSM knows.”</a:t>
            </a:r>
            <a:endParaRPr lang="en-US" sz="1100" dirty="0"/>
          </a:p>
          <a:p>
            <a:pPr marL="342900" indent="-342900">
              <a:lnSpc>
                <a:spcPts val="1700"/>
              </a:lnSpc>
              <a:spcAft>
                <a:spcPts val="700"/>
              </a:spcAft>
              <a:buSzPct val="100000"/>
              <a:buChar char="•"/>
            </a:pPr>
            <a:r>
              <a:rPr lang="en-US" sz="1100" dirty="0">
                <a:solidFill>
                  <a:srgbClr val="94A8C4"/>
                </a:solidFill>
                <a:latin typeface="Calibri" pitchFamily="34" charset="0"/>
                <a:ea typeface="Calibri" pitchFamily="34" charset="-122"/>
                <a:cs typeface="Calibri" pitchFamily="34" charset="-120"/>
              </a:rPr>
              <a:t>ITSM.tools, “AI Agent Governance: Applying ITSM Controls”</a:t>
            </a:r>
            <a:endParaRPr lang="en-US" sz="1100" dirty="0"/>
          </a:p>
        </p:txBody>
      </p:sp>
      <p:sp>
        <p:nvSpPr>
          <p:cNvPr id="7" name="Shape 5"/>
          <p:cNvSpPr/>
          <p:nvPr/>
        </p:nvSpPr>
        <p:spPr>
          <a:xfrm>
            <a:off x="4261104" y="1591056"/>
            <a:ext cx="3529584" cy="3017520"/>
          </a:xfrm>
          <a:prstGeom prst="roundRect">
            <a:avLst>
              <a:gd name="adj" fmla="val 1212"/>
            </a:avLst>
          </a:prstGeom>
          <a:solidFill>
            <a:srgbClr val="16213A"/>
          </a:solidFill>
          <a:ln w="12700">
            <a:solidFill>
              <a:srgbClr val="1E2A47"/>
            </a:solidFill>
            <a:prstDash val="solid"/>
          </a:ln>
        </p:spPr>
      </p:sp>
      <p:sp>
        <p:nvSpPr>
          <p:cNvPr id="8" name="Text 6"/>
          <p:cNvSpPr txBox="1"/>
          <p:nvPr/>
        </p:nvSpPr>
        <p:spPr>
          <a:xfrm>
            <a:off x="4535424" y="1819656"/>
            <a:ext cx="3017520" cy="320040"/>
          </a:xfrm>
          <a:prstGeom prst="rect">
            <a:avLst/>
          </a:prstGeom>
          <a:noFill/>
          <a:ln/>
        </p:spPr>
        <p:txBody>
          <a:bodyPr wrap="square" lIns="0" tIns="0" rIns="0" bIns="0" rtlCol="0" anchor="ctr"/>
          <a:lstStyle/>
          <a:p>
            <a:pPr indent="0" marL="0">
              <a:buNone/>
            </a:pPr>
            <a:r>
              <a:rPr lang="en-US" sz="1400" b="1" dirty="0">
                <a:solidFill>
                  <a:srgbClr val="FBBF24"/>
                </a:solidFill>
                <a:latin typeface="Arial" pitchFamily="34" charset="0"/>
                <a:ea typeface="Arial" pitchFamily="34" charset="-122"/>
                <a:cs typeface="Arial" pitchFamily="34" charset="-120"/>
              </a:rPr>
              <a:t>Freshworks documentation</a:t>
            </a:r>
            <a:endParaRPr lang="en-US" sz="1400" dirty="0"/>
          </a:p>
        </p:txBody>
      </p:sp>
      <p:sp>
        <p:nvSpPr>
          <p:cNvPr id="9" name="Text 7"/>
          <p:cNvSpPr txBox="1"/>
          <p:nvPr/>
        </p:nvSpPr>
        <p:spPr>
          <a:xfrm>
            <a:off x="4535424" y="2249424"/>
            <a:ext cx="3017520" cy="2194560"/>
          </a:xfrm>
          <a:prstGeom prst="rect">
            <a:avLst/>
          </a:prstGeom>
          <a:noFill/>
          <a:ln/>
        </p:spPr>
        <p:txBody>
          <a:bodyPr wrap="square" lIns="0" tIns="0" rIns="0" bIns="0" rtlCol="0" anchor="ctr"/>
          <a:lstStyle/>
          <a:p>
            <a:pPr marL="342900" indent="-342900">
              <a:lnSpc>
                <a:spcPts val="1700"/>
              </a:lnSpc>
              <a:spcAft>
                <a:spcPts val="700"/>
              </a:spcAft>
              <a:buSzPct val="100000"/>
              <a:buChar char="•"/>
            </a:pPr>
            <a:r>
              <a:rPr lang="en-US" sz="1100" dirty="0">
                <a:solidFill>
                  <a:srgbClr val="94A8C4"/>
                </a:solidFill>
                <a:latin typeface="Calibri" pitchFamily="34" charset="0"/>
                <a:ea typeface="Calibri" pitchFamily="34" charset="-122"/>
                <a:cs typeface="Calibri" pitchFamily="34" charset="-120"/>
              </a:rPr>
              <a:t>Freshservice REST API v2 — changes, change approvals, problems</a:t>
            </a:r>
            <a:endParaRPr lang="en-US" sz="1100" dirty="0"/>
          </a:p>
          <a:p>
            <a:pPr marL="342900" indent="-342900">
              <a:lnSpc>
                <a:spcPts val="1700"/>
              </a:lnSpc>
              <a:spcAft>
                <a:spcPts val="700"/>
              </a:spcAft>
              <a:buSzPct val="100000"/>
              <a:buChar char="•"/>
            </a:pPr>
            <a:r>
              <a:rPr lang="en-US" sz="1100" dirty="0">
                <a:solidFill>
                  <a:srgbClr val="94A8C4"/>
                </a:solidFill>
                <a:latin typeface="Calibri" pitchFamily="34" charset="0"/>
                <a:ea typeface="Calibri" pitchFamily="34" charset="-122"/>
                <a:cs typeface="Calibri" pitchFamily="34" charset="-120"/>
              </a:rPr>
              <a:t>MCP integration in Freshservice — support article 50000012678</a:t>
            </a:r>
            <a:endParaRPr lang="en-US" sz="1100" dirty="0"/>
          </a:p>
          <a:p>
            <a:pPr marL="342900" indent="-342900">
              <a:lnSpc>
                <a:spcPts val="1700"/>
              </a:lnSpc>
              <a:spcAft>
                <a:spcPts val="700"/>
              </a:spcAft>
              <a:buSzPct val="100000"/>
              <a:buChar char="•"/>
            </a:pPr>
            <a:r>
              <a:rPr lang="en-US" sz="1100" dirty="0">
                <a:solidFill>
                  <a:srgbClr val="94A8C4"/>
                </a:solidFill>
                <a:latin typeface="Calibri" pitchFamily="34" charset="0"/>
                <a:ea typeface="Calibri" pitchFamily="34" charset="-122"/>
                <a:cs typeface="Calibri" pitchFamily="34" charset="-120"/>
              </a:rPr>
              <a:t>Freshdesk + Freshservice Hackathon Cookbook</a:t>
            </a:r>
            <a:endParaRPr lang="en-US" sz="1100" dirty="0"/>
          </a:p>
          <a:p>
            <a:pPr marL="342900" indent="-342900">
              <a:lnSpc>
                <a:spcPts val="1700"/>
              </a:lnSpc>
              <a:spcAft>
                <a:spcPts val="700"/>
              </a:spcAft>
              <a:buSzPct val="100000"/>
              <a:buChar char="•"/>
            </a:pPr>
            <a:r>
              <a:rPr lang="en-US" sz="1100" dirty="0">
                <a:solidFill>
                  <a:srgbClr val="94A8C4"/>
                </a:solidFill>
                <a:latin typeface="Calibri" pitchFamily="34" charset="0"/>
                <a:ea typeface="Calibri" pitchFamily="34" charset="-122"/>
                <a:cs typeface="Calibri" pitchFamily="34" charset="-120"/>
              </a:rPr>
              <a:t>The Great Agent Hackathon Participant Handbook</a:t>
            </a:r>
            <a:endParaRPr lang="en-US" sz="1100" dirty="0"/>
          </a:p>
        </p:txBody>
      </p:sp>
      <p:sp>
        <p:nvSpPr>
          <p:cNvPr id="10" name="Shape 8"/>
          <p:cNvSpPr/>
          <p:nvPr/>
        </p:nvSpPr>
        <p:spPr>
          <a:xfrm>
            <a:off x="7973568" y="1591056"/>
            <a:ext cx="3529584" cy="3017520"/>
          </a:xfrm>
          <a:prstGeom prst="roundRect">
            <a:avLst>
              <a:gd name="adj" fmla="val 1212"/>
            </a:avLst>
          </a:prstGeom>
          <a:solidFill>
            <a:srgbClr val="16213A"/>
          </a:solidFill>
          <a:ln w="12700">
            <a:solidFill>
              <a:srgbClr val="1E2A47"/>
            </a:solidFill>
            <a:prstDash val="solid"/>
          </a:ln>
        </p:spPr>
      </p:sp>
      <p:sp>
        <p:nvSpPr>
          <p:cNvPr id="11" name="Text 9"/>
          <p:cNvSpPr txBox="1"/>
          <p:nvPr/>
        </p:nvSpPr>
        <p:spPr>
          <a:xfrm>
            <a:off x="8247888" y="1819656"/>
            <a:ext cx="3017520" cy="320040"/>
          </a:xfrm>
          <a:prstGeom prst="rect">
            <a:avLst/>
          </a:prstGeom>
          <a:noFill/>
          <a:ln/>
        </p:spPr>
        <p:txBody>
          <a:bodyPr wrap="square" lIns="0" tIns="0" rIns="0" bIns="0" rtlCol="0" anchor="ctr"/>
          <a:lstStyle/>
          <a:p>
            <a:pPr indent="0" marL="0">
              <a:buNone/>
            </a:pPr>
            <a:r>
              <a:rPr lang="en-US" sz="1400" b="1" dirty="0">
                <a:solidFill>
                  <a:srgbClr val="34D399"/>
                </a:solidFill>
                <a:latin typeface="Arial" pitchFamily="34" charset="0"/>
                <a:ea typeface="Arial" pitchFamily="34" charset="-122"/>
                <a:cs typeface="Arial" pitchFamily="34" charset="-120"/>
              </a:rPr>
              <a:t>Technology</a:t>
            </a:r>
            <a:endParaRPr lang="en-US" sz="1400" dirty="0"/>
          </a:p>
        </p:txBody>
      </p:sp>
      <p:sp>
        <p:nvSpPr>
          <p:cNvPr id="12" name="Text 10"/>
          <p:cNvSpPr txBox="1"/>
          <p:nvPr/>
        </p:nvSpPr>
        <p:spPr>
          <a:xfrm>
            <a:off x="8247888" y="2249424"/>
            <a:ext cx="3017520" cy="2194560"/>
          </a:xfrm>
          <a:prstGeom prst="rect">
            <a:avLst/>
          </a:prstGeom>
          <a:noFill/>
          <a:ln/>
        </p:spPr>
        <p:txBody>
          <a:bodyPr wrap="square" lIns="0" tIns="0" rIns="0" bIns="0" rtlCol="0" anchor="ctr"/>
          <a:lstStyle/>
          <a:p>
            <a:pPr marL="342900" indent="-342900">
              <a:lnSpc>
                <a:spcPts val="1700"/>
              </a:lnSpc>
              <a:spcAft>
                <a:spcPts val="700"/>
              </a:spcAft>
              <a:buSzPct val="100000"/>
              <a:buChar char="•"/>
            </a:pPr>
            <a:r>
              <a:rPr lang="en-US" sz="1100" dirty="0">
                <a:solidFill>
                  <a:srgbClr val="94A8C4"/>
                </a:solidFill>
                <a:latin typeface="Calibri" pitchFamily="34" charset="0"/>
                <a:ea typeface="Calibri" pitchFamily="34" charset="-122"/>
                <a:cs typeface="Calibri" pitchFamily="34" charset="-120"/>
              </a:rPr>
              <a:t>Claude Sonnet 5, Anthropic — tool use / agentic loop</a:t>
            </a:r>
            <a:endParaRPr lang="en-US" sz="1100" dirty="0"/>
          </a:p>
          <a:p>
            <a:pPr marL="342900" indent="-342900">
              <a:lnSpc>
                <a:spcPts val="1700"/>
              </a:lnSpc>
              <a:spcAft>
                <a:spcPts val="700"/>
              </a:spcAft>
              <a:buSzPct val="100000"/>
              <a:buChar char="•"/>
            </a:pPr>
            <a:r>
              <a:rPr lang="en-US" sz="1100" dirty="0">
                <a:solidFill>
                  <a:srgbClr val="94A8C4"/>
                </a:solidFill>
                <a:latin typeface="Calibri" pitchFamily="34" charset="0"/>
                <a:ea typeface="Calibri" pitchFamily="34" charset="-122"/>
                <a:cs typeface="Calibri" pitchFamily="34" charset="-120"/>
              </a:rPr>
              <a:t>Prometheus and PromQL; Kubernetes API and RBAC</a:t>
            </a:r>
            <a:endParaRPr lang="en-US" sz="1100" dirty="0"/>
          </a:p>
          <a:p>
            <a:pPr marL="342900" indent="-342900">
              <a:lnSpc>
                <a:spcPts val="1700"/>
              </a:lnSpc>
              <a:spcAft>
                <a:spcPts val="700"/>
              </a:spcAft>
              <a:buSzPct val="100000"/>
              <a:buChar char="•"/>
            </a:pPr>
            <a:r>
              <a:rPr lang="en-US" sz="1100" dirty="0">
                <a:solidFill>
                  <a:srgbClr val="94A8C4"/>
                </a:solidFill>
                <a:latin typeface="Calibri" pitchFamily="34" charset="0"/>
                <a:ea typeface="Calibri" pitchFamily="34" charset="-122"/>
                <a:cs typeface="Calibri" pitchFamily="34" charset="-120"/>
              </a:rPr>
              <a:t>Supabase (Postgres, Auth, Realtime); FastAPI; React 19</a:t>
            </a:r>
            <a:endParaRPr lang="en-US" sz="1100" dirty="0"/>
          </a:p>
          <a:p>
            <a:pPr marL="342900" indent="-342900">
              <a:lnSpc>
                <a:spcPts val="1700"/>
              </a:lnSpc>
              <a:spcAft>
                <a:spcPts val="700"/>
              </a:spcAft>
              <a:buSzPct val="100000"/>
              <a:buChar char="•"/>
            </a:pPr>
            <a:r>
              <a:rPr lang="en-US" sz="1100" dirty="0">
                <a:solidFill>
                  <a:srgbClr val="94A8C4"/>
                </a:solidFill>
                <a:latin typeface="Calibri" pitchFamily="34" charset="0"/>
                <a:ea typeface="Calibri" pitchFamily="34" charset="-122"/>
                <a:cs typeface="Calibri" pitchFamily="34" charset="-120"/>
              </a:rPr>
              <a:t>Vobiz voice telephony; Sarvam and ElevenLabs text-to-speech</a:t>
            </a:r>
            <a:endParaRPr lang="en-US" sz="1100" dirty="0"/>
          </a:p>
        </p:txBody>
      </p:sp>
      <p:sp>
        <p:nvSpPr>
          <p:cNvPr id="13" name="Shape 11"/>
          <p:cNvSpPr/>
          <p:nvPr/>
        </p:nvSpPr>
        <p:spPr>
          <a:xfrm>
            <a:off x="548640" y="4837176"/>
            <a:ext cx="11091672" cy="1051560"/>
          </a:xfrm>
          <a:prstGeom prst="roundRect">
            <a:avLst>
              <a:gd name="adj" fmla="val 3478"/>
            </a:avLst>
          </a:prstGeom>
          <a:solidFill>
            <a:srgbClr val="1E2A47"/>
          </a:solidFill>
          <a:ln w="12700">
            <a:solidFill>
              <a:srgbClr val="1E2A47"/>
            </a:solidFill>
            <a:prstDash val="solid"/>
          </a:ln>
        </p:spPr>
      </p:sp>
      <p:sp>
        <p:nvSpPr>
          <p:cNvPr id="14" name="Text 12"/>
          <p:cNvSpPr txBox="1"/>
          <p:nvPr/>
        </p:nvSpPr>
        <p:spPr>
          <a:xfrm>
            <a:off x="868680" y="4992624"/>
            <a:ext cx="5029200" cy="274320"/>
          </a:xfrm>
          <a:prstGeom prst="rect">
            <a:avLst/>
          </a:prstGeom>
          <a:noFill/>
          <a:ln/>
        </p:spPr>
        <p:txBody>
          <a:bodyPr wrap="square" lIns="0" tIns="0" rIns="0" bIns="0" rtlCol="0" anchor="ctr"/>
          <a:lstStyle/>
          <a:p>
            <a:pPr indent="0" marL="0">
              <a:buNone/>
            </a:pPr>
            <a:r>
              <a:rPr lang="en-US" sz="1300" b="1" dirty="0">
                <a:solidFill>
                  <a:srgbClr val="E9EFFA"/>
                </a:solidFill>
                <a:latin typeface="Arial" pitchFamily="34" charset="0"/>
                <a:ea typeface="Arial" pitchFamily="34" charset="-122"/>
                <a:cs typeface="Arial" pitchFamily="34" charset="-120"/>
              </a:rPr>
              <a:t>Repository and documentation</a:t>
            </a:r>
            <a:endParaRPr lang="en-US" sz="1300" dirty="0"/>
          </a:p>
        </p:txBody>
      </p:sp>
      <p:sp>
        <p:nvSpPr>
          <p:cNvPr id="15" name="Text 13"/>
          <p:cNvSpPr txBox="1"/>
          <p:nvPr/>
        </p:nvSpPr>
        <p:spPr>
          <a:xfrm>
            <a:off x="868680" y="5294376"/>
            <a:ext cx="10515600" cy="548640"/>
          </a:xfrm>
          <a:prstGeom prst="rect">
            <a:avLst/>
          </a:prstGeom>
          <a:noFill/>
          <a:ln/>
        </p:spPr>
        <p:txBody>
          <a:bodyPr wrap="square" lIns="0" tIns="0" rIns="0" bIns="0" rtlCol="0" anchor="ctr"/>
          <a:lstStyle/>
          <a:p>
            <a:pPr indent="0" marL="0">
              <a:lnSpc>
                <a:spcPts val="1600"/>
              </a:lnSpc>
              <a:buNone/>
            </a:pPr>
            <a:r>
              <a:rPr lang="en-US" sz="1200" dirty="0">
                <a:solidFill>
                  <a:srgbClr val="94A8C4"/>
                </a:solidFill>
                <a:latin typeface="Calibri" pitchFamily="34" charset="0"/>
                <a:ea typeface="Calibri" pitchFamily="34" charset="-122"/>
                <a:cs typeface="Calibri" pitchFamily="34" charset="-120"/>
              </a:rPr>
              <a:t>github.com/VinayG759  ·  docs/how-it-runs.md (the stack and its failure modes)  ·  docs/glossary.md (every term defined)  ·  docs/implementation-plan.md  ·  the git history and the v0-pre-event tag mark what was built before the event and what was built during it.</a:t>
            </a:r>
            <a:endParaRPr lang="en-US" sz="1200" dirty="0"/>
          </a:p>
        </p:txBody>
      </p:sp>
      <p:sp>
        <p:nvSpPr>
          <p:cNvPr id="16" name="Text 14"/>
          <p:cNvSpPr txBox="1"/>
          <p:nvPr/>
        </p:nvSpPr>
        <p:spPr>
          <a:xfrm>
            <a:off x="548640" y="6400800"/>
            <a:ext cx="3657600" cy="256032"/>
          </a:xfrm>
          <a:prstGeom prst="rect">
            <a:avLst/>
          </a:prstGeom>
          <a:noFill/>
          <a:ln/>
        </p:spPr>
        <p:txBody>
          <a:bodyPr wrap="square" lIns="0" tIns="0" rIns="0" bIns="0" rtlCol="0" anchor="ctr"/>
          <a:lstStyle/>
          <a:p>
            <a:pPr indent="0" marL="0">
              <a:buNone/>
            </a:pPr>
            <a:r>
              <a:rPr lang="en-US" sz="1000" dirty="0">
                <a:solidFill>
                  <a:srgbClr val="5A6E8C"/>
                </a:solidFill>
                <a:latin typeface="Calibri" pitchFamily="34" charset="0"/>
                <a:ea typeface="Calibri" pitchFamily="34" charset="-122"/>
                <a:cs typeface="Calibri" pitchFamily="34" charset="-120"/>
              </a:rPr>
              <a:t>SentinelOps AI</a:t>
            </a:r>
            <a:endParaRPr lang="en-US" sz="1000" dirty="0"/>
          </a:p>
        </p:txBody>
      </p:sp>
      <p:sp>
        <p:nvSpPr>
          <p:cNvPr id="17" name="Text 15"/>
          <p:cNvSpPr txBox="1"/>
          <p:nvPr/>
        </p:nvSpPr>
        <p:spPr>
          <a:xfrm>
            <a:off x="10725912" y="6400800"/>
            <a:ext cx="914400" cy="256032"/>
          </a:xfrm>
          <a:prstGeom prst="rect">
            <a:avLst/>
          </a:prstGeom>
          <a:noFill/>
          <a:ln/>
        </p:spPr>
        <p:txBody>
          <a:bodyPr wrap="square" lIns="0" tIns="0" rIns="0" bIns="0" rtlCol="0" anchor="ctr"/>
          <a:lstStyle/>
          <a:p>
            <a:pPr algn="r" indent="0" marL="0">
              <a:buNone/>
            </a:pPr>
            <a:r>
              <a:rPr lang="en-US" sz="1000" dirty="0">
                <a:solidFill>
                  <a:srgbClr val="5A6E8C"/>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SentinelOps AI</dc:title>
  <dc:subject>PptxGenJS Presentation</dc:subject>
  <dc:creator>SentinelOps AI</dc:creator>
  <cp:lastModifiedBy>SentinelOps AI</cp:lastModifiedBy>
  <cp:revision>1</cp:revision>
  <dcterms:created xsi:type="dcterms:W3CDTF">2026-09-26T02:44:44Z</dcterms:created>
  <dcterms:modified xsi:type="dcterms:W3CDTF">2026-09-26T02:44:44Z</dcterms:modified>
</cp:coreProperties>
</file>